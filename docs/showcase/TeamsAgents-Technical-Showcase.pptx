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68" r:id="rId4"/>
    <p:sldId id="271" r:id="rId5"/>
    <p:sldId id="258" r:id="rId6"/>
    <p:sldId id="259" r:id="rId7"/>
    <p:sldId id="260" r:id="rId8"/>
    <p:sldId id="261" r:id="rId9"/>
    <p:sldId id="262" r:id="rId10"/>
    <p:sldId id="263" r:id="rId11"/>
    <p:sldId id="264" r:id="rId12"/>
    <p:sldId id="265" r:id="rId13"/>
    <p:sldId id="266" r:id="rId14"/>
    <p:sldId id="267" r:id="rId15"/>
    <p:sldId id="269" r:id="rId16"/>
    <p:sldId id="270"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409" autoAdjust="0"/>
  </p:normalViewPr>
  <p:slideViewPr>
    <p:cSldViewPr snapToGrid="0" snapToObjects="1">
      <p:cViewPr>
        <p:scale>
          <a:sx n="106" d="100"/>
          <a:sy n="106" d="100"/>
        </p:scale>
        <p:origin x="96" y="2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2899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This deck walks a technical audience through two supported ways to expose a Foundry hosted agent in Teams: Option A (direct publish, app-only search) and Option B (Custom Engine Agent proxy doing Teams SSO + OBO for per-user document security). Both also work from a custom web app. The core design principle: one deployed agent, two front doors, converging on the same Azure AI Search call.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 parts: framing, the two options end to end, the technical mechanics, the decision matrix, and a live demo runbook with takeaways.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full decision matrix. A wins on availability, effort, Foundry-native tracing, governance. B wins on per-user OBO, UX richness, SSO/CI-CD, multi-channel - at the cost of building/hosting an app and no GCC publish. C is low-code managed SaaS. D is a preview protocol surface, not a Teams client experience. Recommendation: default to A, reserve B for the subset needing per-user security or rich UX.</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061174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Availability snapshot as of 2026-07. The core publish experience and both primary paths are GA. A2A and MCP endpoint protocols are Preview, the Python hosting integration package is prerelease, and Agents Toolkit publishing is unsupported in Government tenants. Always re-verify before a production go/no-go.</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437842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mental model for the whole deck. Two front doors (Teams, Web), each with an Option A and Option B path. Option B paths both converge on auth_context -&gt; UserAuth -&gt; per-user Search. Option A skips identity and uses the app/admin identity. This is why a single deployed agent can serve both surfaces.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 A is the recommended default for the bulk of agents: GA, minimal glue, Foundry-native observability. The catch is app-only search - no per-user trimming and no user-context OBO - because the hosting gateway strips the inbound user token before it reaches the container.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Teams Option A: user -&gt; Bot Service -&gt; hosted agent -&gt; app-only Search. The Responses-to-Activity bridge preserves text but not citations, streaming, or cards. Because the index has native ACL enabled and no user token flows to the container, the published agent legitimately returns zero documents and answers 'no entitled research' - which is exactly the gap Option B closes.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Web Option A does NOT go token-less into native ACL. It either presents the backend admin managed-identity token (full entitlements) or applies a plain classification-ne-mnpi filter. So the web-app Option A returns a baseline set, while the Teams-published Option A returns zero. Same 'Option A' label, two different retrieval implementations.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independent reasons per-user OBO can't work inside a directly-published hosted agent: (1) the runtime gateway strips the inbound bearer, and (2) the Bot Service channel JWT is not an Entra user token. The x-ms-user-identity header is an opaque session-isolation key, not an OBO token. Result chain shown in the dark strip.</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 B is the pattern for real document-level security and rich Teams UX. The proxy is the trust boundary that runs SSO and the OBO exchange. Cost is that you own and host an app, tracing spans two hops, and Agents Toolkit publishing isn't supported in Government tenants.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Teams Option B: the proxy is the trust boundary. It runs silent Teams SSO (audience api://botid-clientId), then exchangeToken performs the OBO to a search.azure.com-scoped token for this user, and POSTs it to the backend in x-ms-query-source-authorization. The backend does no OBO on this path - it uses the token directly. If SSO/OBO isn't complete, it fails closed to public-only.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Web Option B: the SPA signs the user in with MSAL and sends the user's own token as a Bearer header for the backend API scope. The BACKEND (not the browser) performs the On-Behalf-Of exchange, then runs per-user Search. Same trimming semantics and same per_user_search call as Teams Option B.</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single contrast worth memorizing. On Teams the PROXY does the OBO and the backend receives an already-exchanged Search token in x-ms-query-source-authorization. On Web the BACKEND does the OBO from the user's own Bearer token. Both converge on the identical per_user_search call.</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verified mechanics: the SSO connection must be scoped to the app's own identity (not search.azure.com) so its token is OBO-exchangeable; the tokenExchangeUrl and manifest resource must be the api://botid-{clientId} form for a standalone bot; exchangeToken with oboScopes=search.azure.com does the OBO; and the app needs delegated Search user_impersonation with admin consent. Native ACL trims by the real user; GA trimming trims by the selected persona.</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Direct publish keeps conversational chat and native inline citations, but not authored Adaptive Cards, buttons, clarification cards, feedback controls, or message extensions/tabs - and not per-user OBO. Those require the Option B proxy. A hybrid split is the common recommendation.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trimming modes. Native ACL is token-driven: no user token means zero docs, a real user token means only the caller's entitled docs. It trims by the real signed-in user, so the persona dropdown doesn't change it. GA trimming builds the filter from the selected persona's group, giving per-persona subsets for one tester. Verified: the compliance full-control user sees all 8 docs including MNPI. Docs must carry real tenant group/user IDs.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live flow. Start fully offline with run_all.bat. Pick a persona, run both options at once, and use the compare view + document-access map to show per-doc what A exposed vs what B trimmed. Then switch to Teams: Option A returns 'no entitled research' (explain the token-strip), Option B signs in and returns entitled docs with an Adaptive Card. Have the offline-synth and fail-closed fallbacks ready.</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takeaways and the recommendation: default the fleet to Option A, and hybrid-in Option B only for agents that genuinely need per-user document security, custom SSO/OBO, or rich authored UX.</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Quick reference: where each piece lives in the repo and the hard-won gotchas (port 8010, botid- SSO form, SSO/OBO scope split, model must support encrypted content, protocol 2.0.0, scale-to-zero status). Full detail in the linked docs.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309360"/>
            <a:ext cx="12191695" cy="548640"/>
          </a:xfrm>
          <a:prstGeom prst="rect">
            <a:avLst/>
          </a:prstGeom>
          <a:solidFill>
            <a:srgbClr val="12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395728"/>
            <a:ext cx="822960" cy="914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822960"/>
            <a:ext cx="10515600" cy="365760"/>
          </a:xfrm>
          <a:prstGeom prst="rect">
            <a:avLst/>
          </a:prstGeom>
          <a:noFill/>
        </p:spPr>
        <p:txBody>
          <a:bodyPr wrap="square" lIns="0" tIns="0" rIns="0" bIns="0" anchor="t">
            <a:spAutoFit/>
          </a:bodyPr>
          <a:lstStyle/>
          <a:p>
            <a:pPr algn="l">
              <a:spcAft>
                <a:spcPts val="400"/>
              </a:spcAft>
            </a:pPr>
            <a:r>
              <a:rPr sz="1500" b="0" i="0">
                <a:solidFill>
                  <a:srgbClr val="1F9E74"/>
                </a:solidFill>
                <a:latin typeface="Segoe UI"/>
              </a:rPr>
              <a:t>TECHNICAL SHOWCASE  ·  CAPITAL MARKETS</a:t>
            </a:r>
          </a:p>
        </p:txBody>
      </p:sp>
      <p:sp>
        <p:nvSpPr>
          <p:cNvPr id="6" name="TextBox 5"/>
          <p:cNvSpPr txBox="1"/>
          <p:nvPr/>
        </p:nvSpPr>
        <p:spPr>
          <a:xfrm>
            <a:off x="804672" y="1554480"/>
            <a:ext cx="10607040" cy="1554480"/>
          </a:xfrm>
          <a:prstGeom prst="rect">
            <a:avLst/>
          </a:prstGeom>
          <a:noFill/>
        </p:spPr>
        <p:txBody>
          <a:bodyPr wrap="square" lIns="0" tIns="0" rIns="0" bIns="0" anchor="t">
            <a:spAutoFit/>
          </a:bodyPr>
          <a:lstStyle/>
          <a:p>
            <a:pPr algn="l">
              <a:spcAft>
                <a:spcPts val="400"/>
              </a:spcAft>
            </a:pPr>
            <a:r>
              <a:rPr sz="4000" b="1" i="0">
                <a:solidFill>
                  <a:srgbClr val="FFFFFF"/>
                </a:solidFill>
                <a:latin typeface="Segoe UI"/>
              </a:rPr>
              <a:t>Foundry Hosted Agents on Microsoft Teams</a:t>
            </a:r>
          </a:p>
          <a:p>
            <a:pPr algn="l">
              <a:spcBef>
                <a:spcPts val="800"/>
              </a:spcBef>
              <a:spcAft>
                <a:spcPts val="400"/>
              </a:spcAft>
            </a:pPr>
            <a:r>
              <a:rPr sz="2400" b="0" i="0">
                <a:solidFill>
                  <a:srgbClr val="BFD3E8"/>
                </a:solidFill>
                <a:latin typeface="Segoe UI Light"/>
              </a:rPr>
              <a:t>Option A vs Option B — app-only vs per-user OBO</a:t>
            </a:r>
          </a:p>
        </p:txBody>
      </p:sp>
      <p:sp>
        <p:nvSpPr>
          <p:cNvPr id="7" name="Rounded Rectangle 6"/>
          <p:cNvSpPr/>
          <p:nvPr/>
        </p:nvSpPr>
        <p:spPr>
          <a:xfrm>
            <a:off x="822960" y="3520440"/>
            <a:ext cx="2286000" cy="457200"/>
          </a:xfrm>
          <a:prstGeom prst="roundRect">
            <a:avLst>
              <a:gd name="adj" fmla="val 50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3520440"/>
            <a:ext cx="2286000" cy="457200"/>
          </a:xfrm>
          <a:prstGeom prst="rect">
            <a:avLst/>
          </a:prstGeom>
          <a:noFill/>
        </p:spPr>
        <p:txBody>
          <a:bodyPr wrap="square" lIns="0" tIns="0" rIns="0" bIns="0" anchor="ctr">
            <a:spAutoFit/>
          </a:bodyPr>
          <a:lstStyle/>
          <a:p>
            <a:pPr algn="ctr">
              <a:spcAft>
                <a:spcPts val="400"/>
              </a:spcAft>
            </a:pPr>
            <a:r>
              <a:rPr sz="1300" b="1" i="0">
                <a:solidFill>
                  <a:srgbClr val="FFFFFF"/>
                </a:solidFill>
                <a:latin typeface="Segoe UI"/>
              </a:rPr>
              <a:t>Microsoft Teams</a:t>
            </a:r>
          </a:p>
        </p:txBody>
      </p:sp>
      <p:sp>
        <p:nvSpPr>
          <p:cNvPr id="9" name="Rounded Rectangle 8"/>
          <p:cNvSpPr/>
          <p:nvPr/>
        </p:nvSpPr>
        <p:spPr>
          <a:xfrm>
            <a:off x="3291840" y="3520440"/>
            <a:ext cx="2286000" cy="457200"/>
          </a:xfrm>
          <a:prstGeom prst="roundRect">
            <a:avLst>
              <a:gd name="adj" fmla="val 50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91840" y="3520440"/>
            <a:ext cx="2286000" cy="457200"/>
          </a:xfrm>
          <a:prstGeom prst="rect">
            <a:avLst/>
          </a:prstGeom>
          <a:noFill/>
        </p:spPr>
        <p:txBody>
          <a:bodyPr wrap="square" lIns="0" tIns="0" rIns="0" bIns="0" anchor="ctr">
            <a:spAutoFit/>
          </a:bodyPr>
          <a:lstStyle/>
          <a:p>
            <a:pPr algn="ctr">
              <a:spcAft>
                <a:spcPts val="400"/>
              </a:spcAft>
            </a:pPr>
            <a:r>
              <a:rPr sz="1300" b="1" i="0">
                <a:solidFill>
                  <a:srgbClr val="FFFFFF"/>
                </a:solidFill>
                <a:latin typeface="Segoe UI"/>
              </a:rPr>
              <a:t>Custom Web App</a:t>
            </a:r>
          </a:p>
        </p:txBody>
      </p:sp>
      <p:sp>
        <p:nvSpPr>
          <p:cNvPr id="11" name="TextBox 10"/>
          <p:cNvSpPr txBox="1"/>
          <p:nvPr/>
        </p:nvSpPr>
        <p:spPr>
          <a:xfrm>
            <a:off x="5806440" y="3566160"/>
            <a:ext cx="5486400" cy="411480"/>
          </a:xfrm>
          <a:prstGeom prst="rect">
            <a:avLst/>
          </a:prstGeom>
          <a:noFill/>
        </p:spPr>
        <p:txBody>
          <a:bodyPr wrap="square" lIns="0" tIns="0" rIns="0" bIns="0" anchor="ctr">
            <a:spAutoFit/>
          </a:bodyPr>
          <a:lstStyle/>
          <a:p>
            <a:pPr algn="l">
              <a:spcAft>
                <a:spcPts val="400"/>
              </a:spcAft>
            </a:pPr>
            <a:r>
              <a:rPr sz="1500" b="0" i="1">
                <a:solidFill>
                  <a:srgbClr val="BFD3E8"/>
                </a:solidFill>
                <a:latin typeface="Segoe UI"/>
              </a:rPr>
              <a:t>→  one deployed agent, two front doors</a:t>
            </a:r>
          </a:p>
        </p:txBody>
      </p:sp>
      <p:sp>
        <p:nvSpPr>
          <p:cNvPr id="12" name="TextBox 11"/>
          <p:cNvSpPr txBox="1"/>
          <p:nvPr/>
        </p:nvSpPr>
        <p:spPr>
          <a:xfrm>
            <a:off x="822960" y="4572000"/>
            <a:ext cx="10515600" cy="1280160"/>
          </a:xfrm>
          <a:prstGeom prst="rect">
            <a:avLst/>
          </a:prstGeom>
          <a:noFill/>
        </p:spPr>
        <p:txBody>
          <a:bodyPr wrap="square" lIns="0" tIns="0" rIns="0" bIns="0" anchor="t">
            <a:spAutoFit/>
          </a:bodyPr>
          <a:lstStyle/>
          <a:p>
            <a:pPr algn="l">
              <a:spcAft>
                <a:spcPts val="400"/>
              </a:spcAft>
            </a:pPr>
            <a:r>
              <a:rPr sz="1500" b="0" i="0">
                <a:solidFill>
                  <a:srgbClr val="9FB4CC"/>
                </a:solidFill>
                <a:latin typeface="Segoe UI"/>
              </a:rPr>
              <a:t>Same downstream Azure AI Search call from both front doors — the only</a:t>
            </a:r>
          </a:p>
          <a:p>
            <a:pPr algn="l">
              <a:spcAft>
                <a:spcPts val="400"/>
              </a:spcAft>
            </a:pPr>
            <a:r>
              <a:rPr sz="1500" b="0" i="0">
                <a:solidFill>
                  <a:srgbClr val="9FB4CC"/>
                </a:solidFill>
                <a:latin typeface="Segoe UI"/>
              </a:rPr>
              <a:t>difference is whose identity drives document-level trimming.</a:t>
            </a:r>
          </a:p>
        </p:txBody>
      </p:sp>
      <p:sp>
        <p:nvSpPr>
          <p:cNvPr id="13" name="TextBox 12"/>
          <p:cNvSpPr txBox="1"/>
          <p:nvPr/>
        </p:nvSpPr>
        <p:spPr>
          <a:xfrm>
            <a:off x="822960" y="6382512"/>
            <a:ext cx="10515600" cy="365760"/>
          </a:xfrm>
          <a:prstGeom prst="rect">
            <a:avLst/>
          </a:prstGeom>
          <a:noFill/>
        </p:spPr>
        <p:txBody>
          <a:bodyPr wrap="square" lIns="0" tIns="0" rIns="0" bIns="0" anchor="t">
            <a:spAutoFit/>
          </a:bodyPr>
          <a:lstStyle/>
          <a:p>
            <a:pPr algn="l">
              <a:spcAft>
                <a:spcPts val="400"/>
              </a:spcAft>
            </a:pPr>
            <a:r>
              <a:rPr sz="1150" b="0" i="0">
                <a:solidFill>
                  <a:srgbClr val="6B7280"/>
                </a:solidFill>
                <a:latin typeface="Segoe UI"/>
              </a:rPr>
              <a:t>FastAPI backend  ·  React SPA  ·  Foundry hosted agent  ·  M365 Agents SDK proxy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5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170432"/>
            <a:ext cx="12191695"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274320"/>
            <a:ext cx="128016" cy="60350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19456"/>
            <a:ext cx="10789920" cy="310896"/>
          </a:xfrm>
          <a:prstGeom prst="rect">
            <a:avLst/>
          </a:prstGeom>
          <a:noFill/>
        </p:spPr>
        <p:txBody>
          <a:bodyPr wrap="square" lIns="0" tIns="0" rIns="0" bIns="0" anchor="t">
            <a:spAutoFit/>
          </a:bodyPr>
          <a:lstStyle/>
          <a:p>
            <a:pPr algn="l">
              <a:spcAft>
                <a:spcPts val="400"/>
              </a:spcAft>
            </a:pPr>
            <a:r>
              <a:rPr sz="1250" b="0" i="0">
                <a:solidFill>
                  <a:srgbClr val="1F4E79"/>
                </a:solidFill>
                <a:latin typeface="Segoe UI"/>
              </a:rPr>
              <a:t>AGENDA</a:t>
            </a:r>
          </a:p>
        </p:txBody>
      </p:sp>
      <p:sp>
        <p:nvSpPr>
          <p:cNvPr id="6" name="TextBox 5"/>
          <p:cNvSpPr txBox="1"/>
          <p:nvPr/>
        </p:nvSpPr>
        <p:spPr>
          <a:xfrm>
            <a:off x="777240" y="502920"/>
            <a:ext cx="10789920" cy="566928"/>
          </a:xfrm>
          <a:prstGeom prst="rect">
            <a:avLst/>
          </a:prstGeom>
          <a:noFill/>
        </p:spPr>
        <p:txBody>
          <a:bodyPr wrap="square" lIns="0" tIns="0" rIns="0" bIns="0" anchor="t">
            <a:spAutoFit/>
          </a:bodyPr>
          <a:lstStyle/>
          <a:p>
            <a:pPr algn="l">
              <a:spcAft>
                <a:spcPts val="400"/>
              </a:spcAft>
            </a:pPr>
            <a:r>
              <a:rPr sz="2600" b="1" i="0">
                <a:solidFill>
                  <a:srgbClr val="FFFFFF"/>
                </a:solidFill>
                <a:latin typeface="Segoe UI"/>
              </a:rPr>
              <a:t>What we will cover</a:t>
            </a:r>
          </a:p>
        </p:txBody>
      </p:sp>
      <p:sp>
        <p:nvSpPr>
          <p:cNvPr id="7" name="Rounded Rectangle 6"/>
          <p:cNvSpPr/>
          <p:nvPr/>
        </p:nvSpPr>
        <p:spPr>
          <a:xfrm>
            <a:off x="640080" y="1600200"/>
            <a:ext cx="5394960" cy="1325880"/>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600200"/>
            <a:ext cx="109728" cy="132588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764792"/>
            <a:ext cx="1280160" cy="1005840"/>
          </a:xfrm>
          <a:prstGeom prst="rect">
            <a:avLst/>
          </a:prstGeom>
          <a:noFill/>
        </p:spPr>
        <p:txBody>
          <a:bodyPr wrap="square" lIns="0" tIns="0" rIns="0" bIns="0" anchor="ctr">
            <a:spAutoFit/>
          </a:bodyPr>
          <a:lstStyle/>
          <a:p>
            <a:pPr algn="l">
              <a:spcAft>
                <a:spcPts val="400"/>
              </a:spcAft>
            </a:pPr>
            <a:r>
              <a:rPr sz="3400" b="1" i="0">
                <a:solidFill>
                  <a:srgbClr val="2E75B6"/>
                </a:solidFill>
                <a:latin typeface="Segoe UI"/>
              </a:rPr>
              <a:t>01</a:t>
            </a:r>
          </a:p>
        </p:txBody>
      </p:sp>
      <p:sp>
        <p:nvSpPr>
          <p:cNvPr id="10" name="TextBox 9"/>
          <p:cNvSpPr txBox="1"/>
          <p:nvPr/>
        </p:nvSpPr>
        <p:spPr>
          <a:xfrm>
            <a:off x="2057400" y="1819656"/>
            <a:ext cx="3794760" cy="457200"/>
          </a:xfrm>
          <a:prstGeom prst="rect">
            <a:avLst/>
          </a:prstGeom>
          <a:noFill/>
        </p:spPr>
        <p:txBody>
          <a:bodyPr wrap="square" lIns="0" tIns="0" rIns="0" bIns="0" anchor="t">
            <a:spAutoFit/>
          </a:bodyPr>
          <a:lstStyle/>
          <a:p>
            <a:pPr algn="l">
              <a:spcAft>
                <a:spcPts val="400"/>
              </a:spcAft>
            </a:pPr>
            <a:r>
              <a:rPr sz="1700" b="1" i="0">
                <a:solidFill>
                  <a:srgbClr val="1A202C"/>
                </a:solidFill>
                <a:latin typeface="Segoe UI"/>
              </a:rPr>
              <a:t>The big picture</a:t>
            </a:r>
          </a:p>
        </p:txBody>
      </p:sp>
      <p:sp>
        <p:nvSpPr>
          <p:cNvPr id="11" name="TextBox 10"/>
          <p:cNvSpPr txBox="1"/>
          <p:nvPr/>
        </p:nvSpPr>
        <p:spPr>
          <a:xfrm>
            <a:off x="2057400" y="2276856"/>
            <a:ext cx="3794760" cy="548640"/>
          </a:xfrm>
          <a:prstGeom prst="rect">
            <a:avLst/>
          </a:prstGeom>
          <a:noFill/>
        </p:spPr>
        <p:txBody>
          <a:bodyPr wrap="square" lIns="0" tIns="0" rIns="0" bIns="0" anchor="t">
            <a:spAutoFit/>
          </a:bodyPr>
          <a:lstStyle/>
          <a:p>
            <a:pPr algn="l">
              <a:spcAft>
                <a:spcPts val="400"/>
              </a:spcAft>
            </a:pPr>
            <a:r>
              <a:rPr sz="1250" b="0" i="0">
                <a:solidFill>
                  <a:srgbClr val="6B7280"/>
                </a:solidFill>
                <a:latin typeface="Segoe UI"/>
              </a:rPr>
              <a:t>One agent, two front doors, one Search call</a:t>
            </a:r>
          </a:p>
        </p:txBody>
      </p:sp>
      <p:sp>
        <p:nvSpPr>
          <p:cNvPr id="12" name="Rounded Rectangle 11"/>
          <p:cNvSpPr/>
          <p:nvPr/>
        </p:nvSpPr>
        <p:spPr>
          <a:xfrm>
            <a:off x="6355080" y="1600200"/>
            <a:ext cx="5394960" cy="1325880"/>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355080" y="1600200"/>
            <a:ext cx="109728" cy="132588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47688" y="1764792"/>
            <a:ext cx="1280160" cy="1005840"/>
          </a:xfrm>
          <a:prstGeom prst="rect">
            <a:avLst/>
          </a:prstGeom>
          <a:noFill/>
        </p:spPr>
        <p:txBody>
          <a:bodyPr wrap="square" lIns="0" tIns="0" rIns="0" bIns="0" anchor="ctr">
            <a:spAutoFit/>
          </a:bodyPr>
          <a:lstStyle/>
          <a:p>
            <a:pPr algn="l">
              <a:spcAft>
                <a:spcPts val="400"/>
              </a:spcAft>
            </a:pPr>
            <a:r>
              <a:rPr sz="3400" b="1" i="0">
                <a:solidFill>
                  <a:srgbClr val="2E75B6"/>
                </a:solidFill>
                <a:latin typeface="Segoe UI"/>
              </a:rPr>
              <a:t>02</a:t>
            </a:r>
          </a:p>
        </p:txBody>
      </p:sp>
      <p:sp>
        <p:nvSpPr>
          <p:cNvPr id="15" name="TextBox 14"/>
          <p:cNvSpPr txBox="1"/>
          <p:nvPr/>
        </p:nvSpPr>
        <p:spPr>
          <a:xfrm>
            <a:off x="7772400" y="1819656"/>
            <a:ext cx="3794760" cy="457200"/>
          </a:xfrm>
          <a:prstGeom prst="rect">
            <a:avLst/>
          </a:prstGeom>
          <a:noFill/>
        </p:spPr>
        <p:txBody>
          <a:bodyPr wrap="square" lIns="0" tIns="0" rIns="0" bIns="0" anchor="t">
            <a:spAutoFit/>
          </a:bodyPr>
          <a:lstStyle/>
          <a:p>
            <a:pPr algn="l">
              <a:spcAft>
                <a:spcPts val="400"/>
              </a:spcAft>
            </a:pPr>
            <a:r>
              <a:rPr sz="1700" b="1" i="0">
                <a:solidFill>
                  <a:srgbClr val="1A202C"/>
                </a:solidFill>
                <a:latin typeface="Segoe UI"/>
              </a:rPr>
              <a:t>Option A end-to-end</a:t>
            </a:r>
          </a:p>
        </p:txBody>
      </p:sp>
      <p:sp>
        <p:nvSpPr>
          <p:cNvPr id="16" name="TextBox 15"/>
          <p:cNvSpPr txBox="1"/>
          <p:nvPr/>
        </p:nvSpPr>
        <p:spPr>
          <a:xfrm>
            <a:off x="7772400" y="2276856"/>
            <a:ext cx="3794760" cy="548640"/>
          </a:xfrm>
          <a:prstGeom prst="rect">
            <a:avLst/>
          </a:prstGeom>
          <a:noFill/>
        </p:spPr>
        <p:txBody>
          <a:bodyPr wrap="square" lIns="0" tIns="0" rIns="0" bIns="0" anchor="t">
            <a:spAutoFit/>
          </a:bodyPr>
          <a:lstStyle/>
          <a:p>
            <a:pPr algn="l">
              <a:spcAft>
                <a:spcPts val="400"/>
              </a:spcAft>
            </a:pPr>
            <a:r>
              <a:rPr sz="1250" b="0" i="0">
                <a:solidFill>
                  <a:srgbClr val="6B7280"/>
                </a:solidFill>
                <a:latin typeface="Segoe UI"/>
              </a:rPr>
              <a:t>App-only — Teams and Web flows</a:t>
            </a:r>
          </a:p>
        </p:txBody>
      </p:sp>
      <p:sp>
        <p:nvSpPr>
          <p:cNvPr id="17" name="Rounded Rectangle 16"/>
          <p:cNvSpPr/>
          <p:nvPr/>
        </p:nvSpPr>
        <p:spPr>
          <a:xfrm>
            <a:off x="640080" y="3182112"/>
            <a:ext cx="5394960" cy="1325880"/>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 y="3182112"/>
            <a:ext cx="109728" cy="1325880"/>
          </a:xfrm>
          <a:prstGeom prst="rect">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2688" y="3346704"/>
            <a:ext cx="1280160" cy="1005840"/>
          </a:xfrm>
          <a:prstGeom prst="rect">
            <a:avLst/>
          </a:prstGeom>
          <a:noFill/>
        </p:spPr>
        <p:txBody>
          <a:bodyPr wrap="square" lIns="0" tIns="0" rIns="0" bIns="0" anchor="ctr">
            <a:spAutoFit/>
          </a:bodyPr>
          <a:lstStyle/>
          <a:p>
            <a:pPr algn="l">
              <a:spcAft>
                <a:spcPts val="400"/>
              </a:spcAft>
            </a:pPr>
            <a:r>
              <a:rPr sz="3400" b="1" i="0">
                <a:solidFill>
                  <a:srgbClr val="1F9E74"/>
                </a:solidFill>
                <a:latin typeface="Segoe UI"/>
              </a:rPr>
              <a:t>03</a:t>
            </a:r>
          </a:p>
        </p:txBody>
      </p:sp>
      <p:sp>
        <p:nvSpPr>
          <p:cNvPr id="20" name="TextBox 19"/>
          <p:cNvSpPr txBox="1"/>
          <p:nvPr/>
        </p:nvSpPr>
        <p:spPr>
          <a:xfrm>
            <a:off x="2057400" y="3401568"/>
            <a:ext cx="3794760" cy="457200"/>
          </a:xfrm>
          <a:prstGeom prst="rect">
            <a:avLst/>
          </a:prstGeom>
          <a:noFill/>
        </p:spPr>
        <p:txBody>
          <a:bodyPr wrap="square" lIns="0" tIns="0" rIns="0" bIns="0" anchor="t">
            <a:spAutoFit/>
          </a:bodyPr>
          <a:lstStyle/>
          <a:p>
            <a:pPr algn="l">
              <a:spcAft>
                <a:spcPts val="400"/>
              </a:spcAft>
            </a:pPr>
            <a:r>
              <a:rPr sz="1700" b="1" i="0">
                <a:solidFill>
                  <a:srgbClr val="1A202C"/>
                </a:solidFill>
                <a:latin typeface="Segoe UI"/>
              </a:rPr>
              <a:t>Option B end-to-end</a:t>
            </a:r>
          </a:p>
        </p:txBody>
      </p:sp>
      <p:sp>
        <p:nvSpPr>
          <p:cNvPr id="21" name="TextBox 20"/>
          <p:cNvSpPr txBox="1"/>
          <p:nvPr/>
        </p:nvSpPr>
        <p:spPr>
          <a:xfrm>
            <a:off x="2057400" y="3858768"/>
            <a:ext cx="3794760" cy="548640"/>
          </a:xfrm>
          <a:prstGeom prst="rect">
            <a:avLst/>
          </a:prstGeom>
          <a:noFill/>
        </p:spPr>
        <p:txBody>
          <a:bodyPr wrap="square" lIns="0" tIns="0" rIns="0" bIns="0" anchor="t">
            <a:spAutoFit/>
          </a:bodyPr>
          <a:lstStyle/>
          <a:p>
            <a:pPr algn="l">
              <a:spcAft>
                <a:spcPts val="400"/>
              </a:spcAft>
            </a:pPr>
            <a:r>
              <a:rPr sz="1250" b="0" i="0">
                <a:solidFill>
                  <a:srgbClr val="6B7280"/>
                </a:solidFill>
                <a:latin typeface="Segoe UI"/>
              </a:rPr>
              <a:t>Per-user OBO — Teams and Web flows</a:t>
            </a:r>
          </a:p>
        </p:txBody>
      </p:sp>
      <p:sp>
        <p:nvSpPr>
          <p:cNvPr id="22" name="Rounded Rectangle 21"/>
          <p:cNvSpPr/>
          <p:nvPr/>
        </p:nvSpPr>
        <p:spPr>
          <a:xfrm>
            <a:off x="6355080" y="3182112"/>
            <a:ext cx="5394960" cy="1325880"/>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355080" y="3182112"/>
            <a:ext cx="109728" cy="13258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647688" y="3346704"/>
            <a:ext cx="1280160" cy="1005840"/>
          </a:xfrm>
          <a:prstGeom prst="rect">
            <a:avLst/>
          </a:prstGeom>
          <a:noFill/>
        </p:spPr>
        <p:txBody>
          <a:bodyPr wrap="square" lIns="0" tIns="0" rIns="0" bIns="0" anchor="ctr">
            <a:spAutoFit/>
          </a:bodyPr>
          <a:lstStyle/>
          <a:p>
            <a:pPr algn="l">
              <a:spcAft>
                <a:spcPts val="400"/>
              </a:spcAft>
            </a:pPr>
            <a:r>
              <a:rPr sz="3400" b="1" i="0">
                <a:solidFill>
                  <a:srgbClr val="1F4E79"/>
                </a:solidFill>
                <a:latin typeface="Segoe UI"/>
              </a:rPr>
              <a:t>04</a:t>
            </a:r>
          </a:p>
        </p:txBody>
      </p:sp>
      <p:sp>
        <p:nvSpPr>
          <p:cNvPr id="25" name="TextBox 24"/>
          <p:cNvSpPr txBox="1"/>
          <p:nvPr/>
        </p:nvSpPr>
        <p:spPr>
          <a:xfrm>
            <a:off x="7772400" y="3401568"/>
            <a:ext cx="3794760" cy="457200"/>
          </a:xfrm>
          <a:prstGeom prst="rect">
            <a:avLst/>
          </a:prstGeom>
          <a:noFill/>
        </p:spPr>
        <p:txBody>
          <a:bodyPr wrap="square" lIns="0" tIns="0" rIns="0" bIns="0" anchor="t">
            <a:spAutoFit/>
          </a:bodyPr>
          <a:lstStyle/>
          <a:p>
            <a:pPr algn="l">
              <a:spcAft>
                <a:spcPts val="400"/>
              </a:spcAft>
            </a:pPr>
            <a:r>
              <a:rPr sz="1700" b="1" i="0">
                <a:solidFill>
                  <a:srgbClr val="1A202C"/>
                </a:solidFill>
                <a:latin typeface="Segoe UI"/>
              </a:rPr>
              <a:t>Technical deep dive</a:t>
            </a:r>
          </a:p>
        </p:txBody>
      </p:sp>
      <p:sp>
        <p:nvSpPr>
          <p:cNvPr id="26" name="TextBox 25"/>
          <p:cNvSpPr txBox="1"/>
          <p:nvPr/>
        </p:nvSpPr>
        <p:spPr>
          <a:xfrm>
            <a:off x="7772400" y="3858768"/>
            <a:ext cx="3794760" cy="548640"/>
          </a:xfrm>
          <a:prstGeom prst="rect">
            <a:avLst/>
          </a:prstGeom>
          <a:noFill/>
        </p:spPr>
        <p:txBody>
          <a:bodyPr wrap="square" lIns="0" tIns="0" rIns="0" bIns="0" anchor="t">
            <a:spAutoFit/>
          </a:bodyPr>
          <a:lstStyle/>
          <a:p>
            <a:pPr algn="l">
              <a:spcAft>
                <a:spcPts val="400"/>
              </a:spcAft>
            </a:pPr>
            <a:r>
              <a:rPr sz="1250" b="0" i="0">
                <a:solidFill>
                  <a:srgbClr val="6B7280"/>
                </a:solidFill>
                <a:latin typeface="Segoe UI"/>
              </a:rPr>
              <a:t>Who does the OBO, token audiences, native ACL</a:t>
            </a:r>
          </a:p>
        </p:txBody>
      </p:sp>
      <p:sp>
        <p:nvSpPr>
          <p:cNvPr id="27" name="Rounded Rectangle 26"/>
          <p:cNvSpPr/>
          <p:nvPr/>
        </p:nvSpPr>
        <p:spPr>
          <a:xfrm>
            <a:off x="640080" y="4764024"/>
            <a:ext cx="5394960" cy="1325880"/>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40080" y="4764024"/>
            <a:ext cx="109728" cy="132588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32688" y="4928616"/>
            <a:ext cx="1280160" cy="1005840"/>
          </a:xfrm>
          <a:prstGeom prst="rect">
            <a:avLst/>
          </a:prstGeom>
          <a:noFill/>
        </p:spPr>
        <p:txBody>
          <a:bodyPr wrap="square" lIns="0" tIns="0" rIns="0" bIns="0" anchor="ctr">
            <a:spAutoFit/>
          </a:bodyPr>
          <a:lstStyle/>
          <a:p>
            <a:pPr algn="l">
              <a:spcAft>
                <a:spcPts val="400"/>
              </a:spcAft>
            </a:pPr>
            <a:r>
              <a:rPr sz="3400" b="1" i="0">
                <a:solidFill>
                  <a:srgbClr val="E8A33D"/>
                </a:solidFill>
                <a:latin typeface="Segoe UI"/>
              </a:rPr>
              <a:t>05</a:t>
            </a:r>
          </a:p>
        </p:txBody>
      </p:sp>
      <p:sp>
        <p:nvSpPr>
          <p:cNvPr id="30" name="TextBox 29"/>
          <p:cNvSpPr txBox="1"/>
          <p:nvPr/>
        </p:nvSpPr>
        <p:spPr>
          <a:xfrm>
            <a:off x="2057400" y="4983480"/>
            <a:ext cx="3794760" cy="457200"/>
          </a:xfrm>
          <a:prstGeom prst="rect">
            <a:avLst/>
          </a:prstGeom>
          <a:noFill/>
        </p:spPr>
        <p:txBody>
          <a:bodyPr wrap="square" lIns="0" tIns="0" rIns="0" bIns="0" anchor="t">
            <a:spAutoFit/>
          </a:bodyPr>
          <a:lstStyle/>
          <a:p>
            <a:pPr algn="l">
              <a:spcAft>
                <a:spcPts val="400"/>
              </a:spcAft>
            </a:pPr>
            <a:r>
              <a:rPr sz="1700" b="1" i="0">
                <a:solidFill>
                  <a:srgbClr val="1A202C"/>
                </a:solidFill>
                <a:latin typeface="Segoe UI"/>
              </a:rPr>
              <a:t>Options &amp; feature matrix</a:t>
            </a:r>
          </a:p>
        </p:txBody>
      </p:sp>
      <p:sp>
        <p:nvSpPr>
          <p:cNvPr id="31" name="TextBox 30"/>
          <p:cNvSpPr txBox="1"/>
          <p:nvPr/>
        </p:nvSpPr>
        <p:spPr>
          <a:xfrm>
            <a:off x="2057400" y="5440680"/>
            <a:ext cx="3794760" cy="548640"/>
          </a:xfrm>
          <a:prstGeom prst="rect">
            <a:avLst/>
          </a:prstGeom>
          <a:noFill/>
        </p:spPr>
        <p:txBody>
          <a:bodyPr wrap="square" lIns="0" tIns="0" rIns="0" bIns="0" anchor="t">
            <a:spAutoFit/>
          </a:bodyPr>
          <a:lstStyle/>
          <a:p>
            <a:pPr algn="l">
              <a:spcAft>
                <a:spcPts val="400"/>
              </a:spcAft>
            </a:pPr>
            <a:r>
              <a:rPr sz="1250" b="0" i="0">
                <a:solidFill>
                  <a:srgbClr val="6B7280"/>
                </a:solidFill>
                <a:latin typeface="Segoe UI"/>
              </a:rPr>
              <a:t>A vs B vs C vs D — pros / cons / benefits</a:t>
            </a:r>
          </a:p>
        </p:txBody>
      </p:sp>
      <p:sp>
        <p:nvSpPr>
          <p:cNvPr id="32" name="Rounded Rectangle 31"/>
          <p:cNvSpPr/>
          <p:nvPr/>
        </p:nvSpPr>
        <p:spPr>
          <a:xfrm>
            <a:off x="6355080" y="4764024"/>
            <a:ext cx="5394960" cy="1325880"/>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355080" y="4764024"/>
            <a:ext cx="109728" cy="1325880"/>
          </a:xfrm>
          <a:prstGeom prst="rect">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647688" y="4928616"/>
            <a:ext cx="1280160" cy="1005840"/>
          </a:xfrm>
          <a:prstGeom prst="rect">
            <a:avLst/>
          </a:prstGeom>
          <a:noFill/>
        </p:spPr>
        <p:txBody>
          <a:bodyPr wrap="square" lIns="0" tIns="0" rIns="0" bIns="0" anchor="ctr">
            <a:spAutoFit/>
          </a:bodyPr>
          <a:lstStyle/>
          <a:p>
            <a:pPr algn="l">
              <a:spcAft>
                <a:spcPts val="400"/>
              </a:spcAft>
            </a:pPr>
            <a:r>
              <a:rPr sz="3400" b="1" i="0">
                <a:solidFill>
                  <a:srgbClr val="1F9E74"/>
                </a:solidFill>
                <a:latin typeface="Segoe UI"/>
              </a:rPr>
              <a:t>06</a:t>
            </a:r>
          </a:p>
        </p:txBody>
      </p:sp>
      <p:sp>
        <p:nvSpPr>
          <p:cNvPr id="35" name="TextBox 34"/>
          <p:cNvSpPr txBox="1"/>
          <p:nvPr/>
        </p:nvSpPr>
        <p:spPr>
          <a:xfrm>
            <a:off x="7772400" y="4983480"/>
            <a:ext cx="3794760" cy="457200"/>
          </a:xfrm>
          <a:prstGeom prst="rect">
            <a:avLst/>
          </a:prstGeom>
          <a:noFill/>
        </p:spPr>
        <p:txBody>
          <a:bodyPr wrap="square" lIns="0" tIns="0" rIns="0" bIns="0" anchor="t">
            <a:spAutoFit/>
          </a:bodyPr>
          <a:lstStyle/>
          <a:p>
            <a:pPr algn="l">
              <a:spcAft>
                <a:spcPts val="400"/>
              </a:spcAft>
            </a:pPr>
            <a:r>
              <a:rPr sz="1700" b="1" i="0">
                <a:solidFill>
                  <a:srgbClr val="1A202C"/>
                </a:solidFill>
                <a:latin typeface="Segoe UI"/>
              </a:rPr>
              <a:t>Showcase runbook</a:t>
            </a:r>
          </a:p>
        </p:txBody>
      </p:sp>
      <p:sp>
        <p:nvSpPr>
          <p:cNvPr id="36" name="TextBox 35"/>
          <p:cNvSpPr txBox="1"/>
          <p:nvPr/>
        </p:nvSpPr>
        <p:spPr>
          <a:xfrm>
            <a:off x="7772400" y="5440680"/>
            <a:ext cx="3794760" cy="548640"/>
          </a:xfrm>
          <a:prstGeom prst="rect">
            <a:avLst/>
          </a:prstGeom>
          <a:noFill/>
        </p:spPr>
        <p:txBody>
          <a:bodyPr wrap="square" lIns="0" tIns="0" rIns="0" bIns="0" anchor="t">
            <a:spAutoFit/>
          </a:bodyPr>
          <a:lstStyle/>
          <a:p>
            <a:pPr algn="l">
              <a:spcAft>
                <a:spcPts val="400"/>
              </a:spcAft>
            </a:pPr>
            <a:r>
              <a:rPr sz="1250" b="0" i="0">
                <a:solidFill>
                  <a:srgbClr val="6B7280"/>
                </a:solidFill>
                <a:latin typeface="Segoe UI"/>
              </a:rPr>
              <a:t>Live demo script + key takeaways</a:t>
            </a:r>
          </a:p>
        </p:txBody>
      </p:sp>
      <p:sp>
        <p:nvSpPr>
          <p:cNvPr id="37" name="TextBox 36"/>
          <p:cNvSpPr txBox="1"/>
          <p:nvPr/>
        </p:nvSpPr>
        <p:spPr>
          <a:xfrm>
            <a:off x="502920" y="6419088"/>
            <a:ext cx="7315200" cy="274320"/>
          </a:xfrm>
          <a:prstGeom prst="rect">
            <a:avLst/>
          </a:prstGeom>
          <a:noFill/>
        </p:spPr>
        <p:txBody>
          <a:bodyPr wrap="square" lIns="0" tIns="0" rIns="0" bIns="0" anchor="t">
            <a:spAutoFit/>
          </a:bodyPr>
          <a:lstStyle/>
          <a:p>
            <a:pPr algn="l">
              <a:spcAft>
                <a:spcPts val="400"/>
              </a:spcAft>
            </a:pPr>
            <a:r>
              <a:rPr sz="900" b="0" i="0">
                <a:solidFill>
                  <a:srgbClr val="6B7280"/>
                </a:solidFill>
                <a:latin typeface="Segoe UI"/>
              </a:rPr>
              <a:t>One deployed agent · two front doors · Foundry hosted agent on Teams</a:t>
            </a:r>
          </a:p>
        </p:txBody>
      </p:sp>
      <p:sp>
        <p:nvSpPr>
          <p:cNvPr id="38" name="TextBox 37"/>
          <p:cNvSpPr txBox="1"/>
          <p:nvPr/>
        </p:nvSpPr>
        <p:spPr>
          <a:xfrm>
            <a:off x="10881360" y="6419088"/>
            <a:ext cx="822960" cy="274320"/>
          </a:xfrm>
          <a:prstGeom prst="rect">
            <a:avLst/>
          </a:prstGeom>
          <a:noFill/>
        </p:spPr>
        <p:txBody>
          <a:bodyPr wrap="square" lIns="0" tIns="0" rIns="0" bIns="0" anchor="t">
            <a:spAutoFit/>
          </a:bodyPr>
          <a:lstStyle/>
          <a:p>
            <a:pPr algn="r">
              <a:spcAft>
                <a:spcPts val="400"/>
              </a:spcAft>
            </a:pPr>
            <a:r>
              <a:rPr sz="900" b="0" i="0">
                <a:solidFill>
                  <a:srgbClr val="6B7280"/>
                </a:solidFill>
                <a:latin typeface="Segoe U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170432"/>
            <a:ext cx="12191695"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274320"/>
            <a:ext cx="128016" cy="60350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19456"/>
            <a:ext cx="10789920" cy="310896"/>
          </a:xfrm>
          <a:prstGeom prst="rect">
            <a:avLst/>
          </a:prstGeom>
          <a:noFill/>
        </p:spPr>
        <p:txBody>
          <a:bodyPr wrap="square" lIns="0" tIns="0" rIns="0" bIns="0" anchor="t">
            <a:spAutoFit/>
          </a:bodyPr>
          <a:lstStyle/>
          <a:p>
            <a:pPr algn="l">
              <a:spcAft>
                <a:spcPts val="400"/>
              </a:spcAft>
            </a:pPr>
            <a:r>
              <a:rPr sz="1250" b="0" i="0">
                <a:solidFill>
                  <a:srgbClr val="1F4E79"/>
                </a:solidFill>
                <a:latin typeface="Segoe UI"/>
              </a:rPr>
              <a:t>DECISION MATRIX</a:t>
            </a:r>
          </a:p>
        </p:txBody>
      </p:sp>
      <p:sp>
        <p:nvSpPr>
          <p:cNvPr id="6" name="TextBox 5"/>
          <p:cNvSpPr txBox="1"/>
          <p:nvPr/>
        </p:nvSpPr>
        <p:spPr>
          <a:xfrm>
            <a:off x="777240" y="502920"/>
            <a:ext cx="10789920" cy="566928"/>
          </a:xfrm>
          <a:prstGeom prst="rect">
            <a:avLst/>
          </a:prstGeom>
          <a:noFill/>
        </p:spPr>
        <p:txBody>
          <a:bodyPr wrap="square" lIns="0" tIns="0" rIns="0" bIns="0" anchor="t">
            <a:spAutoFit/>
          </a:bodyPr>
          <a:lstStyle/>
          <a:p>
            <a:pPr algn="l">
              <a:spcAft>
                <a:spcPts val="400"/>
              </a:spcAft>
            </a:pPr>
            <a:r>
              <a:rPr sz="2600" b="1" i="0">
                <a:solidFill>
                  <a:srgbClr val="FFFFFF"/>
                </a:solidFill>
                <a:latin typeface="Segoe UI"/>
              </a:rPr>
              <a:t>Options A / B / C / D — pros, cons, benefits</a:t>
            </a:r>
          </a:p>
        </p:txBody>
      </p:sp>
      <p:graphicFrame>
        <p:nvGraphicFramePr>
          <p:cNvPr id="7" name="Table 6"/>
          <p:cNvGraphicFramePr>
            <a:graphicFrameLocks noGrp="1"/>
          </p:cNvGraphicFramePr>
          <p:nvPr/>
        </p:nvGraphicFramePr>
        <p:xfrm>
          <a:off x="502920" y="1481328"/>
          <a:ext cx="11201399" cy="4160520"/>
        </p:xfrm>
        <a:graphic>
          <a:graphicData uri="http://schemas.openxmlformats.org/drawingml/2006/table">
            <a:tbl>
              <a:tblPr>
                <a:tableStyleId>{5C22544A-7EE6-4342-B048-85BDC9FD1C3A}</a:tableStyleId>
              </a:tblPr>
              <a:tblGrid>
                <a:gridCol w="2800350">
                  <a:extLst>
                    <a:ext uri="{9D8B030D-6E8A-4147-A177-3AD203B41FA5}">
                      <a16:colId xmlns:a16="http://schemas.microsoft.com/office/drawing/2014/main" val="20000"/>
                    </a:ext>
                  </a:extLst>
                </a:gridCol>
                <a:gridCol w="2170271">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gridCol w="2100262">
                  <a:extLst>
                    <a:ext uri="{9D8B030D-6E8A-4147-A177-3AD203B41FA5}">
                      <a16:colId xmlns:a16="http://schemas.microsoft.com/office/drawing/2014/main" val="20003"/>
                    </a:ext>
                  </a:extLst>
                </a:gridCol>
                <a:gridCol w="1890236">
                  <a:extLst>
                    <a:ext uri="{9D8B030D-6E8A-4147-A177-3AD203B41FA5}">
                      <a16:colId xmlns:a16="http://schemas.microsoft.com/office/drawing/2014/main" val="20004"/>
                    </a:ext>
                  </a:extLst>
                </a:gridCol>
              </a:tblGrid>
              <a:tr h="416052">
                <a:tc>
                  <a:txBody>
                    <a:bodyPr/>
                    <a:lstStyle/>
                    <a:p>
                      <a:pPr algn="l"/>
                      <a:r>
                        <a:rPr sz="1100" b="1">
                          <a:solidFill>
                            <a:srgbClr val="FFFFFF"/>
                          </a:solidFill>
                          <a:latin typeface="Segoe UI"/>
                        </a:rPr>
                        <a:t>Aspect</a:t>
                      </a:r>
                    </a:p>
                  </a:txBody>
                  <a:tcPr marL="73152" marR="54864" marT="27432" marB="27432" anchor="ctr">
                    <a:solidFill>
                      <a:srgbClr val="1F4E79"/>
                    </a:solidFill>
                  </a:tcPr>
                </a:tc>
                <a:tc>
                  <a:txBody>
                    <a:bodyPr/>
                    <a:lstStyle/>
                    <a:p>
                      <a:pPr algn="ctr"/>
                      <a:r>
                        <a:rPr sz="1100" b="1">
                          <a:solidFill>
                            <a:srgbClr val="FFFFFF"/>
                          </a:solidFill>
                          <a:latin typeface="Segoe UI"/>
                        </a:rPr>
                        <a:t>A · Direct publish</a:t>
                      </a:r>
                    </a:p>
                  </a:txBody>
                  <a:tcPr marL="73152" marR="54864" marT="27432" marB="27432" anchor="ctr">
                    <a:solidFill>
                      <a:srgbClr val="1F4E79"/>
                    </a:solidFill>
                  </a:tcPr>
                </a:tc>
                <a:tc>
                  <a:txBody>
                    <a:bodyPr/>
                    <a:lstStyle/>
                    <a:p>
                      <a:pPr algn="ctr"/>
                      <a:r>
                        <a:rPr sz="1100" b="1">
                          <a:solidFill>
                            <a:srgbClr val="FFFFFF"/>
                          </a:solidFill>
                          <a:latin typeface="Segoe UI"/>
                        </a:rPr>
                        <a:t>B · Agents SDK proxy</a:t>
                      </a:r>
                    </a:p>
                  </a:txBody>
                  <a:tcPr marL="73152" marR="54864" marT="27432" marB="27432" anchor="ctr">
                    <a:solidFill>
                      <a:srgbClr val="1F4E79"/>
                    </a:solidFill>
                  </a:tcPr>
                </a:tc>
                <a:tc>
                  <a:txBody>
                    <a:bodyPr/>
                    <a:lstStyle/>
                    <a:p>
                      <a:pPr algn="ctr"/>
                      <a:r>
                        <a:rPr sz="1100" b="1">
                          <a:solidFill>
                            <a:srgbClr val="FFFFFF"/>
                          </a:solidFill>
                          <a:latin typeface="Segoe UI"/>
                        </a:rPr>
                        <a:t>C · Copilot Studio</a:t>
                      </a:r>
                    </a:p>
                  </a:txBody>
                  <a:tcPr marL="73152" marR="54864" marT="27432" marB="27432" anchor="ctr">
                    <a:solidFill>
                      <a:srgbClr val="1F4E79"/>
                    </a:solidFill>
                  </a:tcPr>
                </a:tc>
                <a:tc>
                  <a:txBody>
                    <a:bodyPr/>
                    <a:lstStyle/>
                    <a:p>
                      <a:pPr algn="ctr"/>
                      <a:r>
                        <a:rPr sz="1100" b="1">
                          <a:solidFill>
                            <a:srgbClr val="FFFFFF"/>
                          </a:solidFill>
                          <a:latin typeface="Segoe UI"/>
                        </a:rPr>
                        <a:t>D · A2A / MCP</a:t>
                      </a:r>
                    </a:p>
                  </a:txBody>
                  <a:tcPr marL="73152" marR="54864" marT="27432" marB="27432" anchor="ctr">
                    <a:solidFill>
                      <a:srgbClr val="1F4E79"/>
                    </a:solidFill>
                  </a:tcPr>
                </a:tc>
                <a:extLst>
                  <a:ext uri="{0D108BD9-81ED-4DB2-BD59-A6C34878D82A}">
                    <a16:rowId xmlns:a16="http://schemas.microsoft.com/office/drawing/2014/main" val="10000"/>
                  </a:ext>
                </a:extLst>
              </a:tr>
              <a:tr h="416052">
                <a:tc>
                  <a:txBody>
                    <a:bodyPr/>
                    <a:lstStyle/>
                    <a:p>
                      <a:pPr algn="l"/>
                      <a:r>
                        <a:rPr sz="1050" b="1">
                          <a:solidFill>
                            <a:srgbClr val="1A202C"/>
                          </a:solidFill>
                          <a:latin typeface="Segoe UI"/>
                        </a:rPr>
                        <a:t>Availability</a:t>
                      </a:r>
                    </a:p>
                  </a:txBody>
                  <a:tcPr marL="73152" marR="54864" marT="18288" marB="18288" anchor="ctr">
                    <a:solidFill>
                      <a:srgbClr val="FFFFFF"/>
                    </a:solidFill>
                  </a:tcPr>
                </a:tc>
                <a:tc>
                  <a:txBody>
                    <a:bodyPr/>
                    <a:lstStyle/>
                    <a:p>
                      <a:pPr algn="ctr"/>
                      <a:r>
                        <a:rPr sz="1050" b="0">
                          <a:solidFill>
                            <a:srgbClr val="1A202C"/>
                          </a:solidFill>
                          <a:latin typeface="Segoe UI"/>
                        </a:rPr>
                        <a:t>GA</a:t>
                      </a:r>
                    </a:p>
                  </a:txBody>
                  <a:tcPr marL="73152" marR="54864" marT="18288" marB="18288" anchor="ctr">
                    <a:solidFill>
                      <a:srgbClr val="DEF2E6"/>
                    </a:solidFill>
                  </a:tcPr>
                </a:tc>
                <a:tc>
                  <a:txBody>
                    <a:bodyPr/>
                    <a:lstStyle/>
                    <a:p>
                      <a:pPr algn="ctr"/>
                      <a:r>
                        <a:rPr sz="1050" b="0">
                          <a:solidFill>
                            <a:srgbClr val="1A202C"/>
                          </a:solidFill>
                          <a:latin typeface="Segoe UI"/>
                        </a:rPr>
                        <a:t>GA tooling</a:t>
                      </a:r>
                    </a:p>
                  </a:txBody>
                  <a:tcPr marL="73152" marR="54864" marT="18288" marB="18288" anchor="ctr">
                    <a:solidFill>
                      <a:srgbClr val="DEF2E6"/>
                    </a:solidFill>
                  </a:tcPr>
                </a:tc>
                <a:tc>
                  <a:txBody>
                    <a:bodyPr/>
                    <a:lstStyle/>
                    <a:p>
                      <a:pPr algn="ctr"/>
                      <a:r>
                        <a:rPr sz="1050" b="0">
                          <a:solidFill>
                            <a:srgbClr val="1A202C"/>
                          </a:solidFill>
                          <a:latin typeface="Segoe UI"/>
                        </a:rPr>
                        <a:t>GA</a:t>
                      </a:r>
                    </a:p>
                  </a:txBody>
                  <a:tcPr marL="73152" marR="54864" marT="18288" marB="18288" anchor="ctr">
                    <a:solidFill>
                      <a:srgbClr val="DEF2E6"/>
                    </a:solidFill>
                  </a:tcPr>
                </a:tc>
                <a:tc>
                  <a:txBody>
                    <a:bodyPr/>
                    <a:lstStyle/>
                    <a:p>
                      <a:pPr algn="ctr"/>
                      <a:r>
                        <a:rPr sz="1050" b="0">
                          <a:solidFill>
                            <a:srgbClr val="1A202C"/>
                          </a:solidFill>
                          <a:latin typeface="Segoe UI"/>
                        </a:rPr>
                        <a:t>Preview</a:t>
                      </a:r>
                    </a:p>
                  </a:txBody>
                  <a:tcPr marL="73152" marR="54864" marT="18288" marB="18288" anchor="ctr">
                    <a:solidFill>
                      <a:srgbClr val="FBEED5"/>
                    </a:solidFill>
                  </a:tcPr>
                </a:tc>
                <a:extLst>
                  <a:ext uri="{0D108BD9-81ED-4DB2-BD59-A6C34878D82A}">
                    <a16:rowId xmlns:a16="http://schemas.microsoft.com/office/drawing/2014/main" val="10001"/>
                  </a:ext>
                </a:extLst>
              </a:tr>
              <a:tr h="416052">
                <a:tc>
                  <a:txBody>
                    <a:bodyPr/>
                    <a:lstStyle/>
                    <a:p>
                      <a:pPr algn="l"/>
                      <a:r>
                        <a:rPr sz="1050" b="1">
                          <a:solidFill>
                            <a:srgbClr val="1A202C"/>
                          </a:solidFill>
                          <a:latin typeface="Segoe UI"/>
                        </a:rPr>
                        <a:t>Per-user doc trimming (OBO)</a:t>
                      </a:r>
                    </a:p>
                  </a:txBody>
                  <a:tcPr marL="73152" marR="54864" marT="18288" marB="18288" anchor="ctr">
                    <a:solidFill>
                      <a:srgbClr val="EDF1F7"/>
                    </a:solidFill>
                  </a:tcPr>
                </a:tc>
                <a:tc>
                  <a:txBody>
                    <a:bodyPr/>
                    <a:lstStyle/>
                    <a:p>
                      <a:pPr algn="ctr"/>
                      <a:r>
                        <a:rPr sz="1050" b="0">
                          <a:solidFill>
                            <a:srgbClr val="1A202C"/>
                          </a:solidFill>
                          <a:latin typeface="Segoe UI"/>
                        </a:rPr>
                        <a:t>✗</a:t>
                      </a:r>
                    </a:p>
                  </a:txBody>
                  <a:tcPr marL="73152" marR="54864" marT="18288" marB="18288" anchor="ctr">
                    <a:solidFill>
                      <a:srgbClr val="F7DEDE"/>
                    </a:solidFill>
                  </a:tcPr>
                </a:tc>
                <a:tc>
                  <a:txBody>
                    <a:bodyPr/>
                    <a:lstStyle/>
                    <a:p>
                      <a:pPr algn="ctr"/>
                      <a:r>
                        <a:rPr sz="1050" b="0">
                          <a:solidFill>
                            <a:srgbClr val="1A202C"/>
                          </a:solidFill>
                          <a:latin typeface="Segoe UI"/>
                        </a:rPr>
                        <a:t>✓ native</a:t>
                      </a:r>
                    </a:p>
                  </a:txBody>
                  <a:tcPr marL="73152" marR="54864" marT="18288" marB="18288" anchor="ctr">
                    <a:solidFill>
                      <a:srgbClr val="DEF2E6"/>
                    </a:solidFill>
                  </a:tcPr>
                </a:tc>
                <a:tc>
                  <a:txBody>
                    <a:bodyPr/>
                    <a:lstStyle/>
                    <a:p>
                      <a:pPr algn="ctr"/>
                      <a:r>
                        <a:rPr sz="1050" b="0">
                          <a:solidFill>
                            <a:srgbClr val="1A202C"/>
                          </a:solidFill>
                          <a:latin typeface="Segoe UI"/>
                        </a:rPr>
                        <a:t>◑ partial</a:t>
                      </a:r>
                    </a:p>
                  </a:txBody>
                  <a:tcPr marL="73152" marR="54864" marT="18288" marB="18288" anchor="ctr">
                    <a:solidFill>
                      <a:srgbClr val="FBEED5"/>
                    </a:solidFill>
                  </a:tcPr>
                </a:tc>
                <a:tc>
                  <a:txBody>
                    <a:bodyPr/>
                    <a:lstStyle/>
                    <a:p>
                      <a:pPr algn="ctr"/>
                      <a:r>
                        <a:rPr sz="1050" b="0">
                          <a:solidFill>
                            <a:srgbClr val="1A202C"/>
                          </a:solidFill>
                          <a:latin typeface="Segoe UI"/>
                        </a:rPr>
                        <a:t>◑</a:t>
                      </a:r>
                    </a:p>
                  </a:txBody>
                  <a:tcPr marL="73152" marR="54864" marT="18288" marB="18288" anchor="ctr">
                    <a:solidFill>
                      <a:srgbClr val="FBEED5"/>
                    </a:solidFill>
                  </a:tcPr>
                </a:tc>
                <a:extLst>
                  <a:ext uri="{0D108BD9-81ED-4DB2-BD59-A6C34878D82A}">
                    <a16:rowId xmlns:a16="http://schemas.microsoft.com/office/drawing/2014/main" val="10002"/>
                  </a:ext>
                </a:extLst>
              </a:tr>
              <a:tr h="416052">
                <a:tc>
                  <a:txBody>
                    <a:bodyPr/>
                    <a:lstStyle/>
                    <a:p>
                      <a:pPr algn="l"/>
                      <a:r>
                        <a:rPr sz="1050" b="1" dirty="0">
                          <a:solidFill>
                            <a:srgbClr val="1A202C"/>
                          </a:solidFill>
                          <a:latin typeface="Segoe UI"/>
                        </a:rPr>
                        <a:t>Teams UX (cards, buttons)</a:t>
                      </a:r>
                    </a:p>
                  </a:txBody>
                  <a:tcPr marL="73152" marR="54864" marT="18288" marB="18288" anchor="ctr">
                    <a:solidFill>
                      <a:srgbClr val="FFFFFF"/>
                    </a:solidFill>
                  </a:tcPr>
                </a:tc>
                <a:tc>
                  <a:txBody>
                    <a:bodyPr/>
                    <a:lstStyle/>
                    <a:p>
                      <a:pPr algn="ctr"/>
                      <a:r>
                        <a:rPr sz="1050" b="0" dirty="0">
                          <a:solidFill>
                            <a:srgbClr val="1A202C"/>
                          </a:solidFill>
                          <a:latin typeface="Segoe UI"/>
                        </a:rPr>
                        <a:t>✗ text only</a:t>
                      </a:r>
                    </a:p>
                  </a:txBody>
                  <a:tcPr marL="73152" marR="54864" marT="18288" marB="18288" anchor="ctr">
                    <a:solidFill>
                      <a:srgbClr val="F7DEDE"/>
                    </a:solidFill>
                  </a:tcPr>
                </a:tc>
                <a:tc>
                  <a:txBody>
                    <a:bodyPr/>
                    <a:lstStyle/>
                    <a:p>
                      <a:pPr algn="ctr"/>
                      <a:r>
                        <a:rPr sz="1050" b="0">
                          <a:solidFill>
                            <a:srgbClr val="1A202C"/>
                          </a:solidFill>
                          <a:latin typeface="Segoe UI"/>
                        </a:rPr>
                        <a:t>✓ full</a:t>
                      </a:r>
                    </a:p>
                  </a:txBody>
                  <a:tcPr marL="73152" marR="54864" marT="18288" marB="18288" anchor="ctr">
                    <a:solidFill>
                      <a:srgbClr val="DEF2E6"/>
                    </a:solidFill>
                  </a:tcPr>
                </a:tc>
                <a:tc>
                  <a:txBody>
                    <a:bodyPr/>
                    <a:lstStyle/>
                    <a:p>
                      <a:pPr algn="ctr"/>
                      <a:r>
                        <a:rPr sz="1050" b="0">
                          <a:solidFill>
                            <a:srgbClr val="1A202C"/>
                          </a:solidFill>
                          <a:latin typeface="Segoe UI"/>
                        </a:rPr>
                        <a:t>◑</a:t>
                      </a:r>
                    </a:p>
                  </a:txBody>
                  <a:tcPr marL="73152" marR="54864" marT="18288" marB="18288" anchor="ctr">
                    <a:solidFill>
                      <a:srgbClr val="FBEED5"/>
                    </a:solidFill>
                  </a:tcPr>
                </a:tc>
                <a:tc>
                  <a:txBody>
                    <a:bodyPr/>
                    <a:lstStyle/>
                    <a:p>
                      <a:pPr algn="ctr"/>
                      <a:r>
                        <a:rPr sz="1050" b="0">
                          <a:solidFill>
                            <a:srgbClr val="1A202C"/>
                          </a:solidFill>
                          <a:latin typeface="Segoe UI"/>
                        </a:rPr>
                        <a:t>◑</a:t>
                      </a:r>
                    </a:p>
                  </a:txBody>
                  <a:tcPr marL="73152" marR="54864" marT="18288" marB="18288" anchor="ctr">
                    <a:solidFill>
                      <a:srgbClr val="FBEED5"/>
                    </a:solidFill>
                  </a:tcPr>
                </a:tc>
                <a:extLst>
                  <a:ext uri="{0D108BD9-81ED-4DB2-BD59-A6C34878D82A}">
                    <a16:rowId xmlns:a16="http://schemas.microsoft.com/office/drawing/2014/main" val="10003"/>
                  </a:ext>
                </a:extLst>
              </a:tr>
              <a:tr h="416052">
                <a:tc>
                  <a:txBody>
                    <a:bodyPr/>
                    <a:lstStyle/>
                    <a:p>
                      <a:pPr algn="l"/>
                      <a:r>
                        <a:rPr sz="1050" b="1">
                          <a:solidFill>
                            <a:srgbClr val="1A202C"/>
                          </a:solidFill>
                          <a:latin typeface="Segoe UI"/>
                        </a:rPr>
                        <a:t>Dev effort</a:t>
                      </a:r>
                    </a:p>
                  </a:txBody>
                  <a:tcPr marL="73152" marR="54864" marT="18288" marB="18288" anchor="ctr">
                    <a:solidFill>
                      <a:srgbClr val="EDF1F7"/>
                    </a:solidFill>
                  </a:tcPr>
                </a:tc>
                <a:tc>
                  <a:txBody>
                    <a:bodyPr/>
                    <a:lstStyle/>
                    <a:p>
                      <a:pPr algn="ctr"/>
                      <a:r>
                        <a:rPr sz="1050" b="0">
                          <a:solidFill>
                            <a:srgbClr val="1A202C"/>
                          </a:solidFill>
                          <a:latin typeface="Segoe UI"/>
                        </a:rPr>
                        <a:t>✓ lowest</a:t>
                      </a:r>
                    </a:p>
                  </a:txBody>
                  <a:tcPr marL="73152" marR="54864" marT="18288" marB="18288" anchor="ctr">
                    <a:solidFill>
                      <a:srgbClr val="DEF2E6"/>
                    </a:solidFill>
                  </a:tcPr>
                </a:tc>
                <a:tc>
                  <a:txBody>
                    <a:bodyPr/>
                    <a:lstStyle/>
                    <a:p>
                      <a:pPr algn="ctr"/>
                      <a:r>
                        <a:rPr sz="1050" b="0">
                          <a:solidFill>
                            <a:srgbClr val="1A202C"/>
                          </a:solidFill>
                          <a:latin typeface="Segoe UI"/>
                        </a:rPr>
                        <a:t>✗ highest</a:t>
                      </a:r>
                    </a:p>
                  </a:txBody>
                  <a:tcPr marL="73152" marR="54864" marT="18288" marB="18288" anchor="ctr">
                    <a:solidFill>
                      <a:srgbClr val="F7DEDE"/>
                    </a:solidFill>
                  </a:tcPr>
                </a:tc>
                <a:tc>
                  <a:txBody>
                    <a:bodyPr/>
                    <a:lstStyle/>
                    <a:p>
                      <a:pPr algn="ctr"/>
                      <a:r>
                        <a:rPr sz="1050" b="0">
                          <a:solidFill>
                            <a:srgbClr val="1A202C"/>
                          </a:solidFill>
                          <a:latin typeface="Segoe UI"/>
                        </a:rPr>
                        <a:t>✓ low-code</a:t>
                      </a:r>
                    </a:p>
                  </a:txBody>
                  <a:tcPr marL="73152" marR="54864" marT="18288" marB="18288" anchor="ctr">
                    <a:solidFill>
                      <a:srgbClr val="DEF2E6"/>
                    </a:solidFill>
                  </a:tcPr>
                </a:tc>
                <a:tc>
                  <a:txBody>
                    <a:bodyPr/>
                    <a:lstStyle/>
                    <a:p>
                      <a:pPr algn="ctr"/>
                      <a:r>
                        <a:rPr sz="1050" b="0">
                          <a:solidFill>
                            <a:srgbClr val="1A202C"/>
                          </a:solidFill>
                          <a:latin typeface="Segoe UI"/>
                        </a:rPr>
                        <a:t>◑</a:t>
                      </a:r>
                    </a:p>
                  </a:txBody>
                  <a:tcPr marL="73152" marR="54864" marT="18288" marB="18288" anchor="ctr">
                    <a:solidFill>
                      <a:srgbClr val="FBEED5"/>
                    </a:solidFill>
                  </a:tcPr>
                </a:tc>
                <a:extLst>
                  <a:ext uri="{0D108BD9-81ED-4DB2-BD59-A6C34878D82A}">
                    <a16:rowId xmlns:a16="http://schemas.microsoft.com/office/drawing/2014/main" val="10004"/>
                  </a:ext>
                </a:extLst>
              </a:tr>
              <a:tr h="416052">
                <a:tc>
                  <a:txBody>
                    <a:bodyPr/>
                    <a:lstStyle/>
                    <a:p>
                      <a:pPr algn="l"/>
                      <a:r>
                        <a:rPr sz="1050" b="1">
                          <a:solidFill>
                            <a:srgbClr val="1A202C"/>
                          </a:solidFill>
                          <a:latin typeface="Segoe UI"/>
                        </a:rPr>
                        <a:t>Foundry-native tracing/eval</a:t>
                      </a:r>
                    </a:p>
                  </a:txBody>
                  <a:tcPr marL="73152" marR="54864" marT="18288" marB="18288" anchor="ctr">
                    <a:solidFill>
                      <a:srgbClr val="FFFFFF"/>
                    </a:solidFill>
                  </a:tcPr>
                </a:tc>
                <a:tc>
                  <a:txBody>
                    <a:bodyPr/>
                    <a:lstStyle/>
                    <a:p>
                      <a:pPr algn="ctr"/>
                      <a:r>
                        <a:rPr sz="1050" b="0">
                          <a:solidFill>
                            <a:srgbClr val="1A202C"/>
                          </a:solidFill>
                          <a:latin typeface="Segoe UI"/>
                        </a:rPr>
                        <a:t>✓</a:t>
                      </a:r>
                    </a:p>
                  </a:txBody>
                  <a:tcPr marL="73152" marR="54864" marT="18288" marB="18288" anchor="ctr">
                    <a:solidFill>
                      <a:srgbClr val="DEF2E6"/>
                    </a:solidFill>
                  </a:tcPr>
                </a:tc>
                <a:tc>
                  <a:txBody>
                    <a:bodyPr/>
                    <a:lstStyle/>
                    <a:p>
                      <a:pPr algn="ctr"/>
                      <a:r>
                        <a:rPr sz="1050" b="0">
                          <a:solidFill>
                            <a:srgbClr val="1A202C"/>
                          </a:solidFill>
                          <a:latin typeface="Segoe UI"/>
                        </a:rPr>
                        <a:t>◑ two hops</a:t>
                      </a:r>
                    </a:p>
                  </a:txBody>
                  <a:tcPr marL="73152" marR="54864" marT="18288" marB="18288" anchor="ctr">
                    <a:solidFill>
                      <a:srgbClr val="FBEED5"/>
                    </a:solidFill>
                  </a:tcPr>
                </a:tc>
                <a:tc>
                  <a:txBody>
                    <a:bodyPr/>
                    <a:lstStyle/>
                    <a:p>
                      <a:pPr algn="ctr"/>
                      <a:r>
                        <a:rPr sz="1050" b="0">
                          <a:solidFill>
                            <a:srgbClr val="1A202C"/>
                          </a:solidFill>
                          <a:latin typeface="Segoe UI"/>
                        </a:rPr>
                        <a:t>◑</a:t>
                      </a:r>
                    </a:p>
                  </a:txBody>
                  <a:tcPr marL="73152" marR="54864" marT="18288" marB="18288" anchor="ctr">
                    <a:solidFill>
                      <a:srgbClr val="FBEED5"/>
                    </a:solidFill>
                  </a:tcPr>
                </a:tc>
                <a:tc>
                  <a:txBody>
                    <a:bodyPr/>
                    <a:lstStyle/>
                    <a:p>
                      <a:pPr algn="ctr"/>
                      <a:r>
                        <a:rPr sz="1050" b="0">
                          <a:solidFill>
                            <a:srgbClr val="1A202C"/>
                          </a:solidFill>
                          <a:latin typeface="Segoe UI"/>
                        </a:rPr>
                        <a:t>◑</a:t>
                      </a:r>
                    </a:p>
                  </a:txBody>
                  <a:tcPr marL="73152" marR="54864" marT="18288" marB="18288" anchor="ctr">
                    <a:solidFill>
                      <a:srgbClr val="FBEED5"/>
                    </a:solidFill>
                  </a:tcPr>
                </a:tc>
                <a:extLst>
                  <a:ext uri="{0D108BD9-81ED-4DB2-BD59-A6C34878D82A}">
                    <a16:rowId xmlns:a16="http://schemas.microsoft.com/office/drawing/2014/main" val="10005"/>
                  </a:ext>
                </a:extLst>
              </a:tr>
              <a:tr h="416052">
                <a:tc>
                  <a:txBody>
                    <a:bodyPr/>
                    <a:lstStyle/>
                    <a:p>
                      <a:pPr algn="l"/>
                      <a:r>
                        <a:rPr sz="1050" b="1" dirty="0">
                          <a:solidFill>
                            <a:srgbClr val="1A202C"/>
                          </a:solidFill>
                          <a:latin typeface="Segoe UI"/>
                        </a:rPr>
                        <a:t>Identity / SSO / OBO</a:t>
                      </a:r>
                    </a:p>
                  </a:txBody>
                  <a:tcPr marL="73152" marR="54864" marT="18288" marB="18288" anchor="ctr">
                    <a:solidFill>
                      <a:srgbClr val="EDF1F7"/>
                    </a:solidFill>
                  </a:tcPr>
                </a:tc>
                <a:tc>
                  <a:txBody>
                    <a:bodyPr/>
                    <a:lstStyle/>
                    <a:p>
                      <a:pPr algn="ctr"/>
                      <a:r>
                        <a:rPr sz="1050" b="0" dirty="0">
                          <a:solidFill>
                            <a:srgbClr val="1A202C"/>
                          </a:solidFill>
                          <a:latin typeface="Segoe UI"/>
                        </a:rPr>
                        <a:t>◑ channel auth</a:t>
                      </a:r>
                    </a:p>
                  </a:txBody>
                  <a:tcPr marL="73152" marR="54864" marT="18288" marB="18288" anchor="ctr">
                    <a:solidFill>
                      <a:srgbClr val="FBEED5"/>
                    </a:solidFill>
                  </a:tcPr>
                </a:tc>
                <a:tc>
                  <a:txBody>
                    <a:bodyPr/>
                    <a:lstStyle/>
                    <a:p>
                      <a:pPr algn="ctr"/>
                      <a:r>
                        <a:rPr sz="1050" b="0">
                          <a:solidFill>
                            <a:srgbClr val="1A202C"/>
                          </a:solidFill>
                          <a:latin typeface="Segoe UI"/>
                        </a:rPr>
                        <a:t>✓ SSO + OBO</a:t>
                      </a:r>
                    </a:p>
                  </a:txBody>
                  <a:tcPr marL="73152" marR="54864" marT="18288" marB="18288" anchor="ctr">
                    <a:solidFill>
                      <a:srgbClr val="DEF2E6"/>
                    </a:solidFill>
                  </a:tcPr>
                </a:tc>
                <a:tc>
                  <a:txBody>
                    <a:bodyPr/>
                    <a:lstStyle/>
                    <a:p>
                      <a:pPr algn="ctr"/>
                      <a:r>
                        <a:rPr sz="1050" b="0">
                          <a:solidFill>
                            <a:srgbClr val="1A202C"/>
                          </a:solidFill>
                          <a:latin typeface="Segoe UI"/>
                        </a:rPr>
                        <a:t>◑</a:t>
                      </a:r>
                    </a:p>
                  </a:txBody>
                  <a:tcPr marL="73152" marR="54864" marT="18288" marB="18288" anchor="ctr">
                    <a:solidFill>
                      <a:srgbClr val="FBEED5"/>
                    </a:solidFill>
                  </a:tcPr>
                </a:tc>
                <a:tc>
                  <a:txBody>
                    <a:bodyPr/>
                    <a:lstStyle/>
                    <a:p>
                      <a:pPr algn="ctr"/>
                      <a:r>
                        <a:rPr sz="1050" b="0">
                          <a:solidFill>
                            <a:srgbClr val="1A202C"/>
                          </a:solidFill>
                          <a:latin typeface="Segoe UI"/>
                        </a:rPr>
                        <a:t>◑</a:t>
                      </a:r>
                    </a:p>
                  </a:txBody>
                  <a:tcPr marL="73152" marR="54864" marT="18288" marB="18288" anchor="ctr">
                    <a:solidFill>
                      <a:srgbClr val="FBEED5"/>
                    </a:solidFill>
                  </a:tcPr>
                </a:tc>
                <a:extLst>
                  <a:ext uri="{0D108BD9-81ED-4DB2-BD59-A6C34878D82A}">
                    <a16:rowId xmlns:a16="http://schemas.microsoft.com/office/drawing/2014/main" val="10006"/>
                  </a:ext>
                </a:extLst>
              </a:tr>
              <a:tr h="416052">
                <a:tc>
                  <a:txBody>
                    <a:bodyPr/>
                    <a:lstStyle/>
                    <a:p>
                      <a:pPr algn="l"/>
                      <a:r>
                        <a:rPr sz="1050" b="1">
                          <a:solidFill>
                            <a:srgbClr val="1A202C"/>
                          </a:solidFill>
                          <a:latin typeface="Segoe UI"/>
                        </a:rPr>
                        <a:t>Multi-channel beyond Teams</a:t>
                      </a:r>
                    </a:p>
                  </a:txBody>
                  <a:tcPr marL="73152" marR="54864" marT="18288" marB="18288" anchor="ctr">
                    <a:solidFill>
                      <a:srgbClr val="FFFFFF"/>
                    </a:solidFill>
                  </a:tcPr>
                </a:tc>
                <a:tc>
                  <a:txBody>
                    <a:bodyPr/>
                    <a:lstStyle/>
                    <a:p>
                      <a:pPr algn="ctr"/>
                      <a:r>
                        <a:rPr sz="1050" b="0">
                          <a:solidFill>
                            <a:srgbClr val="1A202C"/>
                          </a:solidFill>
                          <a:latin typeface="Segoe UI"/>
                        </a:rPr>
                        <a:t>◑ Teams + M365</a:t>
                      </a:r>
                    </a:p>
                  </a:txBody>
                  <a:tcPr marL="73152" marR="54864" marT="18288" marB="18288" anchor="ctr">
                    <a:solidFill>
                      <a:srgbClr val="FBEED5"/>
                    </a:solidFill>
                  </a:tcPr>
                </a:tc>
                <a:tc>
                  <a:txBody>
                    <a:bodyPr/>
                    <a:lstStyle/>
                    <a:p>
                      <a:pPr algn="ctr"/>
                      <a:r>
                        <a:rPr sz="1050" b="0">
                          <a:solidFill>
                            <a:srgbClr val="1A202C"/>
                          </a:solidFill>
                          <a:latin typeface="Segoe UI"/>
                        </a:rPr>
                        <a:t>✓ many</a:t>
                      </a:r>
                    </a:p>
                  </a:txBody>
                  <a:tcPr marL="73152" marR="54864" marT="18288" marB="18288" anchor="ctr">
                    <a:solidFill>
                      <a:srgbClr val="DEF2E6"/>
                    </a:solidFill>
                  </a:tcPr>
                </a:tc>
                <a:tc>
                  <a:txBody>
                    <a:bodyPr/>
                    <a:lstStyle/>
                    <a:p>
                      <a:pPr algn="ctr"/>
                      <a:r>
                        <a:rPr sz="1050" b="0">
                          <a:solidFill>
                            <a:srgbClr val="1A202C"/>
                          </a:solidFill>
                          <a:latin typeface="Segoe UI"/>
                        </a:rPr>
                        <a:t>◑</a:t>
                      </a:r>
                    </a:p>
                  </a:txBody>
                  <a:tcPr marL="73152" marR="54864" marT="18288" marB="18288" anchor="ctr">
                    <a:solidFill>
                      <a:srgbClr val="FBEED5"/>
                    </a:solidFill>
                  </a:tcPr>
                </a:tc>
                <a:tc>
                  <a:txBody>
                    <a:bodyPr/>
                    <a:lstStyle/>
                    <a:p>
                      <a:pPr algn="ctr"/>
                      <a:r>
                        <a:rPr sz="1050" b="0">
                          <a:solidFill>
                            <a:srgbClr val="1A202C"/>
                          </a:solidFill>
                          <a:latin typeface="Segoe UI"/>
                        </a:rPr>
                        <a:t>◑</a:t>
                      </a:r>
                    </a:p>
                  </a:txBody>
                  <a:tcPr marL="73152" marR="54864" marT="18288" marB="18288" anchor="ctr">
                    <a:solidFill>
                      <a:srgbClr val="FBEED5"/>
                    </a:solidFill>
                  </a:tcPr>
                </a:tc>
                <a:extLst>
                  <a:ext uri="{0D108BD9-81ED-4DB2-BD59-A6C34878D82A}">
                    <a16:rowId xmlns:a16="http://schemas.microsoft.com/office/drawing/2014/main" val="10007"/>
                  </a:ext>
                </a:extLst>
              </a:tr>
              <a:tr h="416052">
                <a:tc>
                  <a:txBody>
                    <a:bodyPr/>
                    <a:lstStyle/>
                    <a:p>
                      <a:pPr algn="l"/>
                      <a:r>
                        <a:rPr sz="1050" b="1">
                          <a:solidFill>
                            <a:srgbClr val="1A202C"/>
                          </a:solidFill>
                          <a:latin typeface="Segoe UI"/>
                        </a:rPr>
                        <a:t>Government / GCC publish</a:t>
                      </a:r>
                    </a:p>
                  </a:txBody>
                  <a:tcPr marL="73152" marR="54864" marT="18288" marB="18288" anchor="ctr">
                    <a:solidFill>
                      <a:srgbClr val="EDF1F7"/>
                    </a:solidFill>
                  </a:tcPr>
                </a:tc>
                <a:tc>
                  <a:txBody>
                    <a:bodyPr/>
                    <a:lstStyle/>
                    <a:p>
                      <a:pPr algn="ctr"/>
                      <a:r>
                        <a:rPr sz="1050" b="0">
                          <a:solidFill>
                            <a:srgbClr val="1A202C"/>
                          </a:solidFill>
                          <a:latin typeface="Segoe UI"/>
                        </a:rPr>
                        <a:t>✓</a:t>
                      </a:r>
                    </a:p>
                  </a:txBody>
                  <a:tcPr marL="73152" marR="54864" marT="18288" marB="18288" anchor="ctr">
                    <a:solidFill>
                      <a:srgbClr val="DEF2E6"/>
                    </a:solidFill>
                  </a:tcPr>
                </a:tc>
                <a:tc>
                  <a:txBody>
                    <a:bodyPr/>
                    <a:lstStyle/>
                    <a:p>
                      <a:pPr algn="ctr"/>
                      <a:r>
                        <a:rPr sz="1050" b="0">
                          <a:solidFill>
                            <a:srgbClr val="1A202C"/>
                          </a:solidFill>
                          <a:latin typeface="Segoe UI"/>
                        </a:rPr>
                        <a:t>✗ unsupported</a:t>
                      </a:r>
                    </a:p>
                  </a:txBody>
                  <a:tcPr marL="73152" marR="54864" marT="18288" marB="18288" anchor="ctr">
                    <a:solidFill>
                      <a:srgbClr val="F7DEDE"/>
                    </a:solidFill>
                  </a:tcPr>
                </a:tc>
                <a:tc>
                  <a:txBody>
                    <a:bodyPr/>
                    <a:lstStyle/>
                    <a:p>
                      <a:pPr algn="ctr"/>
                      <a:r>
                        <a:rPr sz="1050" b="0">
                          <a:solidFill>
                            <a:srgbClr val="1A202C"/>
                          </a:solidFill>
                          <a:latin typeface="Segoe UI"/>
                        </a:rPr>
                        <a:t>◑ verify</a:t>
                      </a:r>
                    </a:p>
                  </a:txBody>
                  <a:tcPr marL="73152" marR="54864" marT="18288" marB="18288" anchor="ctr">
                    <a:solidFill>
                      <a:srgbClr val="FBEED5"/>
                    </a:solidFill>
                  </a:tcPr>
                </a:tc>
                <a:tc>
                  <a:txBody>
                    <a:bodyPr/>
                    <a:lstStyle/>
                    <a:p>
                      <a:pPr algn="ctr"/>
                      <a:r>
                        <a:rPr sz="1050" b="0">
                          <a:solidFill>
                            <a:srgbClr val="1A202C"/>
                          </a:solidFill>
                          <a:latin typeface="Segoe UI"/>
                        </a:rPr>
                        <a:t>◑</a:t>
                      </a:r>
                    </a:p>
                  </a:txBody>
                  <a:tcPr marL="73152" marR="54864" marT="18288" marB="18288" anchor="ctr">
                    <a:solidFill>
                      <a:srgbClr val="FBEED5"/>
                    </a:solidFill>
                  </a:tcPr>
                </a:tc>
                <a:extLst>
                  <a:ext uri="{0D108BD9-81ED-4DB2-BD59-A6C34878D82A}">
                    <a16:rowId xmlns:a16="http://schemas.microsoft.com/office/drawing/2014/main" val="10008"/>
                  </a:ext>
                </a:extLst>
              </a:tr>
              <a:tr h="416052">
                <a:tc>
                  <a:txBody>
                    <a:bodyPr/>
                    <a:lstStyle/>
                    <a:p>
                      <a:pPr algn="l"/>
                      <a:r>
                        <a:rPr sz="1050" b="1">
                          <a:solidFill>
                            <a:srgbClr val="1A202C"/>
                          </a:solidFill>
                          <a:latin typeface="Segoe UI"/>
                        </a:rPr>
                        <a:t>Time to demo</a:t>
                      </a:r>
                    </a:p>
                  </a:txBody>
                  <a:tcPr marL="73152" marR="54864" marT="18288" marB="18288" anchor="ctr">
                    <a:solidFill>
                      <a:srgbClr val="FFFFFF"/>
                    </a:solidFill>
                  </a:tcPr>
                </a:tc>
                <a:tc>
                  <a:txBody>
                    <a:bodyPr/>
                    <a:lstStyle/>
                    <a:p>
                      <a:pPr algn="ctr"/>
                      <a:r>
                        <a:rPr sz="1050" b="0">
                          <a:solidFill>
                            <a:srgbClr val="1A202C"/>
                          </a:solidFill>
                          <a:latin typeface="Segoe UI"/>
                        </a:rPr>
                        <a:t>✓ fastest</a:t>
                      </a:r>
                    </a:p>
                  </a:txBody>
                  <a:tcPr marL="73152" marR="54864" marT="18288" marB="18288" anchor="ctr">
                    <a:solidFill>
                      <a:srgbClr val="DEF2E6"/>
                    </a:solidFill>
                  </a:tcPr>
                </a:tc>
                <a:tc>
                  <a:txBody>
                    <a:bodyPr/>
                    <a:lstStyle/>
                    <a:p>
                      <a:pPr algn="ctr"/>
                      <a:r>
                        <a:rPr sz="1050" b="0">
                          <a:solidFill>
                            <a:srgbClr val="1A202C"/>
                          </a:solidFill>
                          <a:latin typeface="Segoe UI"/>
                        </a:rPr>
                        <a:t>✗ slowest</a:t>
                      </a:r>
                    </a:p>
                  </a:txBody>
                  <a:tcPr marL="73152" marR="54864" marT="18288" marB="18288" anchor="ctr">
                    <a:solidFill>
                      <a:srgbClr val="F7DEDE"/>
                    </a:solidFill>
                  </a:tcPr>
                </a:tc>
                <a:tc>
                  <a:txBody>
                    <a:bodyPr/>
                    <a:lstStyle/>
                    <a:p>
                      <a:pPr algn="ctr"/>
                      <a:r>
                        <a:rPr sz="1050" b="0">
                          <a:solidFill>
                            <a:srgbClr val="1A202C"/>
                          </a:solidFill>
                          <a:latin typeface="Segoe UI"/>
                        </a:rPr>
                        <a:t>✓ fast</a:t>
                      </a:r>
                    </a:p>
                  </a:txBody>
                  <a:tcPr marL="73152" marR="54864" marT="18288" marB="18288" anchor="ctr">
                    <a:solidFill>
                      <a:srgbClr val="DEF2E6"/>
                    </a:solidFill>
                  </a:tcPr>
                </a:tc>
                <a:tc>
                  <a:txBody>
                    <a:bodyPr/>
                    <a:lstStyle/>
                    <a:p>
                      <a:pPr algn="ctr"/>
                      <a:r>
                        <a:rPr sz="1050" b="0" dirty="0">
                          <a:solidFill>
                            <a:srgbClr val="1A202C"/>
                          </a:solidFill>
                          <a:latin typeface="Segoe UI"/>
                        </a:rPr>
                        <a:t>◑ medium</a:t>
                      </a:r>
                    </a:p>
                  </a:txBody>
                  <a:tcPr marL="73152" marR="54864" marT="18288" marB="18288" anchor="ctr">
                    <a:solidFill>
                      <a:srgbClr val="FBEED5"/>
                    </a:solidFill>
                  </a:tcPr>
                </a:tc>
                <a:extLst>
                  <a:ext uri="{0D108BD9-81ED-4DB2-BD59-A6C34878D82A}">
                    <a16:rowId xmlns:a16="http://schemas.microsoft.com/office/drawing/2014/main" val="10009"/>
                  </a:ext>
                </a:extLst>
              </a:tr>
            </a:tbl>
          </a:graphicData>
        </a:graphic>
      </p:graphicFrame>
      <p:sp>
        <p:nvSpPr>
          <p:cNvPr id="8" name="Oval 7"/>
          <p:cNvSpPr/>
          <p:nvPr/>
        </p:nvSpPr>
        <p:spPr>
          <a:xfrm>
            <a:off x="548640" y="5833872"/>
            <a:ext cx="201168" cy="20116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5806440"/>
            <a:ext cx="2926080" cy="274320"/>
          </a:xfrm>
          <a:prstGeom prst="rect">
            <a:avLst/>
          </a:prstGeom>
          <a:noFill/>
        </p:spPr>
        <p:txBody>
          <a:bodyPr wrap="square" lIns="0" tIns="0" rIns="0" bIns="0" anchor="t">
            <a:spAutoFit/>
          </a:bodyPr>
          <a:lstStyle/>
          <a:p>
            <a:pPr algn="l">
              <a:spcAft>
                <a:spcPts val="400"/>
              </a:spcAft>
            </a:pPr>
            <a:r>
              <a:rPr sz="1150" b="0" i="0">
                <a:solidFill>
                  <a:srgbClr val="1A202C"/>
                </a:solidFill>
                <a:latin typeface="Segoe UI"/>
              </a:rPr>
              <a:t>✓ strong / native</a:t>
            </a:r>
          </a:p>
        </p:txBody>
      </p:sp>
      <p:sp>
        <p:nvSpPr>
          <p:cNvPr id="10" name="Oval 9"/>
          <p:cNvSpPr/>
          <p:nvPr/>
        </p:nvSpPr>
        <p:spPr>
          <a:xfrm>
            <a:off x="3108960" y="5833872"/>
            <a:ext cx="201168" cy="20116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01568" y="5806440"/>
            <a:ext cx="2926080" cy="274320"/>
          </a:xfrm>
          <a:prstGeom prst="rect">
            <a:avLst/>
          </a:prstGeom>
          <a:noFill/>
        </p:spPr>
        <p:txBody>
          <a:bodyPr wrap="square" lIns="0" tIns="0" rIns="0" bIns="0" anchor="t">
            <a:spAutoFit/>
          </a:bodyPr>
          <a:lstStyle/>
          <a:p>
            <a:pPr algn="l">
              <a:spcAft>
                <a:spcPts val="400"/>
              </a:spcAft>
            </a:pPr>
            <a:r>
              <a:rPr sz="1150" b="0" i="0">
                <a:solidFill>
                  <a:srgbClr val="1A202C"/>
                </a:solidFill>
                <a:latin typeface="Segoe UI"/>
              </a:rPr>
              <a:t>◑ partial / needs work</a:t>
            </a:r>
          </a:p>
        </p:txBody>
      </p:sp>
      <p:sp>
        <p:nvSpPr>
          <p:cNvPr id="12" name="Oval 11"/>
          <p:cNvSpPr/>
          <p:nvPr/>
        </p:nvSpPr>
        <p:spPr>
          <a:xfrm>
            <a:off x="6035040" y="5833872"/>
            <a:ext cx="201168" cy="201168"/>
          </a:xfrm>
          <a:prstGeom prst="ellipse">
            <a:avLst/>
          </a:prstGeom>
          <a:solidFill>
            <a:srgbClr val="C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27648" y="5806440"/>
            <a:ext cx="2926080" cy="274320"/>
          </a:xfrm>
          <a:prstGeom prst="rect">
            <a:avLst/>
          </a:prstGeom>
          <a:noFill/>
        </p:spPr>
        <p:txBody>
          <a:bodyPr wrap="square" lIns="0" tIns="0" rIns="0" bIns="0" anchor="t">
            <a:spAutoFit/>
          </a:bodyPr>
          <a:lstStyle/>
          <a:p>
            <a:pPr algn="l">
              <a:spcAft>
                <a:spcPts val="400"/>
              </a:spcAft>
            </a:pPr>
            <a:r>
              <a:rPr sz="1150" b="0" i="0">
                <a:solidFill>
                  <a:srgbClr val="1A202C"/>
                </a:solidFill>
                <a:latin typeface="Segoe UI"/>
              </a:rPr>
              <a:t>✗ not supported / heavy lift</a:t>
            </a:r>
          </a:p>
        </p:txBody>
      </p:sp>
      <p:sp>
        <p:nvSpPr>
          <p:cNvPr id="14" name="TextBox 13"/>
          <p:cNvSpPr txBox="1"/>
          <p:nvPr/>
        </p:nvSpPr>
        <p:spPr>
          <a:xfrm>
            <a:off x="502920" y="6419088"/>
            <a:ext cx="7315200" cy="274320"/>
          </a:xfrm>
          <a:prstGeom prst="rect">
            <a:avLst/>
          </a:prstGeom>
          <a:noFill/>
        </p:spPr>
        <p:txBody>
          <a:bodyPr wrap="square" lIns="0" tIns="0" rIns="0" bIns="0" anchor="t">
            <a:spAutoFit/>
          </a:bodyPr>
          <a:lstStyle/>
          <a:p>
            <a:pPr algn="l">
              <a:spcAft>
                <a:spcPts val="400"/>
              </a:spcAft>
            </a:pPr>
            <a:r>
              <a:rPr sz="900" b="0" i="0">
                <a:solidFill>
                  <a:srgbClr val="6B7280"/>
                </a:solidFill>
                <a:latin typeface="Segoe UI"/>
              </a:rPr>
              <a:t>One deployed agent · two front doors · Foundry hosted agent on Teams</a:t>
            </a:r>
          </a:p>
        </p:txBody>
      </p:sp>
      <p:sp>
        <p:nvSpPr>
          <p:cNvPr id="15" name="TextBox 14"/>
          <p:cNvSpPr txBox="1"/>
          <p:nvPr/>
        </p:nvSpPr>
        <p:spPr>
          <a:xfrm>
            <a:off x="10881360" y="6419088"/>
            <a:ext cx="822960" cy="274320"/>
          </a:xfrm>
          <a:prstGeom prst="rect">
            <a:avLst/>
          </a:prstGeom>
          <a:noFill/>
        </p:spPr>
        <p:txBody>
          <a:bodyPr wrap="square" lIns="0" tIns="0" rIns="0" bIns="0" anchor="t">
            <a:spAutoFit/>
          </a:bodyPr>
          <a:lstStyle/>
          <a:p>
            <a:pPr algn="r">
              <a:spcAft>
                <a:spcPts val="400"/>
              </a:spcAft>
            </a:pPr>
            <a:r>
              <a:rPr sz="900" b="0" i="0">
                <a:solidFill>
                  <a:srgbClr val="6B7280"/>
                </a:solidFill>
                <a:latin typeface="Segoe UI"/>
              </a:rPr>
              <a:t>13</a:t>
            </a:r>
          </a:p>
        </p:txBody>
      </p:sp>
    </p:spTree>
    <p:extLst>
      <p:ext uri="{BB962C8B-B14F-4D97-AF65-F5344CB8AC3E}">
        <p14:creationId xmlns:p14="http://schemas.microsoft.com/office/powerpoint/2010/main" val="27409162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170432"/>
            <a:ext cx="12191695"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274320"/>
            <a:ext cx="128016" cy="60350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19456"/>
            <a:ext cx="10789920" cy="310896"/>
          </a:xfrm>
          <a:prstGeom prst="rect">
            <a:avLst/>
          </a:prstGeom>
          <a:noFill/>
        </p:spPr>
        <p:txBody>
          <a:bodyPr wrap="square" lIns="0" tIns="0" rIns="0" bIns="0" anchor="t">
            <a:spAutoFit/>
          </a:bodyPr>
          <a:lstStyle/>
          <a:p>
            <a:pPr algn="l">
              <a:spcAft>
                <a:spcPts val="400"/>
              </a:spcAft>
            </a:pPr>
            <a:r>
              <a:rPr sz="1250" b="0" i="0">
                <a:solidFill>
                  <a:srgbClr val="1F4E79"/>
                </a:solidFill>
                <a:latin typeface="Segoe UI"/>
              </a:rPr>
              <a:t>AVAILABILITY</a:t>
            </a:r>
          </a:p>
        </p:txBody>
      </p:sp>
      <p:sp>
        <p:nvSpPr>
          <p:cNvPr id="6" name="TextBox 5"/>
          <p:cNvSpPr txBox="1"/>
          <p:nvPr/>
        </p:nvSpPr>
        <p:spPr>
          <a:xfrm>
            <a:off x="777240" y="502920"/>
            <a:ext cx="10789920" cy="566928"/>
          </a:xfrm>
          <a:prstGeom prst="rect">
            <a:avLst/>
          </a:prstGeom>
          <a:noFill/>
        </p:spPr>
        <p:txBody>
          <a:bodyPr wrap="square" lIns="0" tIns="0" rIns="0" bIns="0" anchor="t">
            <a:spAutoFit/>
          </a:bodyPr>
          <a:lstStyle/>
          <a:p>
            <a:pPr algn="l">
              <a:spcAft>
                <a:spcPts val="400"/>
              </a:spcAft>
            </a:pPr>
            <a:r>
              <a:rPr sz="2600" b="1" i="0">
                <a:solidFill>
                  <a:srgbClr val="FFFFFF"/>
                </a:solidFill>
                <a:latin typeface="Segoe UI"/>
              </a:rPr>
              <a:t>GA vs Preview at a glance (verified 2026-07)</a:t>
            </a:r>
          </a:p>
        </p:txBody>
      </p:sp>
      <p:graphicFrame>
        <p:nvGraphicFramePr>
          <p:cNvPr id="7" name="Table 6"/>
          <p:cNvGraphicFramePr>
            <a:graphicFrameLocks noGrp="1"/>
          </p:cNvGraphicFramePr>
          <p:nvPr/>
        </p:nvGraphicFramePr>
        <p:xfrm>
          <a:off x="640080" y="1554480"/>
          <a:ext cx="10881359" cy="3840480"/>
        </p:xfrm>
        <a:graphic>
          <a:graphicData uri="http://schemas.openxmlformats.org/drawingml/2006/table">
            <a:tbl>
              <a:tblPr>
                <a:tableStyleId>{5C22544A-7EE6-4342-B048-85BDC9FD1C3A}</a:tableStyleId>
              </a:tblPr>
              <a:tblGrid>
                <a:gridCol w="8334658">
                  <a:extLst>
                    <a:ext uri="{9D8B030D-6E8A-4147-A177-3AD203B41FA5}">
                      <a16:colId xmlns:a16="http://schemas.microsoft.com/office/drawing/2014/main" val="20000"/>
                    </a:ext>
                  </a:extLst>
                </a:gridCol>
                <a:gridCol w="2546701">
                  <a:extLst>
                    <a:ext uri="{9D8B030D-6E8A-4147-A177-3AD203B41FA5}">
                      <a16:colId xmlns:a16="http://schemas.microsoft.com/office/drawing/2014/main" val="20001"/>
                    </a:ext>
                  </a:extLst>
                </a:gridCol>
              </a:tblGrid>
              <a:tr h="349134">
                <a:tc>
                  <a:txBody>
                    <a:bodyPr/>
                    <a:lstStyle/>
                    <a:p>
                      <a:pPr algn="l"/>
                      <a:r>
                        <a:rPr sz="1150" b="1">
                          <a:solidFill>
                            <a:srgbClr val="FFFFFF"/>
                          </a:solidFill>
                          <a:latin typeface="Segoe UI"/>
                        </a:rPr>
                        <a:t>Capability</a:t>
                      </a:r>
                    </a:p>
                  </a:txBody>
                  <a:tcPr marL="73152" marR="54864" marT="27432" marB="27432" anchor="ctr">
                    <a:solidFill>
                      <a:srgbClr val="1F4E79"/>
                    </a:solidFill>
                  </a:tcPr>
                </a:tc>
                <a:tc>
                  <a:txBody>
                    <a:bodyPr/>
                    <a:lstStyle/>
                    <a:p>
                      <a:pPr algn="ctr"/>
                      <a:r>
                        <a:rPr sz="1150" b="1">
                          <a:solidFill>
                            <a:srgbClr val="FFFFFF"/>
                          </a:solidFill>
                          <a:latin typeface="Segoe UI"/>
                        </a:rPr>
                        <a:t>Status</a:t>
                      </a:r>
                    </a:p>
                  </a:txBody>
                  <a:tcPr marL="73152" marR="54864" marT="27432" marB="27432" anchor="ctr">
                    <a:solidFill>
                      <a:srgbClr val="1F4E79"/>
                    </a:solidFill>
                  </a:tcPr>
                </a:tc>
                <a:extLst>
                  <a:ext uri="{0D108BD9-81ED-4DB2-BD59-A6C34878D82A}">
                    <a16:rowId xmlns:a16="http://schemas.microsoft.com/office/drawing/2014/main" val="10000"/>
                  </a:ext>
                </a:extLst>
              </a:tr>
              <a:tr h="349134">
                <a:tc>
                  <a:txBody>
                    <a:bodyPr/>
                    <a:lstStyle/>
                    <a:p>
                      <a:pPr algn="l"/>
                      <a:r>
                        <a:rPr sz="1200" b="1">
                          <a:solidFill>
                            <a:srgbClr val="1A202C"/>
                          </a:solidFill>
                          <a:latin typeface="Segoe UI"/>
                        </a:rPr>
                        <a:t>Microsoft Foundry portal (new)</a:t>
                      </a:r>
                    </a:p>
                  </a:txBody>
                  <a:tcPr marL="73152" marR="54864" marT="18288" marB="18288" anchor="ctr">
                    <a:solidFill>
                      <a:srgbClr val="FFFFFF"/>
                    </a:solidFill>
                  </a:tcPr>
                </a:tc>
                <a:tc>
                  <a:txBody>
                    <a:bodyPr/>
                    <a:lstStyle/>
                    <a:p>
                      <a:pPr algn="ctr"/>
                      <a:r>
                        <a:rPr sz="1200" b="0">
                          <a:solidFill>
                            <a:srgbClr val="1A202C"/>
                          </a:solidFill>
                          <a:latin typeface="Segoe UI"/>
                        </a:rPr>
                        <a:t>GA</a:t>
                      </a:r>
                    </a:p>
                  </a:txBody>
                  <a:tcPr marL="73152" marR="54864" marT="18288" marB="18288" anchor="ctr">
                    <a:solidFill>
                      <a:srgbClr val="DEF2E6"/>
                    </a:solidFill>
                  </a:tcPr>
                </a:tc>
                <a:extLst>
                  <a:ext uri="{0D108BD9-81ED-4DB2-BD59-A6C34878D82A}">
                    <a16:rowId xmlns:a16="http://schemas.microsoft.com/office/drawing/2014/main" val="10001"/>
                  </a:ext>
                </a:extLst>
              </a:tr>
              <a:tr h="349134">
                <a:tc>
                  <a:txBody>
                    <a:bodyPr/>
                    <a:lstStyle/>
                    <a:p>
                      <a:pPr algn="l"/>
                      <a:r>
                        <a:rPr sz="1200" b="1">
                          <a:solidFill>
                            <a:srgbClr val="1A202C"/>
                          </a:solidFill>
                          <a:latin typeface="Segoe UI"/>
                        </a:rPr>
                        <a:t>Foundry Hosted Agents (managed hosting)</a:t>
                      </a:r>
                    </a:p>
                  </a:txBody>
                  <a:tcPr marL="73152" marR="54864" marT="18288" marB="18288" anchor="ctr">
                    <a:solidFill>
                      <a:srgbClr val="EDF1F7"/>
                    </a:solidFill>
                  </a:tcPr>
                </a:tc>
                <a:tc>
                  <a:txBody>
                    <a:bodyPr/>
                    <a:lstStyle/>
                    <a:p>
                      <a:pPr algn="ctr"/>
                      <a:r>
                        <a:rPr sz="1200" b="0">
                          <a:solidFill>
                            <a:srgbClr val="1A202C"/>
                          </a:solidFill>
                          <a:latin typeface="Segoe UI"/>
                        </a:rPr>
                        <a:t>GA</a:t>
                      </a:r>
                    </a:p>
                  </a:txBody>
                  <a:tcPr marL="73152" marR="54864" marT="18288" marB="18288" anchor="ctr">
                    <a:solidFill>
                      <a:srgbClr val="DEF2E6"/>
                    </a:solidFill>
                  </a:tcPr>
                </a:tc>
                <a:extLst>
                  <a:ext uri="{0D108BD9-81ED-4DB2-BD59-A6C34878D82A}">
                    <a16:rowId xmlns:a16="http://schemas.microsoft.com/office/drawing/2014/main" val="10002"/>
                  </a:ext>
                </a:extLst>
              </a:tr>
              <a:tr h="349134">
                <a:tc>
                  <a:txBody>
                    <a:bodyPr/>
                    <a:lstStyle/>
                    <a:p>
                      <a:pPr algn="l"/>
                      <a:r>
                        <a:rPr sz="1200" b="1">
                          <a:solidFill>
                            <a:srgbClr val="1A202C"/>
                          </a:solidFill>
                          <a:latin typeface="Segoe UI"/>
                        </a:rPr>
                        <a:t>Publish Foundry agent → Teams &amp; M365 Copilot</a:t>
                      </a:r>
                    </a:p>
                  </a:txBody>
                  <a:tcPr marL="73152" marR="54864" marT="18288" marB="18288" anchor="ctr">
                    <a:solidFill>
                      <a:srgbClr val="FFFFFF"/>
                    </a:solidFill>
                  </a:tcPr>
                </a:tc>
                <a:tc>
                  <a:txBody>
                    <a:bodyPr/>
                    <a:lstStyle/>
                    <a:p>
                      <a:pPr algn="ctr"/>
                      <a:r>
                        <a:rPr sz="1200" b="0">
                          <a:solidFill>
                            <a:srgbClr val="1A202C"/>
                          </a:solidFill>
                          <a:latin typeface="Segoe UI"/>
                        </a:rPr>
                        <a:t>GA</a:t>
                      </a:r>
                    </a:p>
                  </a:txBody>
                  <a:tcPr marL="73152" marR="54864" marT="18288" marB="18288" anchor="ctr">
                    <a:solidFill>
                      <a:srgbClr val="DEF2E6"/>
                    </a:solidFill>
                  </a:tcPr>
                </a:tc>
                <a:extLst>
                  <a:ext uri="{0D108BD9-81ED-4DB2-BD59-A6C34878D82A}">
                    <a16:rowId xmlns:a16="http://schemas.microsoft.com/office/drawing/2014/main" val="10003"/>
                  </a:ext>
                </a:extLst>
              </a:tr>
              <a:tr h="349134">
                <a:tc>
                  <a:txBody>
                    <a:bodyPr/>
                    <a:lstStyle/>
                    <a:p>
                      <a:pPr algn="l"/>
                      <a:r>
                        <a:rPr sz="1200" b="1">
                          <a:solidFill>
                            <a:srgbClr val="1A202C"/>
                          </a:solidFill>
                          <a:latin typeface="Segoe UI"/>
                        </a:rPr>
                        <a:t>Responses → Activity protocol bridge</a:t>
                      </a:r>
                    </a:p>
                  </a:txBody>
                  <a:tcPr marL="73152" marR="54864" marT="18288" marB="18288" anchor="ctr">
                    <a:solidFill>
                      <a:srgbClr val="EDF1F7"/>
                    </a:solidFill>
                  </a:tcPr>
                </a:tc>
                <a:tc>
                  <a:txBody>
                    <a:bodyPr/>
                    <a:lstStyle/>
                    <a:p>
                      <a:pPr algn="ctr"/>
                      <a:r>
                        <a:rPr sz="1200" b="0">
                          <a:solidFill>
                            <a:srgbClr val="1A202C"/>
                          </a:solidFill>
                          <a:latin typeface="Segoe UI"/>
                        </a:rPr>
                        <a:t>GA (automatic)</a:t>
                      </a:r>
                    </a:p>
                  </a:txBody>
                  <a:tcPr marL="73152" marR="54864" marT="18288" marB="18288" anchor="ctr">
                    <a:solidFill>
                      <a:srgbClr val="DEF2E6"/>
                    </a:solidFill>
                  </a:tcPr>
                </a:tc>
                <a:extLst>
                  <a:ext uri="{0D108BD9-81ED-4DB2-BD59-A6C34878D82A}">
                    <a16:rowId xmlns:a16="http://schemas.microsoft.com/office/drawing/2014/main" val="10004"/>
                  </a:ext>
                </a:extLst>
              </a:tr>
              <a:tr h="349134">
                <a:tc>
                  <a:txBody>
                    <a:bodyPr/>
                    <a:lstStyle/>
                    <a:p>
                      <a:pPr algn="l"/>
                      <a:r>
                        <a:rPr sz="1200" b="1">
                          <a:solidFill>
                            <a:srgbClr val="1A202C"/>
                          </a:solidFill>
                          <a:latin typeface="Segoe UI"/>
                        </a:rPr>
                        <a:t>M365 Agents Toolkit / SDK proxy path</a:t>
                      </a:r>
                    </a:p>
                  </a:txBody>
                  <a:tcPr marL="73152" marR="54864" marT="18288" marB="18288" anchor="ctr">
                    <a:solidFill>
                      <a:srgbClr val="FFFFFF"/>
                    </a:solidFill>
                  </a:tcPr>
                </a:tc>
                <a:tc>
                  <a:txBody>
                    <a:bodyPr/>
                    <a:lstStyle/>
                    <a:p>
                      <a:pPr algn="ctr"/>
                      <a:r>
                        <a:rPr sz="1200" b="0">
                          <a:solidFill>
                            <a:srgbClr val="1A202C"/>
                          </a:solidFill>
                          <a:latin typeface="Segoe UI"/>
                        </a:rPr>
                        <a:t>GA tooling</a:t>
                      </a:r>
                    </a:p>
                  </a:txBody>
                  <a:tcPr marL="73152" marR="54864" marT="18288" marB="18288" anchor="ctr">
                    <a:solidFill>
                      <a:srgbClr val="DEF2E6"/>
                    </a:solidFill>
                  </a:tcPr>
                </a:tc>
                <a:extLst>
                  <a:ext uri="{0D108BD9-81ED-4DB2-BD59-A6C34878D82A}">
                    <a16:rowId xmlns:a16="http://schemas.microsoft.com/office/drawing/2014/main" val="10005"/>
                  </a:ext>
                </a:extLst>
              </a:tr>
              <a:tr h="349134">
                <a:tc>
                  <a:txBody>
                    <a:bodyPr/>
                    <a:lstStyle/>
                    <a:p>
                      <a:pPr algn="l"/>
                      <a:r>
                        <a:rPr sz="1200" b="1">
                          <a:solidFill>
                            <a:srgbClr val="1A202C"/>
                          </a:solidFill>
                          <a:latin typeface="Segoe UI"/>
                        </a:rPr>
                        <a:t>Copilot Studio → Teams channel</a:t>
                      </a:r>
                    </a:p>
                  </a:txBody>
                  <a:tcPr marL="73152" marR="54864" marT="18288" marB="18288" anchor="ctr">
                    <a:solidFill>
                      <a:srgbClr val="EDF1F7"/>
                    </a:solidFill>
                  </a:tcPr>
                </a:tc>
                <a:tc>
                  <a:txBody>
                    <a:bodyPr/>
                    <a:lstStyle/>
                    <a:p>
                      <a:pPr algn="ctr"/>
                      <a:r>
                        <a:rPr sz="1200" b="0">
                          <a:solidFill>
                            <a:srgbClr val="1A202C"/>
                          </a:solidFill>
                          <a:latin typeface="Segoe UI"/>
                        </a:rPr>
                        <a:t>GA</a:t>
                      </a:r>
                    </a:p>
                  </a:txBody>
                  <a:tcPr marL="73152" marR="54864" marT="18288" marB="18288" anchor="ctr">
                    <a:solidFill>
                      <a:srgbClr val="DEF2E6"/>
                    </a:solidFill>
                  </a:tcPr>
                </a:tc>
                <a:extLst>
                  <a:ext uri="{0D108BD9-81ED-4DB2-BD59-A6C34878D82A}">
                    <a16:rowId xmlns:a16="http://schemas.microsoft.com/office/drawing/2014/main" val="10006"/>
                  </a:ext>
                </a:extLst>
              </a:tr>
              <a:tr h="349134">
                <a:tc>
                  <a:txBody>
                    <a:bodyPr/>
                    <a:lstStyle/>
                    <a:p>
                      <a:pPr algn="l"/>
                      <a:r>
                        <a:rPr sz="1200" b="1">
                          <a:solidFill>
                            <a:srgbClr val="1A202C"/>
                          </a:solidFill>
                          <a:latin typeface="Segoe UI"/>
                        </a:rPr>
                        <a:t>A2A (agent-to-agent) endpoint protocol</a:t>
                      </a:r>
                    </a:p>
                  </a:txBody>
                  <a:tcPr marL="73152" marR="54864" marT="18288" marB="18288" anchor="ctr">
                    <a:solidFill>
                      <a:srgbClr val="FFFFFF"/>
                    </a:solidFill>
                  </a:tcPr>
                </a:tc>
                <a:tc>
                  <a:txBody>
                    <a:bodyPr/>
                    <a:lstStyle/>
                    <a:p>
                      <a:pPr algn="ctr"/>
                      <a:r>
                        <a:rPr sz="1200" b="0">
                          <a:solidFill>
                            <a:srgbClr val="1A202C"/>
                          </a:solidFill>
                          <a:latin typeface="Segoe UI"/>
                        </a:rPr>
                        <a:t>Preview</a:t>
                      </a:r>
                    </a:p>
                  </a:txBody>
                  <a:tcPr marL="73152" marR="54864" marT="18288" marB="18288" anchor="ctr">
                    <a:solidFill>
                      <a:srgbClr val="FBEED5"/>
                    </a:solidFill>
                  </a:tcPr>
                </a:tc>
                <a:extLst>
                  <a:ext uri="{0D108BD9-81ED-4DB2-BD59-A6C34878D82A}">
                    <a16:rowId xmlns:a16="http://schemas.microsoft.com/office/drawing/2014/main" val="10007"/>
                  </a:ext>
                </a:extLst>
              </a:tr>
              <a:tr h="349134">
                <a:tc>
                  <a:txBody>
                    <a:bodyPr/>
                    <a:lstStyle/>
                    <a:p>
                      <a:pPr algn="l"/>
                      <a:r>
                        <a:rPr sz="1200" b="1">
                          <a:solidFill>
                            <a:srgbClr val="1A202C"/>
                          </a:solidFill>
                          <a:latin typeface="Segoe UI"/>
                        </a:rPr>
                        <a:t>MCP endpoint protocol on the agent</a:t>
                      </a:r>
                    </a:p>
                  </a:txBody>
                  <a:tcPr marL="73152" marR="54864" marT="18288" marB="18288" anchor="ctr">
                    <a:solidFill>
                      <a:srgbClr val="EDF1F7"/>
                    </a:solidFill>
                  </a:tcPr>
                </a:tc>
                <a:tc>
                  <a:txBody>
                    <a:bodyPr/>
                    <a:lstStyle/>
                    <a:p>
                      <a:pPr algn="ctr"/>
                      <a:r>
                        <a:rPr sz="1200" b="0">
                          <a:solidFill>
                            <a:srgbClr val="1A202C"/>
                          </a:solidFill>
                          <a:latin typeface="Segoe UI"/>
                        </a:rPr>
                        <a:t>Preview</a:t>
                      </a:r>
                    </a:p>
                  </a:txBody>
                  <a:tcPr marL="73152" marR="54864" marT="18288" marB="18288" anchor="ctr">
                    <a:solidFill>
                      <a:srgbClr val="FBEED5"/>
                    </a:solidFill>
                  </a:tcPr>
                </a:tc>
                <a:extLst>
                  <a:ext uri="{0D108BD9-81ED-4DB2-BD59-A6C34878D82A}">
                    <a16:rowId xmlns:a16="http://schemas.microsoft.com/office/drawing/2014/main" val="10008"/>
                  </a:ext>
                </a:extLst>
              </a:tr>
              <a:tr h="349134">
                <a:tc>
                  <a:txBody>
                    <a:bodyPr/>
                    <a:lstStyle/>
                    <a:p>
                      <a:pPr algn="l"/>
                      <a:r>
                        <a:rPr sz="1200" b="1">
                          <a:solidFill>
                            <a:srgbClr val="1A202C"/>
                          </a:solidFill>
                          <a:latin typeface="Segoe UI"/>
                        </a:rPr>
                        <a:t>Python agent-framework-foundry-hosting package</a:t>
                      </a:r>
                    </a:p>
                  </a:txBody>
                  <a:tcPr marL="73152" marR="54864" marT="18288" marB="18288" anchor="ctr">
                    <a:solidFill>
                      <a:srgbClr val="FFFFFF"/>
                    </a:solidFill>
                  </a:tcPr>
                </a:tc>
                <a:tc>
                  <a:txBody>
                    <a:bodyPr/>
                    <a:lstStyle/>
                    <a:p>
                      <a:pPr algn="ctr"/>
                      <a:r>
                        <a:rPr sz="1200" b="0">
                          <a:solidFill>
                            <a:srgbClr val="1A202C"/>
                          </a:solidFill>
                          <a:latin typeface="Segoe UI"/>
                        </a:rPr>
                        <a:t>Preview / prerelease</a:t>
                      </a:r>
                    </a:p>
                  </a:txBody>
                  <a:tcPr marL="73152" marR="54864" marT="18288" marB="18288" anchor="ctr">
                    <a:solidFill>
                      <a:srgbClr val="FBEED5"/>
                    </a:solidFill>
                  </a:tcPr>
                </a:tc>
                <a:extLst>
                  <a:ext uri="{0D108BD9-81ED-4DB2-BD59-A6C34878D82A}">
                    <a16:rowId xmlns:a16="http://schemas.microsoft.com/office/drawing/2014/main" val="10009"/>
                  </a:ext>
                </a:extLst>
              </a:tr>
              <a:tr h="349140">
                <a:tc>
                  <a:txBody>
                    <a:bodyPr/>
                    <a:lstStyle/>
                    <a:p>
                      <a:pPr algn="l"/>
                      <a:r>
                        <a:rPr sz="1200" b="1">
                          <a:solidFill>
                            <a:srgbClr val="1A202C"/>
                          </a:solidFill>
                          <a:latin typeface="Segoe UI"/>
                        </a:rPr>
                        <a:t>M365 Agents Toolkit publishing in GCC / Gov</a:t>
                      </a:r>
                    </a:p>
                  </a:txBody>
                  <a:tcPr marL="73152" marR="54864" marT="18288" marB="18288" anchor="ctr">
                    <a:solidFill>
                      <a:srgbClr val="EDF1F7"/>
                    </a:solidFill>
                  </a:tcPr>
                </a:tc>
                <a:tc>
                  <a:txBody>
                    <a:bodyPr/>
                    <a:lstStyle/>
                    <a:p>
                      <a:pPr algn="ctr"/>
                      <a:r>
                        <a:rPr sz="1200" b="0">
                          <a:solidFill>
                            <a:srgbClr val="1A202C"/>
                          </a:solidFill>
                          <a:latin typeface="Segoe UI"/>
                        </a:rPr>
                        <a:t>Not supported</a:t>
                      </a:r>
                    </a:p>
                  </a:txBody>
                  <a:tcPr marL="73152" marR="54864" marT="18288" marB="18288" anchor="ctr">
                    <a:solidFill>
                      <a:srgbClr val="F7DEDE"/>
                    </a:solidFill>
                  </a:tcPr>
                </a:tc>
                <a:extLst>
                  <a:ext uri="{0D108BD9-81ED-4DB2-BD59-A6C34878D82A}">
                    <a16:rowId xmlns:a16="http://schemas.microsoft.com/office/drawing/2014/main" val="10010"/>
                  </a:ext>
                </a:extLst>
              </a:tr>
            </a:tbl>
          </a:graphicData>
        </a:graphic>
      </p:graphicFrame>
      <p:sp>
        <p:nvSpPr>
          <p:cNvPr id="8" name="TextBox 7"/>
          <p:cNvSpPr txBox="1"/>
          <p:nvPr/>
        </p:nvSpPr>
        <p:spPr>
          <a:xfrm>
            <a:off x="640080" y="5532120"/>
            <a:ext cx="10881360" cy="640080"/>
          </a:xfrm>
          <a:prstGeom prst="rect">
            <a:avLst/>
          </a:prstGeom>
          <a:noFill/>
        </p:spPr>
        <p:txBody>
          <a:bodyPr wrap="square" lIns="0" tIns="0" rIns="0" bIns="0" anchor="t">
            <a:spAutoFit/>
          </a:bodyPr>
          <a:lstStyle/>
          <a:p>
            <a:pPr algn="l">
              <a:spcAft>
                <a:spcPts val="400"/>
              </a:spcAft>
            </a:pPr>
            <a:r>
              <a:rPr sz="1350" b="1" i="0">
                <a:solidFill>
                  <a:srgbClr val="1F9E74"/>
                </a:solidFill>
                <a:latin typeface="Segoe UI"/>
              </a:rPr>
              <a:t>Bottom line:  </a:t>
            </a:r>
            <a:r>
              <a:rPr sz="1350" b="0" i="0">
                <a:solidFill>
                  <a:srgbClr val="1A202C"/>
                </a:solidFill>
                <a:latin typeface="Segoe UI"/>
              </a:rPr>
              <a:t>the primary path — publish a Foundry agent directly to Teams — is GA. Only the newer protocol surfaces (A2A, MCP) and some Python hosting glue are Preview.</a:t>
            </a:r>
          </a:p>
        </p:txBody>
      </p:sp>
      <p:sp>
        <p:nvSpPr>
          <p:cNvPr id="9" name="TextBox 8"/>
          <p:cNvSpPr txBox="1"/>
          <p:nvPr/>
        </p:nvSpPr>
        <p:spPr>
          <a:xfrm>
            <a:off x="502920" y="6419088"/>
            <a:ext cx="7315200" cy="274320"/>
          </a:xfrm>
          <a:prstGeom prst="rect">
            <a:avLst/>
          </a:prstGeom>
          <a:noFill/>
        </p:spPr>
        <p:txBody>
          <a:bodyPr wrap="square" lIns="0" tIns="0" rIns="0" bIns="0" anchor="t">
            <a:spAutoFit/>
          </a:bodyPr>
          <a:lstStyle/>
          <a:p>
            <a:pPr algn="l">
              <a:spcAft>
                <a:spcPts val="400"/>
              </a:spcAft>
            </a:pPr>
            <a:r>
              <a:rPr sz="900" b="0" i="0">
                <a:solidFill>
                  <a:srgbClr val="6B7280"/>
                </a:solidFill>
                <a:latin typeface="Segoe UI"/>
              </a:rPr>
              <a:t>One deployed agent · two front doors · Foundry hosted agent on Teams</a:t>
            </a:r>
          </a:p>
        </p:txBody>
      </p:sp>
      <p:sp>
        <p:nvSpPr>
          <p:cNvPr id="10" name="TextBox 9"/>
          <p:cNvSpPr txBox="1"/>
          <p:nvPr/>
        </p:nvSpPr>
        <p:spPr>
          <a:xfrm>
            <a:off x="10881360" y="6419088"/>
            <a:ext cx="822960" cy="274320"/>
          </a:xfrm>
          <a:prstGeom prst="rect">
            <a:avLst/>
          </a:prstGeom>
          <a:noFill/>
        </p:spPr>
        <p:txBody>
          <a:bodyPr wrap="square" lIns="0" tIns="0" rIns="0" bIns="0" anchor="t">
            <a:spAutoFit/>
          </a:bodyPr>
          <a:lstStyle/>
          <a:p>
            <a:pPr algn="r">
              <a:spcAft>
                <a:spcPts val="400"/>
              </a:spcAft>
            </a:pPr>
            <a:r>
              <a:rPr sz="900" b="0" i="0">
                <a:solidFill>
                  <a:srgbClr val="6B7280"/>
                </a:solidFill>
                <a:latin typeface="Segoe UI"/>
              </a:rPr>
              <a:t>16</a:t>
            </a:r>
          </a:p>
        </p:txBody>
      </p:sp>
    </p:spTree>
    <p:extLst>
      <p:ext uri="{BB962C8B-B14F-4D97-AF65-F5344CB8AC3E}">
        <p14:creationId xmlns:p14="http://schemas.microsoft.com/office/powerpoint/2010/main" val="37068334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5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170432"/>
            <a:ext cx="12191695"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274320"/>
            <a:ext cx="128016" cy="60350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19456"/>
            <a:ext cx="10789920" cy="310896"/>
          </a:xfrm>
          <a:prstGeom prst="rect">
            <a:avLst/>
          </a:prstGeom>
          <a:noFill/>
        </p:spPr>
        <p:txBody>
          <a:bodyPr wrap="square" lIns="0" tIns="0" rIns="0" bIns="0" anchor="t">
            <a:spAutoFit/>
          </a:bodyPr>
          <a:lstStyle/>
          <a:p>
            <a:pPr algn="l">
              <a:spcAft>
                <a:spcPts val="400"/>
              </a:spcAft>
            </a:pPr>
            <a:r>
              <a:rPr sz="1250" b="0" i="0">
                <a:solidFill>
                  <a:srgbClr val="1F4E79"/>
                </a:solidFill>
                <a:latin typeface="Segoe UI"/>
              </a:rPr>
              <a:t>THE BIG PICTURE</a:t>
            </a:r>
          </a:p>
        </p:txBody>
      </p:sp>
      <p:sp>
        <p:nvSpPr>
          <p:cNvPr id="6" name="TextBox 5"/>
          <p:cNvSpPr txBox="1"/>
          <p:nvPr/>
        </p:nvSpPr>
        <p:spPr>
          <a:xfrm>
            <a:off x="777240" y="502920"/>
            <a:ext cx="10789920" cy="566928"/>
          </a:xfrm>
          <a:prstGeom prst="rect">
            <a:avLst/>
          </a:prstGeom>
          <a:noFill/>
        </p:spPr>
        <p:txBody>
          <a:bodyPr wrap="square" lIns="0" tIns="0" rIns="0" bIns="0" anchor="t">
            <a:spAutoFit/>
          </a:bodyPr>
          <a:lstStyle/>
          <a:p>
            <a:pPr algn="l">
              <a:spcAft>
                <a:spcPts val="400"/>
              </a:spcAft>
            </a:pPr>
            <a:r>
              <a:rPr sz="2600" b="1" i="0">
                <a:solidFill>
                  <a:srgbClr val="FFFFFF"/>
                </a:solidFill>
                <a:latin typeface="Segoe UI"/>
              </a:rPr>
              <a:t>One deployed agent · two front doors</a:t>
            </a:r>
          </a:p>
        </p:txBody>
      </p:sp>
      <p:sp>
        <p:nvSpPr>
          <p:cNvPr id="7" name="Rounded Rectangle 6"/>
          <p:cNvSpPr/>
          <p:nvPr/>
        </p:nvSpPr>
        <p:spPr>
          <a:xfrm>
            <a:off x="640080" y="1600200"/>
            <a:ext cx="3108960" cy="1737360"/>
          </a:xfrm>
          <a:prstGeom prst="roundRect">
            <a:avLst>
              <a:gd name="adj" fmla="val 6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600200"/>
            <a:ext cx="3108960" cy="4572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59" y="1600200"/>
            <a:ext cx="2743200" cy="457200"/>
          </a:xfrm>
          <a:prstGeom prst="rect">
            <a:avLst/>
          </a:prstGeom>
          <a:noFill/>
        </p:spPr>
        <p:txBody>
          <a:bodyPr wrap="square" lIns="0" tIns="0" rIns="0" bIns="0" anchor="ctr">
            <a:spAutoFit/>
          </a:bodyPr>
          <a:lstStyle/>
          <a:p>
            <a:pPr algn="l">
              <a:spcAft>
                <a:spcPts val="400"/>
              </a:spcAft>
            </a:pPr>
            <a:r>
              <a:rPr sz="1400" b="1" i="0">
                <a:solidFill>
                  <a:srgbClr val="FFFFFF"/>
                </a:solidFill>
                <a:latin typeface="Segoe UI"/>
              </a:rPr>
              <a:t>Microsoft Teams</a:t>
            </a:r>
          </a:p>
        </p:txBody>
      </p:sp>
      <p:sp>
        <p:nvSpPr>
          <p:cNvPr id="10" name="TextBox 9"/>
          <p:cNvSpPr txBox="1"/>
          <p:nvPr/>
        </p:nvSpPr>
        <p:spPr>
          <a:xfrm>
            <a:off x="859536" y="2167128"/>
            <a:ext cx="2670048" cy="1097280"/>
          </a:xfrm>
          <a:prstGeom prst="rect">
            <a:avLst/>
          </a:prstGeom>
          <a:noFill/>
        </p:spPr>
        <p:txBody>
          <a:bodyPr wrap="square" lIns="0" tIns="0" rIns="0" bIns="0" anchor="t">
            <a:spAutoFit/>
          </a:bodyPr>
          <a:lstStyle/>
          <a:p>
            <a:pPr algn="l">
              <a:spcAft>
                <a:spcPts val="400"/>
              </a:spcAft>
            </a:pPr>
            <a:r>
              <a:rPr sz="1200" b="0" i="0">
                <a:solidFill>
                  <a:srgbClr val="1A202C"/>
                </a:solidFill>
                <a:latin typeface="Segoe UI"/>
              </a:rPr>
              <a:t>• Native Teams chat client</a:t>
            </a:r>
          </a:p>
          <a:p>
            <a:pPr algn="l">
              <a:spcAft>
                <a:spcPts val="400"/>
              </a:spcAft>
            </a:pPr>
            <a:r>
              <a:rPr sz="1200" b="0" i="0">
                <a:solidFill>
                  <a:srgbClr val="1A202C"/>
                </a:solidFill>
                <a:latin typeface="Segoe UI"/>
              </a:rPr>
              <a:t>• Option A: direct Bot Service publish</a:t>
            </a:r>
          </a:p>
          <a:p>
            <a:pPr algn="l">
              <a:spcAft>
                <a:spcPts val="400"/>
              </a:spcAft>
            </a:pPr>
            <a:r>
              <a:rPr sz="1200" b="0" i="0">
                <a:solidFill>
                  <a:srgbClr val="1A202C"/>
                </a:solidFill>
                <a:latin typeface="Segoe UI"/>
              </a:rPr>
              <a:t>• Option B: CEA proxy (SSO + OBO)</a:t>
            </a:r>
          </a:p>
        </p:txBody>
      </p:sp>
      <p:sp>
        <p:nvSpPr>
          <p:cNvPr id="11" name="Rounded Rectangle 10"/>
          <p:cNvSpPr/>
          <p:nvPr/>
        </p:nvSpPr>
        <p:spPr>
          <a:xfrm>
            <a:off x="640080" y="3566160"/>
            <a:ext cx="3108960" cy="1737360"/>
          </a:xfrm>
          <a:prstGeom prst="roundRect">
            <a:avLst>
              <a:gd name="adj" fmla="val 6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40080" y="3566160"/>
            <a:ext cx="3108960" cy="4572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59" y="3566160"/>
            <a:ext cx="2743200" cy="457200"/>
          </a:xfrm>
          <a:prstGeom prst="rect">
            <a:avLst/>
          </a:prstGeom>
          <a:noFill/>
        </p:spPr>
        <p:txBody>
          <a:bodyPr wrap="square" lIns="0" tIns="0" rIns="0" bIns="0" anchor="ctr">
            <a:spAutoFit/>
          </a:bodyPr>
          <a:lstStyle/>
          <a:p>
            <a:pPr algn="l">
              <a:spcAft>
                <a:spcPts val="400"/>
              </a:spcAft>
            </a:pPr>
            <a:r>
              <a:rPr sz="1400" b="1" i="0">
                <a:solidFill>
                  <a:srgbClr val="FFFFFF"/>
                </a:solidFill>
                <a:latin typeface="Segoe UI"/>
              </a:rPr>
              <a:t>Custom Web App (SPA)</a:t>
            </a:r>
          </a:p>
        </p:txBody>
      </p:sp>
      <p:sp>
        <p:nvSpPr>
          <p:cNvPr id="14" name="TextBox 13"/>
          <p:cNvSpPr txBox="1"/>
          <p:nvPr/>
        </p:nvSpPr>
        <p:spPr>
          <a:xfrm>
            <a:off x="859536" y="4133087"/>
            <a:ext cx="2670048" cy="1097280"/>
          </a:xfrm>
          <a:prstGeom prst="rect">
            <a:avLst/>
          </a:prstGeom>
          <a:noFill/>
        </p:spPr>
        <p:txBody>
          <a:bodyPr wrap="square" lIns="0" tIns="0" rIns="0" bIns="0" anchor="t">
            <a:spAutoFit/>
          </a:bodyPr>
          <a:lstStyle/>
          <a:p>
            <a:pPr algn="l">
              <a:spcAft>
                <a:spcPts val="400"/>
              </a:spcAft>
            </a:pPr>
            <a:r>
              <a:rPr sz="1200" b="0" i="0">
                <a:solidFill>
                  <a:srgbClr val="1A202C"/>
                </a:solidFill>
                <a:latin typeface="Segoe UI"/>
              </a:rPr>
              <a:t>• React + MSAL.js</a:t>
            </a:r>
          </a:p>
          <a:p>
            <a:pPr algn="l">
              <a:spcAft>
                <a:spcPts val="400"/>
              </a:spcAft>
            </a:pPr>
            <a:r>
              <a:rPr sz="1200" b="0" i="0">
                <a:solidFill>
                  <a:srgbClr val="1A202C"/>
                </a:solidFill>
                <a:latin typeface="Segoe UI"/>
              </a:rPr>
              <a:t>• Option A: app-only endpoint</a:t>
            </a:r>
          </a:p>
          <a:p>
            <a:pPr algn="l">
              <a:spcAft>
                <a:spcPts val="400"/>
              </a:spcAft>
            </a:pPr>
            <a:r>
              <a:rPr sz="1200" b="0" i="0">
                <a:solidFill>
                  <a:srgbClr val="1A202C"/>
                </a:solidFill>
                <a:latin typeface="Segoe UI"/>
              </a:rPr>
              <a:t>• Option B: user token → backend OBO</a:t>
            </a:r>
          </a:p>
        </p:txBody>
      </p:sp>
      <p:sp>
        <p:nvSpPr>
          <p:cNvPr id="15" name="Rectangle 14"/>
          <p:cNvSpPr/>
          <p:nvPr/>
        </p:nvSpPr>
        <p:spPr>
          <a:xfrm>
            <a:off x="4114800" y="2377440"/>
            <a:ext cx="640080" cy="18288"/>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114800" y="4480560"/>
            <a:ext cx="640080" cy="18288"/>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800600" y="2331720"/>
            <a:ext cx="3200400" cy="2286000"/>
          </a:xfrm>
          <a:prstGeom prst="roundRect">
            <a:avLst>
              <a:gd name="adj" fmla="val 6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800600" y="2331720"/>
            <a:ext cx="3200400" cy="4572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983480" y="2331720"/>
            <a:ext cx="2834640" cy="457200"/>
          </a:xfrm>
          <a:prstGeom prst="rect">
            <a:avLst/>
          </a:prstGeom>
          <a:noFill/>
        </p:spPr>
        <p:txBody>
          <a:bodyPr wrap="square" lIns="0" tIns="0" rIns="0" bIns="0" anchor="ctr">
            <a:spAutoFit/>
          </a:bodyPr>
          <a:lstStyle/>
          <a:p>
            <a:pPr algn="l">
              <a:spcAft>
                <a:spcPts val="400"/>
              </a:spcAft>
            </a:pPr>
            <a:r>
              <a:rPr sz="1400" b="1" i="0">
                <a:solidFill>
                  <a:srgbClr val="FFFFFF"/>
                </a:solidFill>
                <a:latin typeface="Segoe UI"/>
              </a:rPr>
              <a:t>auth_context.from_headers()</a:t>
            </a:r>
          </a:p>
        </p:txBody>
      </p:sp>
      <p:sp>
        <p:nvSpPr>
          <p:cNvPr id="20" name="TextBox 19"/>
          <p:cNvSpPr txBox="1"/>
          <p:nvPr/>
        </p:nvSpPr>
        <p:spPr>
          <a:xfrm>
            <a:off x="5020056" y="2898648"/>
            <a:ext cx="2761488" cy="1645920"/>
          </a:xfrm>
          <a:prstGeom prst="rect">
            <a:avLst/>
          </a:prstGeom>
          <a:noFill/>
        </p:spPr>
        <p:txBody>
          <a:bodyPr wrap="square" lIns="0" tIns="0" rIns="0" bIns="0" anchor="t">
            <a:spAutoFit/>
          </a:bodyPr>
          <a:lstStyle/>
          <a:p>
            <a:pPr algn="l">
              <a:spcAft>
                <a:spcPts val="400"/>
              </a:spcAft>
            </a:pPr>
            <a:r>
              <a:rPr sz="1200" b="0" i="0">
                <a:solidFill>
                  <a:srgbClr val="1A202C"/>
                </a:solidFill>
                <a:latin typeface="Segoe UI"/>
              </a:rPr>
              <a:t>Both front doors converge to a single</a:t>
            </a:r>
          </a:p>
          <a:p>
            <a:pPr algn="l">
              <a:spcAft>
                <a:spcPts val="400"/>
              </a:spcAft>
            </a:pPr>
            <a:r>
              <a:rPr sz="1200" b="0" i="0">
                <a:solidFill>
                  <a:srgbClr val="1A202C"/>
                </a:solidFill>
                <a:latin typeface="Segoe UI"/>
              </a:rPr>
              <a:t>UserAuth object:</a:t>
            </a:r>
          </a:p>
          <a:p>
            <a:pPr algn="l">
              <a:spcAft>
                <a:spcPts val="400"/>
              </a:spcAft>
            </a:pPr>
            <a:r>
              <a:rPr sz="1150" b="0" i="0">
                <a:solidFill>
                  <a:srgbClr val="1F9E74"/>
                </a:solidFill>
                <a:latin typeface="Segoe UI"/>
              </a:rPr>
              <a:t>• search_token  (already exchanged)</a:t>
            </a:r>
          </a:p>
          <a:p>
            <a:pPr algn="l">
              <a:spcAft>
                <a:spcPts val="400"/>
              </a:spcAft>
            </a:pPr>
            <a:r>
              <a:rPr sz="1150" b="0" i="0">
                <a:solidFill>
                  <a:srgbClr val="1F9E74"/>
                </a:solidFill>
                <a:latin typeface="Segoe UI"/>
              </a:rPr>
              <a:t>• user_assertion → backend OBO</a:t>
            </a:r>
          </a:p>
          <a:p>
            <a:pPr algn="l">
              <a:spcAft>
                <a:spcPts val="400"/>
              </a:spcAft>
            </a:pPr>
            <a:r>
              <a:rPr sz="600" b="0" i="0">
                <a:solidFill>
                  <a:srgbClr val="1A202C"/>
                </a:solidFill>
                <a:latin typeface="Segoe UI"/>
              </a:rPr>
              <a:t> </a:t>
            </a:r>
          </a:p>
          <a:p>
            <a:pPr algn="l">
              <a:spcAft>
                <a:spcPts val="400"/>
              </a:spcAft>
            </a:pPr>
            <a:r>
              <a:rPr sz="1150" b="0" i="0">
                <a:solidFill>
                  <a:srgbClr val="2E75B6"/>
                </a:solidFill>
                <a:latin typeface="Segoe UI"/>
              </a:rPr>
              <a:t>Option A skips identity entirely →</a:t>
            </a:r>
          </a:p>
          <a:p>
            <a:pPr algn="l">
              <a:spcAft>
                <a:spcPts val="400"/>
              </a:spcAft>
            </a:pPr>
            <a:r>
              <a:rPr sz="1150" b="0" i="0">
                <a:solidFill>
                  <a:srgbClr val="2E75B6"/>
                </a:solidFill>
                <a:latin typeface="Segoe UI"/>
              </a:rPr>
              <a:t>application / admin identity.</a:t>
            </a:r>
          </a:p>
        </p:txBody>
      </p:sp>
      <p:sp>
        <p:nvSpPr>
          <p:cNvPr id="21" name="Rounded Rectangle 20"/>
          <p:cNvSpPr/>
          <p:nvPr/>
        </p:nvSpPr>
        <p:spPr>
          <a:xfrm>
            <a:off x="8366760" y="2651760"/>
            <a:ext cx="3154680" cy="1645920"/>
          </a:xfrm>
          <a:prstGeom prst="roundRect">
            <a:avLst>
              <a:gd name="adj" fmla="val 6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366760" y="2651760"/>
            <a:ext cx="3154680" cy="457200"/>
          </a:xfrm>
          <a:prstGeom prst="rect">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549640" y="2651760"/>
            <a:ext cx="2788920" cy="457200"/>
          </a:xfrm>
          <a:prstGeom prst="rect">
            <a:avLst/>
          </a:prstGeom>
          <a:noFill/>
        </p:spPr>
        <p:txBody>
          <a:bodyPr wrap="square" lIns="0" tIns="0" rIns="0" bIns="0" anchor="ctr">
            <a:spAutoFit/>
          </a:bodyPr>
          <a:lstStyle/>
          <a:p>
            <a:pPr algn="l">
              <a:spcAft>
                <a:spcPts val="400"/>
              </a:spcAft>
            </a:pPr>
            <a:r>
              <a:rPr sz="1400" b="1" i="0">
                <a:solidFill>
                  <a:srgbClr val="FFFFFF"/>
                </a:solidFill>
                <a:latin typeface="Segoe UI"/>
              </a:rPr>
              <a:t>Azure AI Search</a:t>
            </a:r>
          </a:p>
        </p:txBody>
      </p:sp>
      <p:sp>
        <p:nvSpPr>
          <p:cNvPr id="24" name="TextBox 23"/>
          <p:cNvSpPr txBox="1"/>
          <p:nvPr/>
        </p:nvSpPr>
        <p:spPr>
          <a:xfrm>
            <a:off x="8586216" y="3218688"/>
            <a:ext cx="2715768" cy="1005840"/>
          </a:xfrm>
          <a:prstGeom prst="rect">
            <a:avLst/>
          </a:prstGeom>
          <a:noFill/>
        </p:spPr>
        <p:txBody>
          <a:bodyPr wrap="square" lIns="0" tIns="0" rIns="0" bIns="0" anchor="t">
            <a:spAutoFit/>
          </a:bodyPr>
          <a:lstStyle/>
          <a:p>
            <a:pPr algn="l">
              <a:spcAft>
                <a:spcPts val="400"/>
              </a:spcAft>
            </a:pPr>
            <a:r>
              <a:rPr sz="1200" b="1" i="0">
                <a:solidFill>
                  <a:srgbClr val="1A202C"/>
                </a:solidFill>
                <a:latin typeface="Segoe UI"/>
              </a:rPr>
              <a:t>Document-level security</a:t>
            </a:r>
          </a:p>
          <a:p>
            <a:pPr algn="l">
              <a:spcAft>
                <a:spcPts val="400"/>
              </a:spcAft>
            </a:pPr>
            <a:r>
              <a:rPr sz="1150" b="0" i="0">
                <a:solidFill>
                  <a:srgbClr val="1A202C"/>
                </a:solidFill>
                <a:latin typeface="Segoe UI"/>
              </a:rPr>
              <a:t>• Native ACL trims to caller's</a:t>
            </a:r>
          </a:p>
          <a:p>
            <a:pPr algn="l">
              <a:spcAft>
                <a:spcPts val="400"/>
              </a:spcAft>
            </a:pPr>
            <a:r>
              <a:rPr sz="1150" b="0" i="0">
                <a:solidFill>
                  <a:srgbClr val="1A202C"/>
                </a:solidFill>
                <a:latin typeface="Segoe UI"/>
              </a:rPr>
              <a:t>   real Entra groups / oid</a:t>
            </a:r>
          </a:p>
          <a:p>
            <a:pPr algn="l">
              <a:spcAft>
                <a:spcPts val="400"/>
              </a:spcAft>
            </a:pPr>
            <a:r>
              <a:rPr sz="1150" b="0" i="0">
                <a:solidFill>
                  <a:srgbClr val="1A202C"/>
                </a:solidFill>
                <a:latin typeface="Segoe UI"/>
              </a:rPr>
              <a:t>• One index, one query shape</a:t>
            </a:r>
          </a:p>
        </p:txBody>
      </p:sp>
      <p:sp>
        <p:nvSpPr>
          <p:cNvPr id="25" name="Rectangle 24"/>
          <p:cNvSpPr/>
          <p:nvPr/>
        </p:nvSpPr>
        <p:spPr>
          <a:xfrm>
            <a:off x="8001000" y="3429000"/>
            <a:ext cx="365760" cy="18288"/>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 y="5532120"/>
            <a:ext cx="10972800" cy="731520"/>
          </a:xfrm>
          <a:prstGeom prst="rect">
            <a:avLst/>
          </a:prstGeom>
          <a:noFill/>
        </p:spPr>
        <p:txBody>
          <a:bodyPr wrap="square" lIns="0" tIns="0" rIns="0" bIns="0" anchor="t">
            <a:spAutoFit/>
          </a:bodyPr>
          <a:lstStyle/>
          <a:p>
            <a:pPr algn="l">
              <a:spcAft>
                <a:spcPts val="400"/>
              </a:spcAft>
            </a:pPr>
            <a:r>
              <a:rPr sz="1400" b="1" i="0">
                <a:solidFill>
                  <a:srgbClr val="1F4E79"/>
                </a:solidFill>
                <a:latin typeface="Segoe UI"/>
              </a:rPr>
              <a:t>Key idea:  </a:t>
            </a:r>
            <a:r>
              <a:rPr sz="1400" b="0" i="0">
                <a:solidFill>
                  <a:srgbClr val="1A202C"/>
                </a:solidFill>
                <a:latin typeface="Segoe UI"/>
              </a:rPr>
              <a:t>whether a request arrives from Teams or the web app, it resolves to the same downstream AI Search call. The only variable is </a:t>
            </a:r>
            <a:r>
              <a:rPr sz="1400" b="1" i="1">
                <a:solidFill>
                  <a:srgbClr val="1F9E74"/>
                </a:solidFill>
                <a:latin typeface="Segoe UI"/>
              </a:rPr>
              <a:t>whose identity</a:t>
            </a:r>
            <a:r>
              <a:rPr sz="1400" b="0" i="0">
                <a:solidFill>
                  <a:srgbClr val="1A202C"/>
                </a:solidFill>
                <a:latin typeface="Segoe UI"/>
              </a:rPr>
              <a:t> drives trimming.</a:t>
            </a:r>
          </a:p>
        </p:txBody>
      </p:sp>
      <p:sp>
        <p:nvSpPr>
          <p:cNvPr id="27" name="TextBox 26"/>
          <p:cNvSpPr txBox="1"/>
          <p:nvPr/>
        </p:nvSpPr>
        <p:spPr>
          <a:xfrm>
            <a:off x="502920" y="6419088"/>
            <a:ext cx="7315200" cy="274320"/>
          </a:xfrm>
          <a:prstGeom prst="rect">
            <a:avLst/>
          </a:prstGeom>
          <a:noFill/>
        </p:spPr>
        <p:txBody>
          <a:bodyPr wrap="square" lIns="0" tIns="0" rIns="0" bIns="0" anchor="t">
            <a:spAutoFit/>
          </a:bodyPr>
          <a:lstStyle/>
          <a:p>
            <a:pPr algn="l">
              <a:spcAft>
                <a:spcPts val="400"/>
              </a:spcAft>
            </a:pPr>
            <a:r>
              <a:rPr sz="900" b="0" i="0">
                <a:solidFill>
                  <a:srgbClr val="6B7280"/>
                </a:solidFill>
                <a:latin typeface="Segoe UI"/>
              </a:rPr>
              <a:t>One deployed agent · two front doors · Foundry hosted agent on Teams</a:t>
            </a:r>
          </a:p>
        </p:txBody>
      </p:sp>
      <p:sp>
        <p:nvSpPr>
          <p:cNvPr id="28" name="TextBox 27"/>
          <p:cNvSpPr txBox="1"/>
          <p:nvPr/>
        </p:nvSpPr>
        <p:spPr>
          <a:xfrm>
            <a:off x="10881360" y="6419088"/>
            <a:ext cx="822960" cy="274320"/>
          </a:xfrm>
          <a:prstGeom prst="rect">
            <a:avLst/>
          </a:prstGeom>
          <a:noFill/>
        </p:spPr>
        <p:txBody>
          <a:bodyPr wrap="square" lIns="0" tIns="0" rIns="0" bIns="0" anchor="t">
            <a:spAutoFit/>
          </a:bodyPr>
          <a:lstStyle/>
          <a:p>
            <a:pPr algn="r">
              <a:spcAft>
                <a:spcPts val="400"/>
              </a:spcAft>
            </a:pPr>
            <a:r>
              <a:rPr sz="900" b="0" i="0">
                <a:solidFill>
                  <a:srgbClr val="6B7280"/>
                </a:solidFill>
                <a:latin typeface="Segoe UI"/>
              </a:rPr>
              <a:t>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5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170432"/>
            <a:ext cx="12191695" cy="5486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274320"/>
            <a:ext cx="128016" cy="60350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19456"/>
            <a:ext cx="10789920" cy="310896"/>
          </a:xfrm>
          <a:prstGeom prst="rect">
            <a:avLst/>
          </a:prstGeom>
          <a:noFill/>
        </p:spPr>
        <p:txBody>
          <a:bodyPr wrap="square" lIns="0" tIns="0" rIns="0" bIns="0" anchor="t">
            <a:spAutoFit/>
          </a:bodyPr>
          <a:lstStyle/>
          <a:p>
            <a:pPr algn="l">
              <a:spcAft>
                <a:spcPts val="400"/>
              </a:spcAft>
            </a:pPr>
            <a:r>
              <a:rPr sz="1250" b="0" i="0">
                <a:solidFill>
                  <a:srgbClr val="2E75B6"/>
                </a:solidFill>
                <a:latin typeface="Segoe UI"/>
              </a:rPr>
              <a:t>OPTION A</a:t>
            </a:r>
          </a:p>
        </p:txBody>
      </p:sp>
      <p:sp>
        <p:nvSpPr>
          <p:cNvPr id="6" name="TextBox 5"/>
          <p:cNvSpPr txBox="1"/>
          <p:nvPr/>
        </p:nvSpPr>
        <p:spPr>
          <a:xfrm>
            <a:off x="777240" y="502920"/>
            <a:ext cx="10789920" cy="566928"/>
          </a:xfrm>
          <a:prstGeom prst="rect">
            <a:avLst/>
          </a:prstGeom>
          <a:noFill/>
        </p:spPr>
        <p:txBody>
          <a:bodyPr wrap="square" lIns="0" tIns="0" rIns="0" bIns="0" anchor="t">
            <a:spAutoFit/>
          </a:bodyPr>
          <a:lstStyle/>
          <a:p>
            <a:pPr algn="l">
              <a:spcAft>
                <a:spcPts val="400"/>
              </a:spcAft>
            </a:pPr>
            <a:r>
              <a:rPr sz="2600" b="1" i="0">
                <a:solidFill>
                  <a:srgbClr val="FFFFFF"/>
                </a:solidFill>
                <a:latin typeface="Segoe UI"/>
              </a:rPr>
              <a:t>Direct Foundry publish — app-only</a:t>
            </a:r>
          </a:p>
        </p:txBody>
      </p:sp>
      <p:sp>
        <p:nvSpPr>
          <p:cNvPr id="7" name="TextBox 6"/>
          <p:cNvSpPr txBox="1"/>
          <p:nvPr/>
        </p:nvSpPr>
        <p:spPr>
          <a:xfrm>
            <a:off x="640080" y="1463040"/>
            <a:ext cx="10881360" cy="640080"/>
          </a:xfrm>
          <a:prstGeom prst="rect">
            <a:avLst/>
          </a:prstGeom>
          <a:noFill/>
        </p:spPr>
        <p:txBody>
          <a:bodyPr wrap="square" lIns="0" tIns="0" rIns="0" bIns="0" anchor="t">
            <a:spAutoFit/>
          </a:bodyPr>
          <a:lstStyle/>
          <a:p>
            <a:pPr algn="l">
              <a:spcAft>
                <a:spcPts val="400"/>
              </a:spcAft>
            </a:pPr>
            <a:r>
              <a:rPr sz="1500" b="0" i="0">
                <a:solidFill>
                  <a:srgbClr val="1A202C"/>
                </a:solidFill>
                <a:latin typeface="Segoe UI"/>
              </a:rPr>
              <a:t>The hosted agent is published straight to Teams via Azure Bot Service. Its in-container Search tool runs with the </a:t>
            </a:r>
            <a:r>
              <a:rPr sz="1500" b="1" i="0">
                <a:solidFill>
                  <a:srgbClr val="2E75B6"/>
                </a:solidFill>
                <a:latin typeface="Segoe UI"/>
              </a:rPr>
              <a:t>application identity</a:t>
            </a:r>
            <a:r>
              <a:rPr sz="1500" b="0" i="0">
                <a:solidFill>
                  <a:srgbClr val="1A202C"/>
                </a:solidFill>
                <a:latin typeface="Segoe UI"/>
              </a:rPr>
              <a:t> — every user sees the same result set. No per-user trimming.</a:t>
            </a:r>
          </a:p>
        </p:txBody>
      </p:sp>
      <p:sp>
        <p:nvSpPr>
          <p:cNvPr id="8" name="Rounded Rectangle 7"/>
          <p:cNvSpPr/>
          <p:nvPr/>
        </p:nvSpPr>
        <p:spPr>
          <a:xfrm>
            <a:off x="640080" y="2286000"/>
            <a:ext cx="3520440" cy="3566160"/>
          </a:xfrm>
          <a:prstGeom prst="roundRect">
            <a:avLst>
              <a:gd name="adj" fmla="val 6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2286000"/>
            <a:ext cx="3520440" cy="4572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59" y="2286000"/>
            <a:ext cx="3154680" cy="457200"/>
          </a:xfrm>
          <a:prstGeom prst="rect">
            <a:avLst/>
          </a:prstGeom>
          <a:noFill/>
        </p:spPr>
        <p:txBody>
          <a:bodyPr wrap="square" lIns="0" tIns="0" rIns="0" bIns="0" anchor="ctr">
            <a:spAutoFit/>
          </a:bodyPr>
          <a:lstStyle/>
          <a:p>
            <a:pPr algn="l">
              <a:spcAft>
                <a:spcPts val="400"/>
              </a:spcAft>
            </a:pPr>
            <a:r>
              <a:rPr sz="1400" b="1" i="0">
                <a:solidFill>
                  <a:srgbClr val="FFFFFF"/>
                </a:solidFill>
                <a:latin typeface="Segoe UI"/>
              </a:rPr>
              <a:t>How it works</a:t>
            </a:r>
          </a:p>
        </p:txBody>
      </p:sp>
      <p:sp>
        <p:nvSpPr>
          <p:cNvPr id="11" name="TextBox 10"/>
          <p:cNvSpPr txBox="1"/>
          <p:nvPr/>
        </p:nvSpPr>
        <p:spPr>
          <a:xfrm>
            <a:off x="859536" y="2852928"/>
            <a:ext cx="3081528" cy="2926080"/>
          </a:xfrm>
          <a:prstGeom prst="rect">
            <a:avLst/>
          </a:prstGeom>
          <a:noFill/>
        </p:spPr>
        <p:txBody>
          <a:bodyPr wrap="square" lIns="0" tIns="0" rIns="0" bIns="0" anchor="t">
            <a:spAutoFit/>
          </a:bodyPr>
          <a:lstStyle/>
          <a:p>
            <a:pPr algn="l">
              <a:spcAft>
                <a:spcPts val="400"/>
              </a:spcAft>
            </a:pPr>
            <a:r>
              <a:rPr sz="1250" b="0" i="0">
                <a:solidFill>
                  <a:srgbClr val="1A202C"/>
                </a:solidFill>
                <a:latin typeface="Segoe UI"/>
              </a:rPr>
              <a:t>• Foundry portal / REST → Publish to</a:t>
            </a:r>
          </a:p>
          <a:p>
            <a:pPr algn="l">
              <a:spcAft>
                <a:spcPts val="400"/>
              </a:spcAft>
            </a:pPr>
            <a:r>
              <a:rPr sz="1250" b="0" i="0">
                <a:solidFill>
                  <a:srgbClr val="1A202C"/>
                </a:solidFill>
                <a:latin typeface="Segoe UI"/>
              </a:rPr>
              <a:t>   Teams &amp; M365 Copilot</a:t>
            </a:r>
          </a:p>
          <a:p>
            <a:pPr algn="l">
              <a:spcAft>
                <a:spcPts val="400"/>
              </a:spcAft>
            </a:pPr>
            <a:r>
              <a:rPr sz="1250" b="0" i="0">
                <a:solidFill>
                  <a:srgbClr val="1A202C"/>
                </a:solidFill>
                <a:latin typeface="Segoe UI"/>
              </a:rPr>
              <a:t>• Azure Bot Service bridges</a:t>
            </a:r>
          </a:p>
          <a:p>
            <a:pPr algn="l">
              <a:spcAft>
                <a:spcPts val="400"/>
              </a:spcAft>
            </a:pPr>
            <a:r>
              <a:rPr sz="1250" b="0" i="0">
                <a:solidFill>
                  <a:srgbClr val="1A202C"/>
                </a:solidFill>
                <a:latin typeface="Segoe UI"/>
              </a:rPr>
              <a:t>   Responses ↔ Activity automatically</a:t>
            </a:r>
          </a:p>
          <a:p>
            <a:pPr algn="l">
              <a:spcAft>
                <a:spcPts val="400"/>
              </a:spcAft>
            </a:pPr>
            <a:r>
              <a:rPr sz="1250" b="0" i="0">
                <a:solidFill>
                  <a:srgbClr val="1A202C"/>
                </a:solidFill>
                <a:latin typeface="Segoe UI"/>
              </a:rPr>
              <a:t>• In-container tool uses</a:t>
            </a:r>
          </a:p>
          <a:p>
            <a:pPr algn="l">
              <a:spcAft>
                <a:spcPts val="400"/>
              </a:spcAft>
            </a:pPr>
            <a:r>
              <a:rPr sz="1250" b="0" i="0">
                <a:solidFill>
                  <a:srgbClr val="1A202C"/>
                </a:solidFill>
                <a:latin typeface="Segoe UI"/>
              </a:rPr>
              <a:t>   DefaultAzureCredential = agent MI</a:t>
            </a:r>
          </a:p>
          <a:p>
            <a:pPr algn="l">
              <a:spcAft>
                <a:spcPts val="400"/>
              </a:spcAft>
            </a:pPr>
            <a:r>
              <a:rPr sz="600" b="0" i="0">
                <a:solidFill>
                  <a:srgbClr val="1A202C"/>
                </a:solidFill>
                <a:latin typeface="Segoe UI"/>
              </a:rPr>
              <a:t> </a:t>
            </a:r>
          </a:p>
          <a:p>
            <a:pPr algn="l">
              <a:spcAft>
                <a:spcPts val="400"/>
              </a:spcAft>
            </a:pPr>
            <a:r>
              <a:rPr sz="1250" b="1" i="0">
                <a:solidFill>
                  <a:srgbClr val="1F9E74"/>
                </a:solidFill>
                <a:latin typeface="Segoe UI"/>
              </a:rPr>
              <a:t>Availability: GA publish flow</a:t>
            </a:r>
          </a:p>
        </p:txBody>
      </p:sp>
      <p:sp>
        <p:nvSpPr>
          <p:cNvPr id="12" name="Rounded Rectangle 11"/>
          <p:cNvSpPr/>
          <p:nvPr/>
        </p:nvSpPr>
        <p:spPr>
          <a:xfrm>
            <a:off x="4343400" y="2286000"/>
            <a:ext cx="3520440" cy="3566160"/>
          </a:xfrm>
          <a:prstGeom prst="roundRect">
            <a:avLst>
              <a:gd name="adj" fmla="val 6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43400" y="2286000"/>
            <a:ext cx="3520440" cy="4572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26280" y="2286000"/>
            <a:ext cx="3154680" cy="457200"/>
          </a:xfrm>
          <a:prstGeom prst="rect">
            <a:avLst/>
          </a:prstGeom>
          <a:noFill/>
        </p:spPr>
        <p:txBody>
          <a:bodyPr wrap="square" lIns="0" tIns="0" rIns="0" bIns="0" anchor="ctr">
            <a:spAutoFit/>
          </a:bodyPr>
          <a:lstStyle/>
          <a:p>
            <a:pPr algn="l">
              <a:spcAft>
                <a:spcPts val="400"/>
              </a:spcAft>
            </a:pPr>
            <a:r>
              <a:rPr sz="1400" b="1" i="0">
                <a:solidFill>
                  <a:srgbClr val="FFFFFF"/>
                </a:solidFill>
                <a:latin typeface="Segoe UI"/>
              </a:rPr>
              <a:t>Strengths</a:t>
            </a:r>
          </a:p>
        </p:txBody>
      </p:sp>
      <p:sp>
        <p:nvSpPr>
          <p:cNvPr id="15" name="TextBox 14"/>
          <p:cNvSpPr txBox="1"/>
          <p:nvPr/>
        </p:nvSpPr>
        <p:spPr>
          <a:xfrm>
            <a:off x="4562856" y="2852928"/>
            <a:ext cx="3081528" cy="2926080"/>
          </a:xfrm>
          <a:prstGeom prst="rect">
            <a:avLst/>
          </a:prstGeom>
          <a:noFill/>
        </p:spPr>
        <p:txBody>
          <a:bodyPr wrap="square" lIns="0" tIns="0" rIns="0" bIns="0" anchor="t">
            <a:spAutoFit/>
          </a:bodyPr>
          <a:lstStyle/>
          <a:p>
            <a:pPr algn="l">
              <a:spcAft>
                <a:spcPts val="400"/>
              </a:spcAft>
            </a:pPr>
            <a:r>
              <a:rPr sz="1250" b="0" i="0">
                <a:solidFill>
                  <a:srgbClr val="1F9E74"/>
                </a:solidFill>
                <a:latin typeface="Segoe UI"/>
              </a:rPr>
              <a:t>✓ Lowest effort — portal / REST</a:t>
            </a:r>
          </a:p>
          <a:p>
            <a:pPr algn="l">
              <a:spcAft>
                <a:spcPts val="400"/>
              </a:spcAft>
            </a:pPr>
            <a:r>
              <a:rPr sz="1250" b="0" i="0">
                <a:solidFill>
                  <a:srgbClr val="1F9E74"/>
                </a:solidFill>
                <a:latin typeface="Segoe UI"/>
              </a:rPr>
              <a:t>✓ Foundry-native tracing + eval</a:t>
            </a:r>
          </a:p>
          <a:p>
            <a:pPr algn="l">
              <a:spcAft>
                <a:spcPts val="400"/>
              </a:spcAft>
            </a:pPr>
            <a:r>
              <a:rPr sz="1250" b="0" i="0">
                <a:solidFill>
                  <a:srgbClr val="1F9E74"/>
                </a:solidFill>
                <a:latin typeface="Segoe UI"/>
              </a:rPr>
              <a:t>✓ Dedicated Entra agent identity</a:t>
            </a:r>
          </a:p>
          <a:p>
            <a:pPr algn="l">
              <a:spcAft>
                <a:spcPts val="400"/>
              </a:spcAft>
            </a:pPr>
            <a:r>
              <a:rPr sz="1250" b="0" i="0">
                <a:solidFill>
                  <a:srgbClr val="1F9E74"/>
                </a:solidFill>
                <a:latin typeface="Segoe UI"/>
              </a:rPr>
              <a:t>✓ Stable endpoint + version selector</a:t>
            </a:r>
          </a:p>
          <a:p>
            <a:pPr algn="l">
              <a:spcAft>
                <a:spcPts val="400"/>
              </a:spcAft>
            </a:pPr>
            <a:r>
              <a:rPr sz="1250" b="0" i="0">
                <a:solidFill>
                  <a:srgbClr val="1F9E74"/>
                </a:solidFill>
                <a:latin typeface="Segoe UI"/>
              </a:rPr>
              <a:t>✓ Inline citations render natively</a:t>
            </a:r>
          </a:p>
          <a:p>
            <a:pPr algn="l">
              <a:spcAft>
                <a:spcPts val="400"/>
              </a:spcAft>
            </a:pPr>
            <a:r>
              <a:rPr sz="1250" b="0" i="0">
                <a:solidFill>
                  <a:srgbClr val="1F9E74"/>
                </a:solidFill>
                <a:latin typeface="Segoe UI"/>
              </a:rPr>
              <a:t>✓ Tenant scope → M365 admin approval</a:t>
            </a:r>
          </a:p>
        </p:txBody>
      </p:sp>
      <p:sp>
        <p:nvSpPr>
          <p:cNvPr id="16" name="Rounded Rectangle 15"/>
          <p:cNvSpPr/>
          <p:nvPr/>
        </p:nvSpPr>
        <p:spPr>
          <a:xfrm>
            <a:off x="8001000" y="2286000"/>
            <a:ext cx="3520440" cy="3566160"/>
          </a:xfrm>
          <a:prstGeom prst="roundRect">
            <a:avLst>
              <a:gd name="adj" fmla="val 6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01000" y="2286000"/>
            <a:ext cx="3520440" cy="4572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183879" y="2286000"/>
            <a:ext cx="3154680" cy="457200"/>
          </a:xfrm>
          <a:prstGeom prst="rect">
            <a:avLst/>
          </a:prstGeom>
          <a:noFill/>
        </p:spPr>
        <p:txBody>
          <a:bodyPr wrap="square" lIns="0" tIns="0" rIns="0" bIns="0" anchor="ctr">
            <a:spAutoFit/>
          </a:bodyPr>
          <a:lstStyle/>
          <a:p>
            <a:pPr algn="l">
              <a:spcAft>
                <a:spcPts val="400"/>
              </a:spcAft>
            </a:pPr>
            <a:r>
              <a:rPr sz="1400" b="1" i="0">
                <a:solidFill>
                  <a:srgbClr val="FFFFFF"/>
                </a:solidFill>
                <a:latin typeface="Segoe UI"/>
              </a:rPr>
              <a:t>Limits</a:t>
            </a:r>
          </a:p>
        </p:txBody>
      </p:sp>
      <p:sp>
        <p:nvSpPr>
          <p:cNvPr id="19" name="TextBox 18"/>
          <p:cNvSpPr txBox="1"/>
          <p:nvPr/>
        </p:nvSpPr>
        <p:spPr>
          <a:xfrm>
            <a:off x="8220456" y="2852928"/>
            <a:ext cx="3081528" cy="2926080"/>
          </a:xfrm>
          <a:prstGeom prst="rect">
            <a:avLst/>
          </a:prstGeom>
          <a:noFill/>
        </p:spPr>
        <p:txBody>
          <a:bodyPr wrap="square" lIns="0" tIns="0" rIns="0" bIns="0" anchor="t">
            <a:spAutoFit/>
          </a:bodyPr>
          <a:lstStyle/>
          <a:p>
            <a:pPr algn="l">
              <a:spcAft>
                <a:spcPts val="400"/>
              </a:spcAft>
            </a:pPr>
            <a:r>
              <a:rPr sz="1250" b="0" i="0">
                <a:solidFill>
                  <a:srgbClr val="C03B3B"/>
                </a:solidFill>
                <a:latin typeface="Segoe UI"/>
              </a:rPr>
              <a:t>✗ No per-user document trimming</a:t>
            </a:r>
          </a:p>
          <a:p>
            <a:pPr algn="l">
              <a:spcAft>
                <a:spcPts val="400"/>
              </a:spcAft>
            </a:pPr>
            <a:r>
              <a:rPr sz="1250" b="0" i="0">
                <a:solidFill>
                  <a:srgbClr val="C03B3B"/>
                </a:solidFill>
                <a:latin typeface="Segoe UI"/>
              </a:rPr>
              <a:t>✗ No OBO to downstream as user</a:t>
            </a:r>
          </a:p>
          <a:p>
            <a:pPr algn="l">
              <a:spcAft>
                <a:spcPts val="400"/>
              </a:spcAft>
            </a:pPr>
            <a:r>
              <a:rPr sz="1250" b="0" i="0">
                <a:solidFill>
                  <a:srgbClr val="C03B3B"/>
                </a:solidFill>
                <a:latin typeface="Segoe UI"/>
              </a:rPr>
              <a:t>✗ No Adaptive Cards / buttons</a:t>
            </a:r>
          </a:p>
          <a:p>
            <a:pPr algn="l">
              <a:spcAft>
                <a:spcPts val="400"/>
              </a:spcAft>
            </a:pPr>
            <a:r>
              <a:rPr sz="1250" b="0" i="0">
                <a:solidFill>
                  <a:srgbClr val="C03B3B"/>
                </a:solidFill>
                <a:latin typeface="Segoe UI"/>
              </a:rPr>
              <a:t>✗ No streaming, no card citations</a:t>
            </a:r>
          </a:p>
          <a:p>
            <a:pPr algn="l">
              <a:spcAft>
                <a:spcPts val="400"/>
              </a:spcAft>
            </a:pPr>
            <a:r>
              <a:rPr sz="600" b="0" i="0">
                <a:solidFill>
                  <a:srgbClr val="1A202C"/>
                </a:solidFill>
                <a:latin typeface="Segoe UI"/>
              </a:rPr>
              <a:t> </a:t>
            </a:r>
          </a:p>
          <a:p>
            <a:pPr algn="l">
              <a:spcAft>
                <a:spcPts val="400"/>
              </a:spcAft>
            </a:pPr>
            <a:r>
              <a:rPr sz="1250" b="1" i="0">
                <a:solidFill>
                  <a:srgbClr val="E8A33D"/>
                </a:solidFill>
                <a:latin typeface="Segoe UI"/>
              </a:rPr>
              <a:t>Best for: internal Q&amp;A / research</a:t>
            </a:r>
          </a:p>
          <a:p>
            <a:pPr algn="l">
              <a:spcAft>
                <a:spcPts val="400"/>
              </a:spcAft>
            </a:pPr>
            <a:r>
              <a:rPr sz="1250" b="0" i="0">
                <a:solidFill>
                  <a:srgbClr val="E8A33D"/>
                </a:solidFill>
                <a:latin typeface="Segoe UI"/>
              </a:rPr>
              <a:t>where all users share entitlements.</a:t>
            </a:r>
          </a:p>
        </p:txBody>
      </p:sp>
      <p:sp>
        <p:nvSpPr>
          <p:cNvPr id="20" name="TextBox 19"/>
          <p:cNvSpPr txBox="1"/>
          <p:nvPr/>
        </p:nvSpPr>
        <p:spPr>
          <a:xfrm>
            <a:off x="502920" y="6419088"/>
            <a:ext cx="7315200" cy="274320"/>
          </a:xfrm>
          <a:prstGeom prst="rect">
            <a:avLst/>
          </a:prstGeom>
          <a:noFill/>
        </p:spPr>
        <p:txBody>
          <a:bodyPr wrap="square" lIns="0" tIns="0" rIns="0" bIns="0" anchor="t">
            <a:spAutoFit/>
          </a:bodyPr>
          <a:lstStyle/>
          <a:p>
            <a:pPr algn="l">
              <a:spcAft>
                <a:spcPts val="400"/>
              </a:spcAft>
            </a:pPr>
            <a:r>
              <a:rPr sz="900" b="0" i="0">
                <a:solidFill>
                  <a:srgbClr val="6B7280"/>
                </a:solidFill>
                <a:latin typeface="Segoe UI"/>
              </a:rPr>
              <a:t>One deployed agent · two front doors · Foundry hosted agent on Teams</a:t>
            </a:r>
          </a:p>
        </p:txBody>
      </p:sp>
      <p:sp>
        <p:nvSpPr>
          <p:cNvPr id="21" name="TextBox 20"/>
          <p:cNvSpPr txBox="1"/>
          <p:nvPr/>
        </p:nvSpPr>
        <p:spPr>
          <a:xfrm>
            <a:off x="10881360" y="6419088"/>
            <a:ext cx="822960" cy="274320"/>
          </a:xfrm>
          <a:prstGeom prst="rect">
            <a:avLst/>
          </a:prstGeom>
          <a:noFill/>
        </p:spPr>
        <p:txBody>
          <a:bodyPr wrap="square" lIns="0" tIns="0" rIns="0" bIns="0" anchor="t">
            <a:spAutoFit/>
          </a:bodyPr>
          <a:lstStyle/>
          <a:p>
            <a:pPr algn="r">
              <a:spcAft>
                <a:spcPts val="400"/>
              </a:spcAft>
            </a:pPr>
            <a:r>
              <a:rPr sz="900" b="0" i="0">
                <a:solidFill>
                  <a:srgbClr val="6B7280"/>
                </a:solidFill>
                <a:latin typeface="Segoe UI"/>
              </a:rPr>
              <a:t>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5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170432"/>
            <a:ext cx="12191695" cy="5486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274320"/>
            <a:ext cx="128016" cy="60350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19456"/>
            <a:ext cx="10789920" cy="310896"/>
          </a:xfrm>
          <a:prstGeom prst="rect">
            <a:avLst/>
          </a:prstGeom>
          <a:noFill/>
        </p:spPr>
        <p:txBody>
          <a:bodyPr wrap="square" lIns="0" tIns="0" rIns="0" bIns="0" anchor="t">
            <a:spAutoFit/>
          </a:bodyPr>
          <a:lstStyle/>
          <a:p>
            <a:pPr algn="l">
              <a:spcAft>
                <a:spcPts val="400"/>
              </a:spcAft>
            </a:pPr>
            <a:r>
              <a:rPr sz="1250" b="0" i="0">
                <a:solidFill>
                  <a:srgbClr val="2E75B6"/>
                </a:solidFill>
                <a:latin typeface="Segoe UI"/>
              </a:rPr>
              <a:t>OPTION A · END-TO-END</a:t>
            </a:r>
          </a:p>
        </p:txBody>
      </p:sp>
      <p:sp>
        <p:nvSpPr>
          <p:cNvPr id="6" name="TextBox 5"/>
          <p:cNvSpPr txBox="1"/>
          <p:nvPr/>
        </p:nvSpPr>
        <p:spPr>
          <a:xfrm>
            <a:off x="777240" y="502920"/>
            <a:ext cx="10789920" cy="566928"/>
          </a:xfrm>
          <a:prstGeom prst="rect">
            <a:avLst/>
          </a:prstGeom>
          <a:noFill/>
        </p:spPr>
        <p:txBody>
          <a:bodyPr wrap="square" lIns="0" tIns="0" rIns="0" bIns="0" anchor="t">
            <a:spAutoFit/>
          </a:bodyPr>
          <a:lstStyle/>
          <a:p>
            <a:pPr algn="l">
              <a:spcAft>
                <a:spcPts val="400"/>
              </a:spcAft>
            </a:pPr>
            <a:r>
              <a:rPr sz="2600" b="1" i="0">
                <a:solidFill>
                  <a:srgbClr val="FFFFFF"/>
                </a:solidFill>
                <a:latin typeface="Segoe UI"/>
              </a:rPr>
              <a:t>Teams client — app-only</a:t>
            </a:r>
          </a:p>
        </p:txBody>
      </p:sp>
      <p:sp>
        <p:nvSpPr>
          <p:cNvPr id="7" name="Rounded Rectangle 6"/>
          <p:cNvSpPr/>
          <p:nvPr/>
        </p:nvSpPr>
        <p:spPr>
          <a:xfrm>
            <a:off x="640080" y="1554480"/>
            <a:ext cx="457200" cy="640080"/>
          </a:xfrm>
          <a:prstGeom prst="roundRect">
            <a:avLst>
              <a:gd name="adj" fmla="val 35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554480"/>
            <a:ext cx="457200" cy="640080"/>
          </a:xfrm>
          <a:prstGeom prst="rect">
            <a:avLst/>
          </a:prstGeom>
          <a:noFill/>
        </p:spPr>
        <p:txBody>
          <a:bodyPr wrap="square" lIns="0" tIns="0" rIns="0" bIns="0" anchor="ctr">
            <a:spAutoFit/>
          </a:bodyPr>
          <a:lstStyle/>
          <a:p>
            <a:pPr algn="ctr">
              <a:spcAft>
                <a:spcPts val="400"/>
              </a:spcAft>
            </a:pPr>
            <a:r>
              <a:rPr sz="1500" b="1" i="0">
                <a:solidFill>
                  <a:srgbClr val="FFFFFF"/>
                </a:solidFill>
                <a:latin typeface="Segoe UI"/>
              </a:rPr>
              <a:t>1</a:t>
            </a:r>
          </a:p>
        </p:txBody>
      </p:sp>
      <p:sp>
        <p:nvSpPr>
          <p:cNvPr id="9" name="Rounded Rectangle 8"/>
          <p:cNvSpPr/>
          <p:nvPr/>
        </p:nvSpPr>
        <p:spPr>
          <a:xfrm>
            <a:off x="1188719" y="1554480"/>
            <a:ext cx="6217920" cy="640080"/>
          </a:xfrm>
          <a:prstGeom prst="roundRect">
            <a:avLst>
              <a:gd name="adj" fmla="val 12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88719" y="1554480"/>
            <a:ext cx="73152" cy="64008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89888" y="1581912"/>
            <a:ext cx="5897880" cy="585215"/>
          </a:xfrm>
          <a:prstGeom prst="rect">
            <a:avLst/>
          </a:prstGeom>
          <a:noFill/>
        </p:spPr>
        <p:txBody>
          <a:bodyPr wrap="square" lIns="0" tIns="0" rIns="0" bIns="0" anchor="ctr">
            <a:spAutoFit/>
          </a:bodyPr>
          <a:lstStyle/>
          <a:p>
            <a:pPr algn="l">
              <a:spcAft>
                <a:spcPts val="400"/>
              </a:spcAft>
            </a:pPr>
            <a:r>
              <a:rPr sz="1250" b="1" i="0" dirty="0">
                <a:solidFill>
                  <a:srgbClr val="2E75B6"/>
                </a:solidFill>
                <a:latin typeface="Segoe UI"/>
              </a:rPr>
              <a:t>Teams user  </a:t>
            </a:r>
          </a:p>
          <a:p>
            <a:pPr algn="l">
              <a:spcAft>
                <a:spcPts val="400"/>
              </a:spcAft>
            </a:pPr>
            <a:r>
              <a:rPr sz="1100" b="0" i="0" dirty="0">
                <a:solidFill>
                  <a:srgbClr val="1A202C"/>
                </a:solidFill>
                <a:latin typeface="Segoe UI"/>
              </a:rPr>
              <a:t>“What is our semiconductor view?” → Activity message</a:t>
            </a:r>
          </a:p>
        </p:txBody>
      </p:sp>
      <p:sp>
        <p:nvSpPr>
          <p:cNvPr id="12" name="Rounded Rectangle 11"/>
          <p:cNvSpPr/>
          <p:nvPr/>
        </p:nvSpPr>
        <p:spPr>
          <a:xfrm>
            <a:off x="640080" y="2322576"/>
            <a:ext cx="457200" cy="640080"/>
          </a:xfrm>
          <a:prstGeom prst="roundRect">
            <a:avLst>
              <a:gd name="adj" fmla="val 35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2322576"/>
            <a:ext cx="457200" cy="640080"/>
          </a:xfrm>
          <a:prstGeom prst="rect">
            <a:avLst/>
          </a:prstGeom>
          <a:noFill/>
        </p:spPr>
        <p:txBody>
          <a:bodyPr wrap="square" lIns="0" tIns="0" rIns="0" bIns="0" anchor="ctr">
            <a:spAutoFit/>
          </a:bodyPr>
          <a:lstStyle/>
          <a:p>
            <a:pPr algn="ctr">
              <a:spcAft>
                <a:spcPts val="400"/>
              </a:spcAft>
            </a:pPr>
            <a:r>
              <a:rPr sz="1500" b="1" i="0">
                <a:solidFill>
                  <a:srgbClr val="FFFFFF"/>
                </a:solidFill>
                <a:latin typeface="Segoe UI"/>
              </a:rPr>
              <a:t>2</a:t>
            </a:r>
          </a:p>
        </p:txBody>
      </p:sp>
      <p:sp>
        <p:nvSpPr>
          <p:cNvPr id="14" name="Rounded Rectangle 13"/>
          <p:cNvSpPr/>
          <p:nvPr/>
        </p:nvSpPr>
        <p:spPr>
          <a:xfrm>
            <a:off x="1188719" y="2322576"/>
            <a:ext cx="6217920" cy="640080"/>
          </a:xfrm>
          <a:prstGeom prst="roundRect">
            <a:avLst>
              <a:gd name="adj" fmla="val 12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88719" y="2322576"/>
            <a:ext cx="73152" cy="64008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89888" y="2350008"/>
            <a:ext cx="5897880" cy="585215"/>
          </a:xfrm>
          <a:prstGeom prst="rect">
            <a:avLst/>
          </a:prstGeom>
          <a:noFill/>
        </p:spPr>
        <p:txBody>
          <a:bodyPr wrap="square" lIns="0" tIns="0" rIns="0" bIns="0" anchor="ctr">
            <a:spAutoFit/>
          </a:bodyPr>
          <a:lstStyle/>
          <a:p>
            <a:pPr algn="l">
              <a:spcAft>
                <a:spcPts val="400"/>
              </a:spcAft>
            </a:pPr>
            <a:r>
              <a:rPr sz="1250" b="1" i="0" dirty="0">
                <a:solidFill>
                  <a:srgbClr val="2E75B6"/>
                </a:solidFill>
                <a:latin typeface="Segoe UI"/>
              </a:rPr>
              <a:t>Azure Bot Service  </a:t>
            </a:r>
          </a:p>
          <a:p>
            <a:pPr algn="l">
              <a:spcAft>
                <a:spcPts val="400"/>
              </a:spcAft>
            </a:pPr>
            <a:r>
              <a:rPr sz="1100" b="0" i="0" dirty="0">
                <a:solidFill>
                  <a:srgbClr val="1A202C"/>
                </a:solidFill>
                <a:latin typeface="Segoe UI"/>
              </a:rPr>
              <a:t>Bridges Responses ↔ Activity (automatic, text only)</a:t>
            </a:r>
          </a:p>
        </p:txBody>
      </p:sp>
      <p:sp>
        <p:nvSpPr>
          <p:cNvPr id="17" name="Rounded Rectangle 16"/>
          <p:cNvSpPr/>
          <p:nvPr/>
        </p:nvSpPr>
        <p:spPr>
          <a:xfrm>
            <a:off x="640080" y="3090672"/>
            <a:ext cx="457200" cy="640080"/>
          </a:xfrm>
          <a:prstGeom prst="roundRect">
            <a:avLst>
              <a:gd name="adj" fmla="val 35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3090672"/>
            <a:ext cx="457200" cy="640080"/>
          </a:xfrm>
          <a:prstGeom prst="rect">
            <a:avLst/>
          </a:prstGeom>
          <a:noFill/>
        </p:spPr>
        <p:txBody>
          <a:bodyPr wrap="square" lIns="0" tIns="0" rIns="0" bIns="0" anchor="ctr">
            <a:spAutoFit/>
          </a:bodyPr>
          <a:lstStyle/>
          <a:p>
            <a:pPr algn="ctr">
              <a:spcAft>
                <a:spcPts val="400"/>
              </a:spcAft>
            </a:pPr>
            <a:r>
              <a:rPr sz="1500" b="1" i="0">
                <a:solidFill>
                  <a:srgbClr val="FFFFFF"/>
                </a:solidFill>
                <a:latin typeface="Segoe UI"/>
              </a:rPr>
              <a:t>3</a:t>
            </a:r>
          </a:p>
        </p:txBody>
      </p:sp>
      <p:sp>
        <p:nvSpPr>
          <p:cNvPr id="19" name="Rounded Rectangle 18"/>
          <p:cNvSpPr/>
          <p:nvPr/>
        </p:nvSpPr>
        <p:spPr>
          <a:xfrm>
            <a:off x="1188719" y="3090672"/>
            <a:ext cx="6217920" cy="640080"/>
          </a:xfrm>
          <a:prstGeom prst="roundRect">
            <a:avLst>
              <a:gd name="adj" fmla="val 12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188719" y="3090672"/>
            <a:ext cx="73152" cy="64008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389888" y="3118103"/>
            <a:ext cx="5897880" cy="585215"/>
          </a:xfrm>
          <a:prstGeom prst="rect">
            <a:avLst/>
          </a:prstGeom>
          <a:noFill/>
        </p:spPr>
        <p:txBody>
          <a:bodyPr wrap="square" lIns="0" tIns="0" rIns="0" bIns="0" anchor="ctr">
            <a:spAutoFit/>
          </a:bodyPr>
          <a:lstStyle/>
          <a:p>
            <a:pPr algn="l">
              <a:spcAft>
                <a:spcPts val="400"/>
              </a:spcAft>
            </a:pPr>
            <a:r>
              <a:rPr sz="1250" b="1" i="0" dirty="0">
                <a:solidFill>
                  <a:srgbClr val="2E75B6"/>
                </a:solidFill>
                <a:latin typeface="Segoe UI"/>
              </a:rPr>
              <a:t>Foundry hosted agent  </a:t>
            </a:r>
          </a:p>
          <a:p>
            <a:pPr algn="l">
              <a:spcAft>
                <a:spcPts val="400"/>
              </a:spcAft>
            </a:pPr>
            <a:r>
              <a:rPr sz="1100" b="0" i="0" dirty="0" err="1">
                <a:solidFill>
                  <a:srgbClr val="1A202C"/>
                </a:solidFill>
                <a:latin typeface="Segoe UI"/>
              </a:rPr>
              <a:t>capmarkets</a:t>
            </a:r>
            <a:r>
              <a:rPr sz="1100" b="0" i="0" dirty="0">
                <a:solidFill>
                  <a:srgbClr val="1A202C"/>
                </a:solidFill>
                <a:latin typeface="Segoe UI"/>
              </a:rPr>
              <a:t>-research-agent runs the Search tool</a:t>
            </a:r>
          </a:p>
        </p:txBody>
      </p:sp>
      <p:sp>
        <p:nvSpPr>
          <p:cNvPr id="22" name="Rounded Rectangle 21"/>
          <p:cNvSpPr/>
          <p:nvPr/>
        </p:nvSpPr>
        <p:spPr>
          <a:xfrm>
            <a:off x="640080" y="3858768"/>
            <a:ext cx="457200" cy="640080"/>
          </a:xfrm>
          <a:prstGeom prst="roundRect">
            <a:avLst>
              <a:gd name="adj" fmla="val 35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 y="3858768"/>
            <a:ext cx="457200" cy="640080"/>
          </a:xfrm>
          <a:prstGeom prst="rect">
            <a:avLst/>
          </a:prstGeom>
          <a:noFill/>
        </p:spPr>
        <p:txBody>
          <a:bodyPr wrap="square" lIns="0" tIns="0" rIns="0" bIns="0" anchor="ctr">
            <a:spAutoFit/>
          </a:bodyPr>
          <a:lstStyle/>
          <a:p>
            <a:pPr algn="ctr">
              <a:spcAft>
                <a:spcPts val="400"/>
              </a:spcAft>
            </a:pPr>
            <a:r>
              <a:rPr sz="1500" b="1" i="0">
                <a:solidFill>
                  <a:srgbClr val="FFFFFF"/>
                </a:solidFill>
                <a:latin typeface="Segoe UI"/>
              </a:rPr>
              <a:t>4</a:t>
            </a:r>
          </a:p>
        </p:txBody>
      </p:sp>
      <p:sp>
        <p:nvSpPr>
          <p:cNvPr id="24" name="Rounded Rectangle 23"/>
          <p:cNvSpPr/>
          <p:nvPr/>
        </p:nvSpPr>
        <p:spPr>
          <a:xfrm>
            <a:off x="1188719" y="3858768"/>
            <a:ext cx="6217920" cy="640080"/>
          </a:xfrm>
          <a:prstGeom prst="roundRect">
            <a:avLst>
              <a:gd name="adj" fmla="val 12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188719" y="3858768"/>
            <a:ext cx="73152" cy="64008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389888" y="3886200"/>
            <a:ext cx="5897880" cy="585215"/>
          </a:xfrm>
          <a:prstGeom prst="rect">
            <a:avLst/>
          </a:prstGeom>
          <a:noFill/>
        </p:spPr>
        <p:txBody>
          <a:bodyPr wrap="square" lIns="0" tIns="0" rIns="0" bIns="0" anchor="ctr">
            <a:spAutoFit/>
          </a:bodyPr>
          <a:lstStyle/>
          <a:p>
            <a:pPr algn="l">
              <a:spcAft>
                <a:spcPts val="400"/>
              </a:spcAft>
            </a:pPr>
            <a:r>
              <a:rPr sz="1250" b="1" i="0">
                <a:solidFill>
                  <a:srgbClr val="2E75B6"/>
                </a:solidFill>
                <a:latin typeface="Segoe UI"/>
              </a:rPr>
              <a:t>Azure AI Search  </a:t>
            </a:r>
          </a:p>
          <a:p>
            <a:pPr algn="l">
              <a:spcAft>
                <a:spcPts val="400"/>
              </a:spcAft>
            </a:pPr>
            <a:r>
              <a:rPr sz="1100" b="0" i="0">
                <a:solidFill>
                  <a:srgbClr val="1A202C"/>
                </a:solidFill>
                <a:latin typeface="Segoe UI"/>
              </a:rPr>
              <a:t>App-only query with the container's managed identity</a:t>
            </a:r>
          </a:p>
        </p:txBody>
      </p:sp>
      <p:sp>
        <p:nvSpPr>
          <p:cNvPr id="27" name="Rounded Rectangle 26"/>
          <p:cNvSpPr/>
          <p:nvPr/>
        </p:nvSpPr>
        <p:spPr>
          <a:xfrm>
            <a:off x="640080" y="4626864"/>
            <a:ext cx="457200" cy="640080"/>
          </a:xfrm>
          <a:prstGeom prst="roundRect">
            <a:avLst>
              <a:gd name="adj" fmla="val 35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 y="4626864"/>
            <a:ext cx="457200" cy="640080"/>
          </a:xfrm>
          <a:prstGeom prst="rect">
            <a:avLst/>
          </a:prstGeom>
          <a:noFill/>
        </p:spPr>
        <p:txBody>
          <a:bodyPr wrap="square" lIns="0" tIns="0" rIns="0" bIns="0" anchor="ctr">
            <a:spAutoFit/>
          </a:bodyPr>
          <a:lstStyle/>
          <a:p>
            <a:pPr algn="ctr">
              <a:spcAft>
                <a:spcPts val="400"/>
              </a:spcAft>
            </a:pPr>
            <a:r>
              <a:rPr sz="1500" b="1" i="0">
                <a:solidFill>
                  <a:srgbClr val="FFFFFF"/>
                </a:solidFill>
                <a:latin typeface="Segoe UI"/>
              </a:rPr>
              <a:t>5</a:t>
            </a:r>
          </a:p>
        </p:txBody>
      </p:sp>
      <p:sp>
        <p:nvSpPr>
          <p:cNvPr id="29" name="Rounded Rectangle 28"/>
          <p:cNvSpPr/>
          <p:nvPr/>
        </p:nvSpPr>
        <p:spPr>
          <a:xfrm>
            <a:off x="1188719" y="4626864"/>
            <a:ext cx="6217920" cy="640080"/>
          </a:xfrm>
          <a:prstGeom prst="roundRect">
            <a:avLst>
              <a:gd name="adj" fmla="val 12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188719" y="4626864"/>
            <a:ext cx="73152" cy="64008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389888" y="4654296"/>
            <a:ext cx="5897880" cy="585215"/>
          </a:xfrm>
          <a:prstGeom prst="rect">
            <a:avLst/>
          </a:prstGeom>
          <a:noFill/>
        </p:spPr>
        <p:txBody>
          <a:bodyPr wrap="square" lIns="0" tIns="0" rIns="0" bIns="0" anchor="ctr">
            <a:spAutoFit/>
          </a:bodyPr>
          <a:lstStyle/>
          <a:p>
            <a:pPr algn="l">
              <a:spcAft>
                <a:spcPts val="400"/>
              </a:spcAft>
            </a:pPr>
            <a:r>
              <a:rPr sz="1250" b="1" i="0">
                <a:solidFill>
                  <a:srgbClr val="2E75B6"/>
                </a:solidFill>
                <a:latin typeface="Segoe UI"/>
              </a:rPr>
              <a:t>Hosted agent  </a:t>
            </a:r>
          </a:p>
          <a:p>
            <a:pPr algn="l">
              <a:spcAft>
                <a:spcPts val="400"/>
              </a:spcAft>
            </a:pPr>
            <a:r>
              <a:rPr sz="1100" b="0" i="0">
                <a:solidFill>
                  <a:srgbClr val="1A202C"/>
                </a:solidFill>
                <a:latin typeface="Segoe UI"/>
              </a:rPr>
              <a:t>Grounds answer on shared results → text reply</a:t>
            </a:r>
          </a:p>
        </p:txBody>
      </p:sp>
      <p:sp>
        <p:nvSpPr>
          <p:cNvPr id="32" name="Rounded Rectangle 31"/>
          <p:cNvSpPr/>
          <p:nvPr/>
        </p:nvSpPr>
        <p:spPr>
          <a:xfrm>
            <a:off x="640080" y="5394959"/>
            <a:ext cx="457200" cy="640080"/>
          </a:xfrm>
          <a:prstGeom prst="roundRect">
            <a:avLst>
              <a:gd name="adj" fmla="val 35000"/>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0080" y="5394959"/>
            <a:ext cx="457200" cy="640080"/>
          </a:xfrm>
          <a:prstGeom prst="rect">
            <a:avLst/>
          </a:prstGeom>
          <a:noFill/>
        </p:spPr>
        <p:txBody>
          <a:bodyPr wrap="square" lIns="0" tIns="0" rIns="0" bIns="0" anchor="ctr">
            <a:spAutoFit/>
          </a:bodyPr>
          <a:lstStyle/>
          <a:p>
            <a:pPr algn="ctr">
              <a:spcAft>
                <a:spcPts val="400"/>
              </a:spcAft>
            </a:pPr>
            <a:r>
              <a:rPr sz="1500" b="1" i="0">
                <a:solidFill>
                  <a:srgbClr val="FFFFFF"/>
                </a:solidFill>
                <a:latin typeface="Segoe UI"/>
              </a:rPr>
              <a:t>6</a:t>
            </a:r>
          </a:p>
        </p:txBody>
      </p:sp>
      <p:sp>
        <p:nvSpPr>
          <p:cNvPr id="34" name="Rounded Rectangle 33"/>
          <p:cNvSpPr/>
          <p:nvPr/>
        </p:nvSpPr>
        <p:spPr>
          <a:xfrm>
            <a:off x="1188719" y="5394959"/>
            <a:ext cx="6217920" cy="640080"/>
          </a:xfrm>
          <a:prstGeom prst="roundRect">
            <a:avLst>
              <a:gd name="adj" fmla="val 12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1188719" y="5394959"/>
            <a:ext cx="73152" cy="64008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389888" y="5422392"/>
            <a:ext cx="5897880" cy="585215"/>
          </a:xfrm>
          <a:prstGeom prst="rect">
            <a:avLst/>
          </a:prstGeom>
          <a:noFill/>
        </p:spPr>
        <p:txBody>
          <a:bodyPr wrap="square" lIns="0" tIns="0" rIns="0" bIns="0" anchor="ctr">
            <a:spAutoFit/>
          </a:bodyPr>
          <a:lstStyle/>
          <a:p>
            <a:pPr algn="l">
              <a:spcAft>
                <a:spcPts val="400"/>
              </a:spcAft>
            </a:pPr>
            <a:r>
              <a:rPr sz="1250" b="1" i="0">
                <a:solidFill>
                  <a:srgbClr val="E8A33D"/>
                </a:solidFill>
                <a:latin typeface="Segoe UI"/>
              </a:rPr>
              <a:t>Teams user  </a:t>
            </a:r>
          </a:p>
          <a:p>
            <a:pPr algn="l">
              <a:spcAft>
                <a:spcPts val="400"/>
              </a:spcAft>
            </a:pPr>
            <a:r>
              <a:rPr sz="1100" b="0" i="0">
                <a:solidFill>
                  <a:srgbClr val="1A202C"/>
                </a:solidFill>
                <a:latin typeface="Segoe UI"/>
              </a:rPr>
              <a:t>Same answer for everyone — no per-user trimming</a:t>
            </a:r>
          </a:p>
        </p:txBody>
      </p:sp>
      <p:sp>
        <p:nvSpPr>
          <p:cNvPr id="37" name="Rounded Rectangle 36"/>
          <p:cNvSpPr/>
          <p:nvPr/>
        </p:nvSpPr>
        <p:spPr>
          <a:xfrm>
            <a:off x="7772400" y="1554480"/>
            <a:ext cx="3749039" cy="4160520"/>
          </a:xfrm>
          <a:prstGeom prst="roundRect">
            <a:avLst>
              <a:gd name="adj" fmla="val 6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7772400" y="1554480"/>
            <a:ext cx="3749039" cy="4572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955279" y="1554480"/>
            <a:ext cx="3383279" cy="457200"/>
          </a:xfrm>
          <a:prstGeom prst="rect">
            <a:avLst/>
          </a:prstGeom>
          <a:noFill/>
        </p:spPr>
        <p:txBody>
          <a:bodyPr wrap="square" lIns="0" tIns="0" rIns="0" bIns="0" anchor="ctr">
            <a:spAutoFit/>
          </a:bodyPr>
          <a:lstStyle/>
          <a:p>
            <a:pPr algn="l">
              <a:spcAft>
                <a:spcPts val="400"/>
              </a:spcAft>
            </a:pPr>
            <a:r>
              <a:rPr sz="1400" b="1" i="0">
                <a:solidFill>
                  <a:srgbClr val="FFFFFF"/>
                </a:solidFill>
                <a:latin typeface="Segoe UI"/>
              </a:rPr>
              <a:t>Identity basis</a:t>
            </a:r>
          </a:p>
        </p:txBody>
      </p:sp>
      <p:sp>
        <p:nvSpPr>
          <p:cNvPr id="40" name="TextBox 39"/>
          <p:cNvSpPr txBox="1"/>
          <p:nvPr/>
        </p:nvSpPr>
        <p:spPr>
          <a:xfrm>
            <a:off x="7991856" y="2121408"/>
            <a:ext cx="3310127" cy="3520439"/>
          </a:xfrm>
          <a:prstGeom prst="rect">
            <a:avLst/>
          </a:prstGeom>
          <a:noFill/>
        </p:spPr>
        <p:txBody>
          <a:bodyPr wrap="square" lIns="0" tIns="0" rIns="0" bIns="0" anchor="t">
            <a:spAutoFit/>
          </a:bodyPr>
          <a:lstStyle/>
          <a:p>
            <a:pPr algn="l">
              <a:spcAft>
                <a:spcPts val="400"/>
              </a:spcAft>
            </a:pPr>
            <a:r>
              <a:rPr sz="1300" b="1" i="0">
                <a:solidFill>
                  <a:srgbClr val="2E75B6"/>
                </a:solidFill>
                <a:latin typeface="Segoe UI"/>
              </a:rPr>
              <a:t>Application / admin</a:t>
            </a:r>
          </a:p>
          <a:p>
            <a:pPr algn="l">
              <a:spcAft>
                <a:spcPts val="400"/>
              </a:spcAft>
            </a:pPr>
            <a:r>
              <a:rPr sz="1150" b="0" i="0">
                <a:solidFill>
                  <a:srgbClr val="1A202C"/>
                </a:solidFill>
                <a:latin typeface="Segoe UI"/>
              </a:rPr>
              <a:t>Every user gets the same documents.</a:t>
            </a:r>
          </a:p>
          <a:p>
            <a:pPr algn="l">
              <a:spcAft>
                <a:spcPts val="400"/>
              </a:spcAft>
            </a:pPr>
            <a:r>
              <a:rPr sz="600" b="0" i="0">
                <a:solidFill>
                  <a:srgbClr val="1A202C"/>
                </a:solidFill>
                <a:latin typeface="Segoe UI"/>
              </a:rPr>
              <a:t> </a:t>
            </a:r>
          </a:p>
          <a:p>
            <a:pPr algn="l">
              <a:spcAft>
                <a:spcPts val="400"/>
              </a:spcAft>
            </a:pPr>
            <a:r>
              <a:rPr sz="1250" b="1" i="0">
                <a:solidFill>
                  <a:srgbClr val="E8A33D"/>
                </a:solidFill>
                <a:latin typeface="Segoe UI"/>
              </a:rPr>
              <a:t>Watch-outs for the demo</a:t>
            </a:r>
          </a:p>
          <a:p>
            <a:pPr algn="l">
              <a:spcAft>
                <a:spcPts val="400"/>
              </a:spcAft>
            </a:pPr>
            <a:r>
              <a:rPr sz="1100" b="0" i="0">
                <a:solidFill>
                  <a:srgbClr val="1A202C"/>
                </a:solidFill>
                <a:latin typeface="Segoe UI"/>
              </a:rPr>
              <a:t>• The “Foundry login” prompt is NOT</a:t>
            </a:r>
          </a:p>
          <a:p>
            <a:pPr algn="l">
              <a:spcAft>
                <a:spcPts val="400"/>
              </a:spcAft>
            </a:pPr>
            <a:r>
              <a:rPr sz="1100" b="0" i="0">
                <a:solidFill>
                  <a:srgbClr val="1A202C"/>
                </a:solidFill>
                <a:latin typeface="Segoe UI"/>
              </a:rPr>
              <a:t>   an OBO — it just runs the agent.</a:t>
            </a:r>
          </a:p>
          <a:p>
            <a:pPr algn="l">
              <a:spcAft>
                <a:spcPts val="400"/>
              </a:spcAft>
            </a:pPr>
            <a:r>
              <a:rPr sz="1100" b="0" i="0">
                <a:solidFill>
                  <a:srgbClr val="1A202C"/>
                </a:solidFill>
                <a:latin typeface="Segoe UI"/>
              </a:rPr>
              <a:t>• Index has native ACL enabled, so a</a:t>
            </a:r>
          </a:p>
          <a:p>
            <a:pPr algn="l">
              <a:spcAft>
                <a:spcPts val="400"/>
              </a:spcAft>
            </a:pPr>
            <a:r>
              <a:rPr sz="1100" b="0" i="0">
                <a:solidFill>
                  <a:srgbClr val="1A202C"/>
                </a:solidFill>
                <a:latin typeface="Segoe UI"/>
              </a:rPr>
              <a:t>   token-less query matches 0 docs —</a:t>
            </a:r>
          </a:p>
          <a:p>
            <a:pPr algn="l">
              <a:spcAft>
                <a:spcPts val="400"/>
              </a:spcAft>
            </a:pPr>
            <a:r>
              <a:rPr sz="1100" b="0" i="0">
                <a:solidFill>
                  <a:srgbClr val="1A202C"/>
                </a:solidFill>
                <a:latin typeface="Segoe UI"/>
              </a:rPr>
              <a:t>   even the public one.</a:t>
            </a:r>
          </a:p>
          <a:p>
            <a:pPr algn="l">
              <a:spcAft>
                <a:spcPts val="400"/>
              </a:spcAft>
            </a:pPr>
            <a:r>
              <a:rPr sz="1100" b="0" i="1">
                <a:solidFill>
                  <a:srgbClr val="C03B3B"/>
                </a:solidFill>
                <a:latin typeface="Segoe UI"/>
              </a:rPr>
              <a:t>• Expect: “no entitled research.”</a:t>
            </a:r>
          </a:p>
          <a:p>
            <a:pPr algn="l">
              <a:spcAft>
                <a:spcPts val="400"/>
              </a:spcAft>
            </a:pPr>
            <a:r>
              <a:rPr sz="1100" b="0" i="1">
                <a:solidFill>
                  <a:srgbClr val="1A202C"/>
                </a:solidFill>
                <a:latin typeface="Segoe UI"/>
              </a:rPr>
              <a:t>   That gap is the teaching point.</a:t>
            </a:r>
          </a:p>
        </p:txBody>
      </p:sp>
      <p:sp>
        <p:nvSpPr>
          <p:cNvPr id="41" name="TextBox 40"/>
          <p:cNvSpPr txBox="1"/>
          <p:nvPr/>
        </p:nvSpPr>
        <p:spPr>
          <a:xfrm>
            <a:off x="502920" y="6419088"/>
            <a:ext cx="7315200" cy="274320"/>
          </a:xfrm>
          <a:prstGeom prst="rect">
            <a:avLst/>
          </a:prstGeom>
          <a:noFill/>
        </p:spPr>
        <p:txBody>
          <a:bodyPr wrap="square" lIns="0" tIns="0" rIns="0" bIns="0" anchor="t">
            <a:spAutoFit/>
          </a:bodyPr>
          <a:lstStyle/>
          <a:p>
            <a:pPr algn="l">
              <a:spcAft>
                <a:spcPts val="400"/>
              </a:spcAft>
            </a:pPr>
            <a:r>
              <a:rPr sz="900" b="0" i="0" dirty="0">
                <a:solidFill>
                  <a:srgbClr val="6B7280"/>
                </a:solidFill>
                <a:latin typeface="Segoe UI"/>
              </a:rPr>
              <a:t>One deployed agent · two front doors · Foundry hosted agent on Teams</a:t>
            </a:r>
          </a:p>
        </p:txBody>
      </p:sp>
      <p:sp>
        <p:nvSpPr>
          <p:cNvPr id="42" name="TextBox 41"/>
          <p:cNvSpPr txBox="1"/>
          <p:nvPr/>
        </p:nvSpPr>
        <p:spPr>
          <a:xfrm>
            <a:off x="10881360" y="6419088"/>
            <a:ext cx="822960" cy="274320"/>
          </a:xfrm>
          <a:prstGeom prst="rect">
            <a:avLst/>
          </a:prstGeom>
          <a:noFill/>
        </p:spPr>
        <p:txBody>
          <a:bodyPr wrap="square" lIns="0" tIns="0" rIns="0" bIns="0" anchor="t">
            <a:spAutoFit/>
          </a:bodyPr>
          <a:lstStyle/>
          <a:p>
            <a:pPr algn="r">
              <a:spcAft>
                <a:spcPts val="400"/>
              </a:spcAft>
            </a:pPr>
            <a:r>
              <a:rPr sz="900" b="0" i="0">
                <a:solidFill>
                  <a:srgbClr val="6B7280"/>
                </a:solidFill>
                <a:latin typeface="Segoe UI"/>
              </a:rPr>
              <a:t>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5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170432"/>
            <a:ext cx="12191695" cy="5486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274320"/>
            <a:ext cx="128016" cy="60350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19456"/>
            <a:ext cx="10789920" cy="310896"/>
          </a:xfrm>
          <a:prstGeom prst="rect">
            <a:avLst/>
          </a:prstGeom>
          <a:noFill/>
        </p:spPr>
        <p:txBody>
          <a:bodyPr wrap="square" lIns="0" tIns="0" rIns="0" bIns="0" anchor="t">
            <a:spAutoFit/>
          </a:bodyPr>
          <a:lstStyle/>
          <a:p>
            <a:pPr algn="l">
              <a:spcAft>
                <a:spcPts val="400"/>
              </a:spcAft>
            </a:pPr>
            <a:r>
              <a:rPr sz="1250" b="0" i="0">
                <a:solidFill>
                  <a:srgbClr val="2E75B6"/>
                </a:solidFill>
                <a:latin typeface="Segoe UI"/>
              </a:rPr>
              <a:t>OPTION A · END-TO-END</a:t>
            </a:r>
          </a:p>
        </p:txBody>
      </p:sp>
      <p:sp>
        <p:nvSpPr>
          <p:cNvPr id="6" name="TextBox 5"/>
          <p:cNvSpPr txBox="1"/>
          <p:nvPr/>
        </p:nvSpPr>
        <p:spPr>
          <a:xfrm>
            <a:off x="777240" y="502920"/>
            <a:ext cx="10789920" cy="566928"/>
          </a:xfrm>
          <a:prstGeom prst="rect">
            <a:avLst/>
          </a:prstGeom>
          <a:noFill/>
        </p:spPr>
        <p:txBody>
          <a:bodyPr wrap="square" lIns="0" tIns="0" rIns="0" bIns="0" anchor="t">
            <a:spAutoFit/>
          </a:bodyPr>
          <a:lstStyle/>
          <a:p>
            <a:pPr algn="l">
              <a:spcAft>
                <a:spcPts val="400"/>
              </a:spcAft>
            </a:pPr>
            <a:r>
              <a:rPr sz="2600" b="1" i="0">
                <a:solidFill>
                  <a:srgbClr val="FFFFFF"/>
                </a:solidFill>
                <a:latin typeface="Segoe UI"/>
              </a:rPr>
              <a:t>Web app — app-only</a:t>
            </a:r>
          </a:p>
        </p:txBody>
      </p:sp>
      <p:sp>
        <p:nvSpPr>
          <p:cNvPr id="7" name="Rounded Rectangle 6"/>
          <p:cNvSpPr/>
          <p:nvPr/>
        </p:nvSpPr>
        <p:spPr>
          <a:xfrm>
            <a:off x="640080" y="1554480"/>
            <a:ext cx="457200" cy="640080"/>
          </a:xfrm>
          <a:prstGeom prst="roundRect">
            <a:avLst>
              <a:gd name="adj" fmla="val 35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554480"/>
            <a:ext cx="457200" cy="640080"/>
          </a:xfrm>
          <a:prstGeom prst="rect">
            <a:avLst/>
          </a:prstGeom>
          <a:noFill/>
        </p:spPr>
        <p:txBody>
          <a:bodyPr wrap="square" lIns="0" tIns="0" rIns="0" bIns="0" anchor="ctr">
            <a:spAutoFit/>
          </a:bodyPr>
          <a:lstStyle/>
          <a:p>
            <a:pPr algn="ctr">
              <a:spcAft>
                <a:spcPts val="400"/>
              </a:spcAft>
            </a:pPr>
            <a:r>
              <a:rPr sz="1500" b="1" i="0">
                <a:solidFill>
                  <a:srgbClr val="FFFFFF"/>
                </a:solidFill>
                <a:latin typeface="Segoe UI"/>
              </a:rPr>
              <a:t>1</a:t>
            </a:r>
          </a:p>
        </p:txBody>
      </p:sp>
      <p:sp>
        <p:nvSpPr>
          <p:cNvPr id="9" name="Rounded Rectangle 8"/>
          <p:cNvSpPr/>
          <p:nvPr/>
        </p:nvSpPr>
        <p:spPr>
          <a:xfrm>
            <a:off x="1188719" y="1554480"/>
            <a:ext cx="6217920" cy="640080"/>
          </a:xfrm>
          <a:prstGeom prst="roundRect">
            <a:avLst>
              <a:gd name="adj" fmla="val 12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88719" y="1554480"/>
            <a:ext cx="73152" cy="64008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89888" y="1581912"/>
            <a:ext cx="5897880" cy="585215"/>
          </a:xfrm>
          <a:prstGeom prst="rect">
            <a:avLst/>
          </a:prstGeom>
          <a:noFill/>
        </p:spPr>
        <p:txBody>
          <a:bodyPr wrap="square" lIns="0" tIns="0" rIns="0" bIns="0" anchor="ctr">
            <a:spAutoFit/>
          </a:bodyPr>
          <a:lstStyle/>
          <a:p>
            <a:pPr algn="l">
              <a:spcAft>
                <a:spcPts val="400"/>
              </a:spcAft>
            </a:pPr>
            <a:r>
              <a:rPr sz="1250" b="1" i="0">
                <a:solidFill>
                  <a:srgbClr val="2E75B6"/>
                </a:solidFill>
                <a:latin typeface="Segoe UI"/>
              </a:rPr>
              <a:t>Web user  </a:t>
            </a:r>
          </a:p>
          <a:p>
            <a:pPr algn="l">
              <a:spcAft>
                <a:spcPts val="400"/>
              </a:spcAft>
            </a:pPr>
            <a:r>
              <a:rPr sz="1100" b="0" i="0">
                <a:solidFill>
                  <a:srgbClr val="1A202C"/>
                </a:solidFill>
                <a:latin typeface="Segoe UI"/>
              </a:rPr>
              <a:t>Select persona, ask a research query (no user token sent)</a:t>
            </a:r>
          </a:p>
        </p:txBody>
      </p:sp>
      <p:sp>
        <p:nvSpPr>
          <p:cNvPr id="12" name="Rounded Rectangle 11"/>
          <p:cNvSpPr/>
          <p:nvPr/>
        </p:nvSpPr>
        <p:spPr>
          <a:xfrm>
            <a:off x="640080" y="2322576"/>
            <a:ext cx="457200" cy="640080"/>
          </a:xfrm>
          <a:prstGeom prst="roundRect">
            <a:avLst>
              <a:gd name="adj" fmla="val 35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2322576"/>
            <a:ext cx="457200" cy="640080"/>
          </a:xfrm>
          <a:prstGeom prst="rect">
            <a:avLst/>
          </a:prstGeom>
          <a:noFill/>
        </p:spPr>
        <p:txBody>
          <a:bodyPr wrap="square" lIns="0" tIns="0" rIns="0" bIns="0" anchor="ctr">
            <a:spAutoFit/>
          </a:bodyPr>
          <a:lstStyle/>
          <a:p>
            <a:pPr algn="ctr">
              <a:spcAft>
                <a:spcPts val="400"/>
              </a:spcAft>
            </a:pPr>
            <a:r>
              <a:rPr sz="1500" b="1" i="0">
                <a:solidFill>
                  <a:srgbClr val="FFFFFF"/>
                </a:solidFill>
                <a:latin typeface="Segoe UI"/>
              </a:rPr>
              <a:t>2</a:t>
            </a:r>
          </a:p>
        </p:txBody>
      </p:sp>
      <p:sp>
        <p:nvSpPr>
          <p:cNvPr id="14" name="Rounded Rectangle 13"/>
          <p:cNvSpPr/>
          <p:nvPr/>
        </p:nvSpPr>
        <p:spPr>
          <a:xfrm>
            <a:off x="1188719" y="2322576"/>
            <a:ext cx="6217920" cy="640080"/>
          </a:xfrm>
          <a:prstGeom prst="roundRect">
            <a:avLst>
              <a:gd name="adj" fmla="val 12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88719" y="2322576"/>
            <a:ext cx="73152" cy="64008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89888" y="2350008"/>
            <a:ext cx="5897880" cy="585215"/>
          </a:xfrm>
          <a:prstGeom prst="rect">
            <a:avLst/>
          </a:prstGeom>
          <a:noFill/>
        </p:spPr>
        <p:txBody>
          <a:bodyPr wrap="square" lIns="0" tIns="0" rIns="0" bIns="0" anchor="ctr">
            <a:spAutoFit/>
          </a:bodyPr>
          <a:lstStyle/>
          <a:p>
            <a:pPr algn="l">
              <a:spcAft>
                <a:spcPts val="400"/>
              </a:spcAft>
            </a:pPr>
            <a:r>
              <a:rPr sz="1250" b="1" i="0">
                <a:solidFill>
                  <a:srgbClr val="2E75B6"/>
                </a:solidFill>
                <a:latin typeface="Segoe UI"/>
              </a:rPr>
              <a:t>Web SPA  </a:t>
            </a:r>
          </a:p>
          <a:p>
            <a:pPr algn="l">
              <a:spcAft>
                <a:spcPts val="400"/>
              </a:spcAft>
            </a:pPr>
            <a:r>
              <a:rPr sz="1100" b="0" i="0">
                <a:solidFill>
                  <a:srgbClr val="1A202C"/>
                </a:solidFill>
                <a:latin typeface="Segoe UI"/>
              </a:rPr>
              <a:t>POST optionA/invoke</a:t>
            </a:r>
          </a:p>
        </p:txBody>
      </p:sp>
      <p:sp>
        <p:nvSpPr>
          <p:cNvPr id="17" name="Rounded Rectangle 16"/>
          <p:cNvSpPr/>
          <p:nvPr/>
        </p:nvSpPr>
        <p:spPr>
          <a:xfrm>
            <a:off x="640080" y="3090672"/>
            <a:ext cx="457200" cy="640080"/>
          </a:xfrm>
          <a:prstGeom prst="roundRect">
            <a:avLst>
              <a:gd name="adj" fmla="val 35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3090672"/>
            <a:ext cx="457200" cy="640080"/>
          </a:xfrm>
          <a:prstGeom prst="rect">
            <a:avLst/>
          </a:prstGeom>
          <a:noFill/>
        </p:spPr>
        <p:txBody>
          <a:bodyPr wrap="square" lIns="0" tIns="0" rIns="0" bIns="0" anchor="ctr">
            <a:spAutoFit/>
          </a:bodyPr>
          <a:lstStyle/>
          <a:p>
            <a:pPr algn="ctr">
              <a:spcAft>
                <a:spcPts val="400"/>
              </a:spcAft>
            </a:pPr>
            <a:r>
              <a:rPr sz="1500" b="1" i="0">
                <a:solidFill>
                  <a:srgbClr val="FFFFFF"/>
                </a:solidFill>
                <a:latin typeface="Segoe UI"/>
              </a:rPr>
              <a:t>3</a:t>
            </a:r>
          </a:p>
        </p:txBody>
      </p:sp>
      <p:sp>
        <p:nvSpPr>
          <p:cNvPr id="19" name="Rounded Rectangle 18"/>
          <p:cNvSpPr/>
          <p:nvPr/>
        </p:nvSpPr>
        <p:spPr>
          <a:xfrm>
            <a:off x="1188719" y="3090672"/>
            <a:ext cx="6217920" cy="640080"/>
          </a:xfrm>
          <a:prstGeom prst="roundRect">
            <a:avLst>
              <a:gd name="adj" fmla="val 12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188719" y="3090672"/>
            <a:ext cx="73152" cy="64008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389888" y="3118103"/>
            <a:ext cx="5897880" cy="585215"/>
          </a:xfrm>
          <a:prstGeom prst="rect">
            <a:avLst/>
          </a:prstGeom>
          <a:noFill/>
        </p:spPr>
        <p:txBody>
          <a:bodyPr wrap="square" lIns="0" tIns="0" rIns="0" bIns="0" anchor="ctr">
            <a:spAutoFit/>
          </a:bodyPr>
          <a:lstStyle/>
          <a:p>
            <a:pPr algn="l">
              <a:spcAft>
                <a:spcPts val="400"/>
              </a:spcAft>
            </a:pPr>
            <a:r>
              <a:rPr sz="1250" b="1" i="0">
                <a:solidFill>
                  <a:srgbClr val="2E75B6"/>
                </a:solidFill>
                <a:latin typeface="Segoe UI"/>
              </a:rPr>
              <a:t>Backend  </a:t>
            </a:r>
          </a:p>
          <a:p>
            <a:pPr algn="l">
              <a:spcAft>
                <a:spcPts val="400"/>
              </a:spcAft>
            </a:pPr>
            <a:r>
              <a:rPr sz="1100" b="0" i="0">
                <a:solidFill>
                  <a:srgbClr val="1A202C"/>
                </a:solidFill>
                <a:latin typeface="Segoe UI"/>
              </a:rPr>
              <a:t>app_only_search — admin token OR classification ne 'mnpi'</a:t>
            </a:r>
          </a:p>
        </p:txBody>
      </p:sp>
      <p:sp>
        <p:nvSpPr>
          <p:cNvPr id="22" name="Rounded Rectangle 21"/>
          <p:cNvSpPr/>
          <p:nvPr/>
        </p:nvSpPr>
        <p:spPr>
          <a:xfrm>
            <a:off x="640080" y="3858768"/>
            <a:ext cx="457200" cy="640080"/>
          </a:xfrm>
          <a:prstGeom prst="roundRect">
            <a:avLst>
              <a:gd name="adj" fmla="val 35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 y="3858768"/>
            <a:ext cx="457200" cy="640080"/>
          </a:xfrm>
          <a:prstGeom prst="rect">
            <a:avLst/>
          </a:prstGeom>
          <a:noFill/>
        </p:spPr>
        <p:txBody>
          <a:bodyPr wrap="square" lIns="0" tIns="0" rIns="0" bIns="0" anchor="ctr">
            <a:spAutoFit/>
          </a:bodyPr>
          <a:lstStyle/>
          <a:p>
            <a:pPr algn="ctr">
              <a:spcAft>
                <a:spcPts val="400"/>
              </a:spcAft>
            </a:pPr>
            <a:r>
              <a:rPr sz="1500" b="1" i="0">
                <a:solidFill>
                  <a:srgbClr val="FFFFFF"/>
                </a:solidFill>
                <a:latin typeface="Segoe UI"/>
              </a:rPr>
              <a:t>4</a:t>
            </a:r>
          </a:p>
        </p:txBody>
      </p:sp>
      <p:sp>
        <p:nvSpPr>
          <p:cNvPr id="24" name="Rounded Rectangle 23"/>
          <p:cNvSpPr/>
          <p:nvPr/>
        </p:nvSpPr>
        <p:spPr>
          <a:xfrm>
            <a:off x="1188719" y="3858768"/>
            <a:ext cx="6217920" cy="640080"/>
          </a:xfrm>
          <a:prstGeom prst="roundRect">
            <a:avLst>
              <a:gd name="adj" fmla="val 12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188719" y="3858768"/>
            <a:ext cx="73152" cy="64008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389888" y="3886200"/>
            <a:ext cx="5897880" cy="585215"/>
          </a:xfrm>
          <a:prstGeom prst="rect">
            <a:avLst/>
          </a:prstGeom>
          <a:noFill/>
        </p:spPr>
        <p:txBody>
          <a:bodyPr wrap="square" lIns="0" tIns="0" rIns="0" bIns="0" anchor="ctr">
            <a:spAutoFit/>
          </a:bodyPr>
          <a:lstStyle/>
          <a:p>
            <a:pPr algn="l">
              <a:spcAft>
                <a:spcPts val="400"/>
              </a:spcAft>
            </a:pPr>
            <a:r>
              <a:rPr sz="1250" b="1" i="0">
                <a:solidFill>
                  <a:srgbClr val="2E75B6"/>
                </a:solidFill>
                <a:latin typeface="Segoe UI"/>
              </a:rPr>
              <a:t>Azure AI Search  </a:t>
            </a:r>
          </a:p>
          <a:p>
            <a:pPr algn="l">
              <a:spcAft>
                <a:spcPts val="400"/>
              </a:spcAft>
            </a:pPr>
            <a:r>
              <a:rPr sz="1100" b="0" i="0">
                <a:solidFill>
                  <a:srgbClr val="1A202C"/>
                </a:solidFill>
                <a:latin typeface="Segoe UI"/>
              </a:rPr>
              <a:t>Returns a baseline / non-MNPI slice</a:t>
            </a:r>
          </a:p>
        </p:txBody>
      </p:sp>
      <p:sp>
        <p:nvSpPr>
          <p:cNvPr id="27" name="Rounded Rectangle 26"/>
          <p:cNvSpPr/>
          <p:nvPr/>
        </p:nvSpPr>
        <p:spPr>
          <a:xfrm>
            <a:off x="640080" y="4626864"/>
            <a:ext cx="457200" cy="640080"/>
          </a:xfrm>
          <a:prstGeom prst="roundRect">
            <a:avLst>
              <a:gd name="adj" fmla="val 35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 y="4626864"/>
            <a:ext cx="457200" cy="640080"/>
          </a:xfrm>
          <a:prstGeom prst="rect">
            <a:avLst/>
          </a:prstGeom>
          <a:noFill/>
        </p:spPr>
        <p:txBody>
          <a:bodyPr wrap="square" lIns="0" tIns="0" rIns="0" bIns="0" anchor="ctr">
            <a:spAutoFit/>
          </a:bodyPr>
          <a:lstStyle/>
          <a:p>
            <a:pPr algn="ctr">
              <a:spcAft>
                <a:spcPts val="400"/>
              </a:spcAft>
            </a:pPr>
            <a:r>
              <a:rPr sz="1500" b="1" i="0">
                <a:solidFill>
                  <a:srgbClr val="FFFFFF"/>
                </a:solidFill>
                <a:latin typeface="Segoe UI"/>
              </a:rPr>
              <a:t>5</a:t>
            </a:r>
          </a:p>
        </p:txBody>
      </p:sp>
      <p:sp>
        <p:nvSpPr>
          <p:cNvPr id="29" name="Rounded Rectangle 28"/>
          <p:cNvSpPr/>
          <p:nvPr/>
        </p:nvSpPr>
        <p:spPr>
          <a:xfrm>
            <a:off x="1188719" y="4626864"/>
            <a:ext cx="6217920" cy="640080"/>
          </a:xfrm>
          <a:prstGeom prst="roundRect">
            <a:avLst>
              <a:gd name="adj" fmla="val 12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188719" y="4626864"/>
            <a:ext cx="73152" cy="64008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389888" y="4654296"/>
            <a:ext cx="5897880" cy="585215"/>
          </a:xfrm>
          <a:prstGeom prst="rect">
            <a:avLst/>
          </a:prstGeom>
          <a:noFill/>
        </p:spPr>
        <p:txBody>
          <a:bodyPr wrap="square" lIns="0" tIns="0" rIns="0" bIns="0" anchor="ctr">
            <a:spAutoFit/>
          </a:bodyPr>
          <a:lstStyle/>
          <a:p>
            <a:pPr algn="l">
              <a:spcAft>
                <a:spcPts val="400"/>
              </a:spcAft>
            </a:pPr>
            <a:r>
              <a:rPr sz="1250" b="1" i="0">
                <a:solidFill>
                  <a:srgbClr val="2E75B6"/>
                </a:solidFill>
                <a:latin typeface="Segoe UI"/>
              </a:rPr>
              <a:t>Foundry hosted agent  </a:t>
            </a:r>
          </a:p>
          <a:p>
            <a:pPr algn="l">
              <a:spcAft>
                <a:spcPts val="400"/>
              </a:spcAft>
            </a:pPr>
            <a:r>
              <a:rPr sz="1100" b="0" i="0">
                <a:solidFill>
                  <a:srgbClr val="1A202C"/>
                </a:solidFill>
                <a:latin typeface="Segoe UI"/>
              </a:rPr>
              <a:t>synthesize(answer, hits)</a:t>
            </a:r>
          </a:p>
        </p:txBody>
      </p:sp>
      <p:sp>
        <p:nvSpPr>
          <p:cNvPr id="32" name="Rounded Rectangle 31"/>
          <p:cNvSpPr/>
          <p:nvPr/>
        </p:nvSpPr>
        <p:spPr>
          <a:xfrm>
            <a:off x="640080" y="5394959"/>
            <a:ext cx="457200" cy="640080"/>
          </a:xfrm>
          <a:prstGeom prst="roundRect">
            <a:avLst>
              <a:gd name="adj" fmla="val 35000"/>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0080" y="5394959"/>
            <a:ext cx="457200" cy="640080"/>
          </a:xfrm>
          <a:prstGeom prst="rect">
            <a:avLst/>
          </a:prstGeom>
          <a:noFill/>
        </p:spPr>
        <p:txBody>
          <a:bodyPr wrap="square" lIns="0" tIns="0" rIns="0" bIns="0" anchor="ctr">
            <a:spAutoFit/>
          </a:bodyPr>
          <a:lstStyle/>
          <a:p>
            <a:pPr algn="ctr">
              <a:spcAft>
                <a:spcPts val="400"/>
              </a:spcAft>
            </a:pPr>
            <a:r>
              <a:rPr sz="1500" b="1" i="0">
                <a:solidFill>
                  <a:srgbClr val="FFFFFF"/>
                </a:solidFill>
                <a:latin typeface="Segoe UI"/>
              </a:rPr>
              <a:t>6</a:t>
            </a:r>
          </a:p>
        </p:txBody>
      </p:sp>
      <p:sp>
        <p:nvSpPr>
          <p:cNvPr id="34" name="Rounded Rectangle 33"/>
          <p:cNvSpPr/>
          <p:nvPr/>
        </p:nvSpPr>
        <p:spPr>
          <a:xfrm>
            <a:off x="1188719" y="5394959"/>
            <a:ext cx="6217920" cy="640080"/>
          </a:xfrm>
          <a:prstGeom prst="roundRect">
            <a:avLst>
              <a:gd name="adj" fmla="val 12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1188719" y="5394959"/>
            <a:ext cx="73152" cy="64008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389888" y="5422392"/>
            <a:ext cx="5897880" cy="585215"/>
          </a:xfrm>
          <a:prstGeom prst="rect">
            <a:avLst/>
          </a:prstGeom>
          <a:noFill/>
        </p:spPr>
        <p:txBody>
          <a:bodyPr wrap="square" lIns="0" tIns="0" rIns="0" bIns="0" anchor="ctr">
            <a:spAutoFit/>
          </a:bodyPr>
          <a:lstStyle/>
          <a:p>
            <a:pPr algn="l">
              <a:spcAft>
                <a:spcPts val="400"/>
              </a:spcAft>
            </a:pPr>
            <a:r>
              <a:rPr sz="1250" b="1" i="0">
                <a:solidFill>
                  <a:srgbClr val="E8A33D"/>
                </a:solidFill>
                <a:latin typeface="Segoe UI"/>
              </a:rPr>
              <a:t>Web user  </a:t>
            </a:r>
          </a:p>
          <a:p>
            <a:pPr algn="l">
              <a:spcAft>
                <a:spcPts val="400"/>
              </a:spcAft>
            </a:pPr>
            <a:r>
              <a:rPr sz="1100" b="0" i="0">
                <a:solidFill>
                  <a:srgbClr val="1A202C"/>
                </a:solidFill>
                <a:latin typeface="Segoe UI"/>
              </a:rPr>
              <a:t>Answer — persona selector is illustrative only</a:t>
            </a:r>
          </a:p>
        </p:txBody>
      </p:sp>
      <p:sp>
        <p:nvSpPr>
          <p:cNvPr id="37" name="Rounded Rectangle 36"/>
          <p:cNvSpPr/>
          <p:nvPr/>
        </p:nvSpPr>
        <p:spPr>
          <a:xfrm>
            <a:off x="7772400" y="1554480"/>
            <a:ext cx="3749039" cy="4160520"/>
          </a:xfrm>
          <a:prstGeom prst="roundRect">
            <a:avLst>
              <a:gd name="adj" fmla="val 6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7772400" y="1554480"/>
            <a:ext cx="3749039" cy="4572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955279" y="1554480"/>
            <a:ext cx="3383279" cy="457200"/>
          </a:xfrm>
          <a:prstGeom prst="rect">
            <a:avLst/>
          </a:prstGeom>
          <a:noFill/>
        </p:spPr>
        <p:txBody>
          <a:bodyPr wrap="square" lIns="0" tIns="0" rIns="0" bIns="0" anchor="ctr">
            <a:spAutoFit/>
          </a:bodyPr>
          <a:lstStyle/>
          <a:p>
            <a:pPr algn="l">
              <a:spcAft>
                <a:spcPts val="400"/>
              </a:spcAft>
            </a:pPr>
            <a:r>
              <a:rPr sz="1400" b="1" i="0">
                <a:solidFill>
                  <a:srgbClr val="FFFFFF"/>
                </a:solidFill>
                <a:latin typeface="Segoe UI"/>
              </a:rPr>
              <a:t>Same label, different retrieval</a:t>
            </a:r>
          </a:p>
        </p:txBody>
      </p:sp>
      <p:sp>
        <p:nvSpPr>
          <p:cNvPr id="40" name="TextBox 39"/>
          <p:cNvSpPr txBox="1"/>
          <p:nvPr/>
        </p:nvSpPr>
        <p:spPr>
          <a:xfrm>
            <a:off x="7991856" y="2121408"/>
            <a:ext cx="3310127" cy="3520439"/>
          </a:xfrm>
          <a:prstGeom prst="rect">
            <a:avLst/>
          </a:prstGeom>
          <a:noFill/>
        </p:spPr>
        <p:txBody>
          <a:bodyPr wrap="square" lIns="0" tIns="0" rIns="0" bIns="0" anchor="t">
            <a:spAutoFit/>
          </a:bodyPr>
          <a:lstStyle/>
          <a:p>
            <a:pPr algn="l">
              <a:spcAft>
                <a:spcPts val="400"/>
              </a:spcAft>
            </a:pPr>
            <a:r>
              <a:rPr sz="1250" b="1" i="0">
                <a:solidFill>
                  <a:srgbClr val="E8A33D"/>
                </a:solidFill>
                <a:latin typeface="Segoe UI"/>
              </a:rPr>
              <a:t>Web Option A ≠ Teams Option A</a:t>
            </a:r>
          </a:p>
          <a:p>
            <a:pPr algn="l">
              <a:spcAft>
                <a:spcPts val="400"/>
              </a:spcAft>
            </a:pPr>
            <a:r>
              <a:rPr sz="500" b="0" i="0">
                <a:solidFill>
                  <a:srgbClr val="1A202C"/>
                </a:solidFill>
                <a:latin typeface="Segoe UI"/>
              </a:rPr>
              <a:t> </a:t>
            </a:r>
          </a:p>
          <a:p>
            <a:pPr algn="l">
              <a:spcAft>
                <a:spcPts val="400"/>
              </a:spcAft>
            </a:pPr>
            <a:r>
              <a:rPr sz="1150" b="1" i="0">
                <a:solidFill>
                  <a:srgbClr val="1A202C"/>
                </a:solidFill>
                <a:latin typeface="Segoe UI"/>
              </a:rPr>
              <a:t>Teams (published agent):</a:t>
            </a:r>
          </a:p>
          <a:p>
            <a:pPr algn="l">
              <a:spcAft>
                <a:spcPts val="400"/>
              </a:spcAft>
            </a:pPr>
            <a:r>
              <a:rPr sz="1100" b="0" i="0">
                <a:solidFill>
                  <a:srgbClr val="1A202C"/>
                </a:solidFill>
                <a:latin typeface="Segoe UI"/>
              </a:rPr>
              <a:t>container MI → native ACL → 0 docs</a:t>
            </a:r>
          </a:p>
          <a:p>
            <a:pPr algn="l">
              <a:spcAft>
                <a:spcPts val="400"/>
              </a:spcAft>
            </a:pPr>
            <a:r>
              <a:rPr sz="400" b="0" i="0">
                <a:solidFill>
                  <a:srgbClr val="1A202C"/>
                </a:solidFill>
                <a:latin typeface="Segoe UI"/>
              </a:rPr>
              <a:t> </a:t>
            </a:r>
          </a:p>
          <a:p>
            <a:pPr algn="l">
              <a:spcAft>
                <a:spcPts val="400"/>
              </a:spcAft>
            </a:pPr>
            <a:r>
              <a:rPr sz="1150" b="1" i="0">
                <a:solidFill>
                  <a:srgbClr val="1A202C"/>
                </a:solidFill>
                <a:latin typeface="Segoe UI"/>
              </a:rPr>
              <a:t>Web (optionA/invoke):</a:t>
            </a:r>
          </a:p>
          <a:p>
            <a:pPr algn="l">
              <a:spcAft>
                <a:spcPts val="400"/>
              </a:spcAft>
            </a:pPr>
            <a:r>
              <a:rPr sz="1100" b="0" i="0">
                <a:solidFill>
                  <a:srgbClr val="1A202C"/>
                </a:solidFill>
                <a:latin typeface="Segoe UI"/>
              </a:rPr>
              <a:t>admin token, OR a plain</a:t>
            </a:r>
          </a:p>
          <a:p>
            <a:pPr algn="l">
              <a:spcAft>
                <a:spcPts val="400"/>
              </a:spcAft>
            </a:pPr>
            <a:r>
              <a:rPr sz="1100" b="0" i="0">
                <a:solidFill>
                  <a:srgbClr val="1A202C"/>
                </a:solidFill>
                <a:latin typeface="Consolas"/>
              </a:rPr>
              <a:t>classification ne 'mnpi' filter →</a:t>
            </a:r>
          </a:p>
          <a:p>
            <a:pPr algn="l">
              <a:spcAft>
                <a:spcPts val="400"/>
              </a:spcAft>
            </a:pPr>
            <a:r>
              <a:rPr sz="1100" b="0" i="0">
                <a:solidFill>
                  <a:srgbClr val="1A202C"/>
                </a:solidFill>
                <a:latin typeface="Segoe UI"/>
              </a:rPr>
              <a:t>baseline / non-MNPI docs</a:t>
            </a:r>
          </a:p>
          <a:p>
            <a:pPr algn="l">
              <a:spcAft>
                <a:spcPts val="400"/>
              </a:spcAft>
            </a:pPr>
            <a:r>
              <a:rPr sz="600" b="0" i="0">
                <a:solidFill>
                  <a:srgbClr val="1A202C"/>
                </a:solidFill>
                <a:latin typeface="Segoe UI"/>
              </a:rPr>
              <a:t> </a:t>
            </a:r>
          </a:p>
          <a:p>
            <a:pPr algn="l">
              <a:spcAft>
                <a:spcPts val="400"/>
              </a:spcAft>
            </a:pPr>
            <a:r>
              <a:rPr sz="1100" b="0" i="1">
                <a:solidFill>
                  <a:srgbClr val="C03B3B"/>
                </a:solidFill>
                <a:latin typeface="Segoe UI"/>
              </a:rPr>
              <a:t>Do not expect the two to match.</a:t>
            </a:r>
          </a:p>
        </p:txBody>
      </p:sp>
      <p:sp>
        <p:nvSpPr>
          <p:cNvPr id="41" name="TextBox 40"/>
          <p:cNvSpPr txBox="1"/>
          <p:nvPr/>
        </p:nvSpPr>
        <p:spPr>
          <a:xfrm>
            <a:off x="502920" y="6419088"/>
            <a:ext cx="7315200" cy="274320"/>
          </a:xfrm>
          <a:prstGeom prst="rect">
            <a:avLst/>
          </a:prstGeom>
          <a:noFill/>
        </p:spPr>
        <p:txBody>
          <a:bodyPr wrap="square" lIns="0" tIns="0" rIns="0" bIns="0" anchor="t">
            <a:spAutoFit/>
          </a:bodyPr>
          <a:lstStyle/>
          <a:p>
            <a:pPr algn="l">
              <a:spcAft>
                <a:spcPts val="400"/>
              </a:spcAft>
            </a:pPr>
            <a:r>
              <a:rPr sz="900" b="0" i="0">
                <a:solidFill>
                  <a:srgbClr val="6B7280"/>
                </a:solidFill>
                <a:latin typeface="Segoe UI"/>
              </a:rPr>
              <a:t>One deployed agent · two front doors · Foundry hosted agent on Teams</a:t>
            </a:r>
          </a:p>
        </p:txBody>
      </p:sp>
      <p:sp>
        <p:nvSpPr>
          <p:cNvPr id="42" name="TextBox 41"/>
          <p:cNvSpPr txBox="1"/>
          <p:nvPr/>
        </p:nvSpPr>
        <p:spPr>
          <a:xfrm>
            <a:off x="10881360" y="6419088"/>
            <a:ext cx="822960" cy="274320"/>
          </a:xfrm>
          <a:prstGeom prst="rect">
            <a:avLst/>
          </a:prstGeom>
          <a:noFill/>
        </p:spPr>
        <p:txBody>
          <a:bodyPr wrap="square" lIns="0" tIns="0" rIns="0" bIns="0" anchor="t">
            <a:spAutoFit/>
          </a:bodyPr>
          <a:lstStyle/>
          <a:p>
            <a:pPr algn="r">
              <a:spcAft>
                <a:spcPts val="400"/>
              </a:spcAft>
            </a:pPr>
            <a:r>
              <a:rPr sz="900" b="0" i="0">
                <a:solidFill>
                  <a:srgbClr val="6B7280"/>
                </a:solidFill>
                <a:latin typeface="Segoe UI"/>
              </a:rPr>
              <a:t>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5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170432"/>
            <a:ext cx="12191695" cy="5486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274320"/>
            <a:ext cx="128016" cy="60350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19456"/>
            <a:ext cx="10789920" cy="310896"/>
          </a:xfrm>
          <a:prstGeom prst="rect">
            <a:avLst/>
          </a:prstGeom>
          <a:noFill/>
        </p:spPr>
        <p:txBody>
          <a:bodyPr wrap="square" lIns="0" tIns="0" rIns="0" bIns="0" anchor="t">
            <a:spAutoFit/>
          </a:bodyPr>
          <a:lstStyle/>
          <a:p>
            <a:pPr algn="l">
              <a:spcAft>
                <a:spcPts val="400"/>
              </a:spcAft>
            </a:pPr>
            <a:r>
              <a:rPr sz="1250" b="0" i="0">
                <a:solidFill>
                  <a:srgbClr val="2E75B6"/>
                </a:solidFill>
                <a:latin typeface="Segoe UI"/>
              </a:rPr>
              <a:t>OPTION A · TECHNICAL DETAILS</a:t>
            </a:r>
          </a:p>
        </p:txBody>
      </p:sp>
      <p:sp>
        <p:nvSpPr>
          <p:cNvPr id="6" name="TextBox 5"/>
          <p:cNvSpPr txBox="1"/>
          <p:nvPr/>
        </p:nvSpPr>
        <p:spPr>
          <a:xfrm>
            <a:off x="777240" y="502920"/>
            <a:ext cx="10789920" cy="566928"/>
          </a:xfrm>
          <a:prstGeom prst="rect">
            <a:avLst/>
          </a:prstGeom>
          <a:noFill/>
        </p:spPr>
        <p:txBody>
          <a:bodyPr wrap="square" lIns="0" tIns="0" rIns="0" bIns="0" anchor="t">
            <a:spAutoFit/>
          </a:bodyPr>
          <a:lstStyle/>
          <a:p>
            <a:pPr algn="l">
              <a:spcAft>
                <a:spcPts val="400"/>
              </a:spcAft>
            </a:pPr>
            <a:r>
              <a:rPr sz="2600" b="1" i="0">
                <a:solidFill>
                  <a:srgbClr val="FFFFFF"/>
                </a:solidFill>
                <a:latin typeface="Segoe UI"/>
              </a:rPr>
              <a:t>Why per-user OBO is structurally impossible</a:t>
            </a:r>
          </a:p>
        </p:txBody>
      </p:sp>
      <p:sp>
        <p:nvSpPr>
          <p:cNvPr id="7" name="Rounded Rectangle 6"/>
          <p:cNvSpPr/>
          <p:nvPr/>
        </p:nvSpPr>
        <p:spPr>
          <a:xfrm>
            <a:off x="640080" y="1508760"/>
            <a:ext cx="5349240" cy="2148840"/>
          </a:xfrm>
          <a:prstGeom prst="roundRect">
            <a:avLst>
              <a:gd name="adj" fmla="val 6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508760"/>
            <a:ext cx="5349240" cy="4572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59" y="1508760"/>
            <a:ext cx="4983479" cy="457200"/>
          </a:xfrm>
          <a:prstGeom prst="rect">
            <a:avLst/>
          </a:prstGeom>
          <a:noFill/>
        </p:spPr>
        <p:txBody>
          <a:bodyPr wrap="square" lIns="0" tIns="0" rIns="0" bIns="0" anchor="ctr">
            <a:spAutoFit/>
          </a:bodyPr>
          <a:lstStyle/>
          <a:p>
            <a:pPr algn="l">
              <a:spcAft>
                <a:spcPts val="400"/>
              </a:spcAft>
            </a:pPr>
            <a:r>
              <a:rPr sz="1400" b="1" i="0">
                <a:solidFill>
                  <a:srgbClr val="FFFFFF"/>
                </a:solidFill>
                <a:latin typeface="Segoe UI"/>
              </a:rPr>
              <a:t>1 · Gateway strips the user token</a:t>
            </a:r>
          </a:p>
        </p:txBody>
      </p:sp>
      <p:sp>
        <p:nvSpPr>
          <p:cNvPr id="10" name="TextBox 9"/>
          <p:cNvSpPr txBox="1"/>
          <p:nvPr/>
        </p:nvSpPr>
        <p:spPr>
          <a:xfrm>
            <a:off x="859536" y="2075688"/>
            <a:ext cx="4910327" cy="1508760"/>
          </a:xfrm>
          <a:prstGeom prst="rect">
            <a:avLst/>
          </a:prstGeom>
          <a:noFill/>
        </p:spPr>
        <p:txBody>
          <a:bodyPr wrap="square" lIns="0" tIns="0" rIns="0" bIns="0" anchor="t">
            <a:spAutoFit/>
          </a:bodyPr>
          <a:lstStyle/>
          <a:p>
            <a:pPr algn="l">
              <a:spcAft>
                <a:spcPts val="400"/>
              </a:spcAft>
            </a:pPr>
            <a:r>
              <a:rPr sz="1200" b="0" i="0">
                <a:solidFill>
                  <a:srgbClr val="1A202C"/>
                </a:solidFill>
                <a:latin typeface="Segoe UI"/>
              </a:rPr>
              <a:t>The hosted-agent runtime terminates TLS and</a:t>
            </a:r>
          </a:p>
          <a:p>
            <a:pPr algn="l">
              <a:spcAft>
                <a:spcPts val="400"/>
              </a:spcAft>
            </a:pPr>
            <a:r>
              <a:rPr sz="1200" b="0" i="0">
                <a:solidFill>
                  <a:srgbClr val="1A202C"/>
                </a:solidFill>
                <a:latin typeface="Segoe UI"/>
              </a:rPr>
              <a:t>injects only FOUNDRY_* env vars. The caller's</a:t>
            </a:r>
          </a:p>
          <a:p>
            <a:pPr algn="l">
              <a:spcAft>
                <a:spcPts val="400"/>
              </a:spcAft>
            </a:pPr>
            <a:r>
              <a:rPr sz="1200" b="0" i="0">
                <a:solidFill>
                  <a:srgbClr val="1A202C"/>
                </a:solidFill>
                <a:latin typeface="Consolas"/>
              </a:rPr>
              <a:t>Authorization bearer never reaches the</a:t>
            </a:r>
          </a:p>
          <a:p>
            <a:pPr algn="l">
              <a:spcAft>
                <a:spcPts val="400"/>
              </a:spcAft>
            </a:pPr>
            <a:r>
              <a:rPr sz="1200" b="0" i="0">
                <a:solidFill>
                  <a:srgbClr val="1A202C"/>
                </a:solidFill>
                <a:latin typeface="Segoe UI"/>
              </a:rPr>
              <a:t>container, so the tool has no assertion to</a:t>
            </a:r>
          </a:p>
          <a:p>
            <a:pPr algn="l">
              <a:spcAft>
                <a:spcPts val="400"/>
              </a:spcAft>
            </a:pPr>
            <a:r>
              <a:rPr sz="1200" b="0" i="0">
                <a:solidFill>
                  <a:srgbClr val="1A202C"/>
                </a:solidFill>
                <a:latin typeface="Consolas"/>
              </a:rPr>
              <a:t>exchange → DefaultAzureCredential() =</a:t>
            </a:r>
          </a:p>
          <a:p>
            <a:pPr algn="l">
              <a:spcAft>
                <a:spcPts val="400"/>
              </a:spcAft>
            </a:pPr>
            <a:r>
              <a:rPr sz="1200" b="0" i="0">
                <a:solidFill>
                  <a:srgbClr val="1A202C"/>
                </a:solidFill>
                <a:latin typeface="Segoe UI"/>
              </a:rPr>
              <a:t>the agent's managed identity.</a:t>
            </a:r>
          </a:p>
        </p:txBody>
      </p:sp>
      <p:sp>
        <p:nvSpPr>
          <p:cNvPr id="11" name="Rounded Rectangle 10"/>
          <p:cNvSpPr/>
          <p:nvPr/>
        </p:nvSpPr>
        <p:spPr>
          <a:xfrm>
            <a:off x="6172200" y="1508760"/>
            <a:ext cx="5349240" cy="2148840"/>
          </a:xfrm>
          <a:prstGeom prst="roundRect">
            <a:avLst>
              <a:gd name="adj" fmla="val 6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72200" y="1508760"/>
            <a:ext cx="5349240" cy="4572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55080" y="1508760"/>
            <a:ext cx="4983479" cy="457200"/>
          </a:xfrm>
          <a:prstGeom prst="rect">
            <a:avLst/>
          </a:prstGeom>
          <a:noFill/>
        </p:spPr>
        <p:txBody>
          <a:bodyPr wrap="square" lIns="0" tIns="0" rIns="0" bIns="0" anchor="ctr">
            <a:spAutoFit/>
          </a:bodyPr>
          <a:lstStyle/>
          <a:p>
            <a:pPr algn="l">
              <a:spcAft>
                <a:spcPts val="400"/>
              </a:spcAft>
            </a:pPr>
            <a:r>
              <a:rPr sz="1400" b="1" i="0">
                <a:solidFill>
                  <a:srgbClr val="FFFFFF"/>
                </a:solidFill>
                <a:latin typeface="Segoe UI"/>
              </a:rPr>
              <a:t>2 · Bot Service yields no user token</a:t>
            </a:r>
          </a:p>
        </p:txBody>
      </p:sp>
      <p:sp>
        <p:nvSpPr>
          <p:cNvPr id="14" name="TextBox 13"/>
          <p:cNvSpPr txBox="1"/>
          <p:nvPr/>
        </p:nvSpPr>
        <p:spPr>
          <a:xfrm>
            <a:off x="6391656" y="2075688"/>
            <a:ext cx="4910327" cy="1508760"/>
          </a:xfrm>
          <a:prstGeom prst="rect">
            <a:avLst/>
          </a:prstGeom>
          <a:noFill/>
        </p:spPr>
        <p:txBody>
          <a:bodyPr wrap="square" lIns="0" tIns="0" rIns="0" bIns="0" anchor="t">
            <a:spAutoFit/>
          </a:bodyPr>
          <a:lstStyle/>
          <a:p>
            <a:pPr algn="l">
              <a:spcAft>
                <a:spcPts val="400"/>
              </a:spcAft>
            </a:pPr>
            <a:r>
              <a:rPr sz="1200" b="0" i="0">
                <a:solidFill>
                  <a:srgbClr val="1A202C"/>
                </a:solidFill>
                <a:latin typeface="Segoe UI"/>
              </a:rPr>
              <a:t>Direct Teams publish authenticates via a</a:t>
            </a:r>
          </a:p>
          <a:p>
            <a:pPr algn="l">
              <a:spcAft>
                <a:spcPts val="400"/>
              </a:spcAft>
            </a:pPr>
            <a:r>
              <a:rPr sz="1200" b="0" i="0">
                <a:solidFill>
                  <a:srgbClr val="1A202C"/>
                </a:solidFill>
                <a:latin typeface="Segoe UI"/>
              </a:rPr>
              <a:t>channel JWT — a channel/authorization</a:t>
            </a:r>
          </a:p>
          <a:p>
            <a:pPr algn="l">
              <a:spcAft>
                <a:spcPts val="400"/>
              </a:spcAft>
            </a:pPr>
            <a:r>
              <a:rPr sz="1200" b="0" i="0">
                <a:solidFill>
                  <a:srgbClr val="1A202C"/>
                </a:solidFill>
                <a:latin typeface="Segoe UI"/>
              </a:rPr>
              <a:t>token, not an Entra user token. Only the</a:t>
            </a:r>
          </a:p>
          <a:p>
            <a:pPr algn="l">
              <a:spcAft>
                <a:spcPts val="400"/>
              </a:spcAft>
            </a:pPr>
            <a:r>
              <a:rPr sz="1200" b="0" i="0">
                <a:solidFill>
                  <a:srgbClr val="1A202C"/>
                </a:solidFill>
                <a:latin typeface="Segoe UI"/>
              </a:rPr>
              <a:t>Entra auth scheme (the proxy path) derives</a:t>
            </a:r>
          </a:p>
          <a:p>
            <a:pPr algn="l">
              <a:spcAft>
                <a:spcPts val="400"/>
              </a:spcAft>
            </a:pPr>
            <a:r>
              <a:rPr sz="1200" b="0" i="0">
                <a:solidFill>
                  <a:srgbClr val="1A202C"/>
                </a:solidFill>
                <a:latin typeface="Segoe UI"/>
              </a:rPr>
              <a:t>an OBO-exchangeable user identity.</a:t>
            </a:r>
          </a:p>
          <a:p>
            <a:pPr algn="l">
              <a:spcAft>
                <a:spcPts val="400"/>
              </a:spcAft>
            </a:pPr>
            <a:r>
              <a:rPr sz="1100" b="0" i="0">
                <a:solidFill>
                  <a:srgbClr val="6B7280"/>
                </a:solidFill>
                <a:latin typeface="Consolas"/>
              </a:rPr>
              <a:t>x-ms-user-identity is an isolation key only.</a:t>
            </a:r>
          </a:p>
        </p:txBody>
      </p:sp>
      <p:sp>
        <p:nvSpPr>
          <p:cNvPr id="15" name="Rounded Rectangle 14"/>
          <p:cNvSpPr/>
          <p:nvPr/>
        </p:nvSpPr>
        <p:spPr>
          <a:xfrm>
            <a:off x="640080" y="3977639"/>
            <a:ext cx="10881360" cy="96012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68680" y="4023360"/>
            <a:ext cx="10424160" cy="868680"/>
          </a:xfrm>
          <a:prstGeom prst="rect">
            <a:avLst/>
          </a:prstGeom>
          <a:noFill/>
        </p:spPr>
        <p:txBody>
          <a:bodyPr wrap="square" lIns="0" tIns="0" rIns="0" bIns="0" anchor="ctr">
            <a:spAutoFit/>
          </a:bodyPr>
          <a:lstStyle/>
          <a:p>
            <a:pPr algn="l">
              <a:spcAft>
                <a:spcPts val="400"/>
              </a:spcAft>
            </a:pPr>
            <a:r>
              <a:rPr sz="1300" b="1" i="0">
                <a:solidFill>
                  <a:srgbClr val="E8A33D"/>
                </a:solidFill>
                <a:latin typeface="Segoe UI"/>
              </a:rPr>
              <a:t>Chain:  </a:t>
            </a:r>
            <a:r>
              <a:rPr sz="1300" b="0" i="0">
                <a:solidFill>
                  <a:srgbClr val="FFFFFF"/>
                </a:solidFill>
                <a:latin typeface="Segoe UI"/>
              </a:rPr>
              <a:t>no OBO on Option A  →  Search runs as the container identity  →  native ACL finds no matching membership  →  0 docs  →  “no entitled research.”</a:t>
            </a:r>
          </a:p>
        </p:txBody>
      </p:sp>
      <p:sp>
        <p:nvSpPr>
          <p:cNvPr id="17" name="TextBox 16"/>
          <p:cNvSpPr txBox="1"/>
          <p:nvPr/>
        </p:nvSpPr>
        <p:spPr>
          <a:xfrm>
            <a:off x="640080" y="5166360"/>
            <a:ext cx="10881360" cy="822960"/>
          </a:xfrm>
          <a:prstGeom prst="rect">
            <a:avLst/>
          </a:prstGeom>
          <a:noFill/>
        </p:spPr>
        <p:txBody>
          <a:bodyPr wrap="square" lIns="0" tIns="0" rIns="0" bIns="0" anchor="t">
            <a:spAutoFit/>
          </a:bodyPr>
          <a:lstStyle/>
          <a:p>
            <a:pPr algn="l">
              <a:spcAft>
                <a:spcPts val="400"/>
              </a:spcAft>
            </a:pPr>
            <a:r>
              <a:rPr sz="1400" b="1" i="0">
                <a:solidFill>
                  <a:srgbClr val="2E75B6"/>
                </a:solidFill>
                <a:latin typeface="Segoe UI"/>
              </a:rPr>
              <a:t>The lesson:  </a:t>
            </a:r>
            <a:r>
              <a:rPr sz="1400" b="0" i="0">
                <a:solidFill>
                  <a:srgbClr val="1A202C"/>
                </a:solidFill>
                <a:latin typeface="Segoe UI"/>
              </a:rPr>
              <a:t>in a document-security-enabled index, an agent that can't flow the user's identity to the tool returns nothing per user. That is exactly the gap </a:t>
            </a:r>
            <a:r>
              <a:rPr sz="1400" b="1" i="0">
                <a:solidFill>
                  <a:srgbClr val="1F9E74"/>
                </a:solidFill>
                <a:latin typeface="Segoe UI"/>
              </a:rPr>
              <a:t>Option B</a:t>
            </a:r>
            <a:r>
              <a:rPr sz="1400" b="0" i="0">
                <a:solidFill>
                  <a:srgbClr val="1A202C"/>
                </a:solidFill>
                <a:latin typeface="Segoe UI"/>
              </a:rPr>
              <a:t> (proxy SSO + OBO) closes.</a:t>
            </a:r>
          </a:p>
        </p:txBody>
      </p:sp>
      <p:sp>
        <p:nvSpPr>
          <p:cNvPr id="18" name="TextBox 17"/>
          <p:cNvSpPr txBox="1"/>
          <p:nvPr/>
        </p:nvSpPr>
        <p:spPr>
          <a:xfrm>
            <a:off x="502920" y="6419088"/>
            <a:ext cx="7315200" cy="274320"/>
          </a:xfrm>
          <a:prstGeom prst="rect">
            <a:avLst/>
          </a:prstGeom>
          <a:noFill/>
        </p:spPr>
        <p:txBody>
          <a:bodyPr wrap="square" lIns="0" tIns="0" rIns="0" bIns="0" anchor="t">
            <a:spAutoFit/>
          </a:bodyPr>
          <a:lstStyle/>
          <a:p>
            <a:pPr algn="l">
              <a:spcAft>
                <a:spcPts val="400"/>
              </a:spcAft>
            </a:pPr>
            <a:r>
              <a:rPr sz="900" b="0" i="0">
                <a:solidFill>
                  <a:srgbClr val="6B7280"/>
                </a:solidFill>
                <a:latin typeface="Segoe UI"/>
              </a:rPr>
              <a:t>One deployed agent · two front doors · Foundry hosted agent on Teams</a:t>
            </a:r>
          </a:p>
        </p:txBody>
      </p:sp>
      <p:sp>
        <p:nvSpPr>
          <p:cNvPr id="19" name="TextBox 18"/>
          <p:cNvSpPr txBox="1"/>
          <p:nvPr/>
        </p:nvSpPr>
        <p:spPr>
          <a:xfrm>
            <a:off x="10881360" y="6419088"/>
            <a:ext cx="822960" cy="274320"/>
          </a:xfrm>
          <a:prstGeom prst="rect">
            <a:avLst/>
          </a:prstGeom>
          <a:noFill/>
        </p:spPr>
        <p:txBody>
          <a:bodyPr wrap="square" lIns="0" tIns="0" rIns="0" bIns="0" anchor="t">
            <a:spAutoFit/>
          </a:bodyPr>
          <a:lstStyle/>
          <a:p>
            <a:pPr algn="r">
              <a:spcAft>
                <a:spcPts val="400"/>
              </a:spcAft>
            </a:pPr>
            <a:r>
              <a:rPr sz="900" b="0" i="0">
                <a:solidFill>
                  <a:srgbClr val="6B7280"/>
                </a:solidFill>
                <a:latin typeface="Segoe UI"/>
              </a:rPr>
              <a:t>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5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170432"/>
            <a:ext cx="12191695" cy="54864"/>
          </a:xfrm>
          <a:prstGeom prst="rect">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274320"/>
            <a:ext cx="128016" cy="603504"/>
          </a:xfrm>
          <a:prstGeom prst="rect">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19456"/>
            <a:ext cx="10789920" cy="310896"/>
          </a:xfrm>
          <a:prstGeom prst="rect">
            <a:avLst/>
          </a:prstGeom>
          <a:noFill/>
        </p:spPr>
        <p:txBody>
          <a:bodyPr wrap="square" lIns="0" tIns="0" rIns="0" bIns="0" anchor="t">
            <a:spAutoFit/>
          </a:bodyPr>
          <a:lstStyle/>
          <a:p>
            <a:pPr algn="l">
              <a:spcAft>
                <a:spcPts val="400"/>
              </a:spcAft>
            </a:pPr>
            <a:r>
              <a:rPr sz="1250" b="0" i="0">
                <a:solidFill>
                  <a:srgbClr val="1F9E74"/>
                </a:solidFill>
                <a:latin typeface="Segoe UI"/>
              </a:rPr>
              <a:t>OPTION B</a:t>
            </a:r>
          </a:p>
        </p:txBody>
      </p:sp>
      <p:sp>
        <p:nvSpPr>
          <p:cNvPr id="6" name="TextBox 5"/>
          <p:cNvSpPr txBox="1"/>
          <p:nvPr/>
        </p:nvSpPr>
        <p:spPr>
          <a:xfrm>
            <a:off x="777240" y="502920"/>
            <a:ext cx="10789920" cy="566928"/>
          </a:xfrm>
          <a:prstGeom prst="rect">
            <a:avLst/>
          </a:prstGeom>
          <a:noFill/>
        </p:spPr>
        <p:txBody>
          <a:bodyPr wrap="square" lIns="0" tIns="0" rIns="0" bIns="0" anchor="t">
            <a:spAutoFit/>
          </a:bodyPr>
          <a:lstStyle/>
          <a:p>
            <a:pPr algn="l">
              <a:spcAft>
                <a:spcPts val="400"/>
              </a:spcAft>
            </a:pPr>
            <a:r>
              <a:rPr sz="2600" b="1" i="0">
                <a:solidFill>
                  <a:srgbClr val="FFFFFF"/>
                </a:solidFill>
                <a:latin typeface="Segoe UI"/>
              </a:rPr>
              <a:t>Custom Engine Agent proxy — per-user OBO</a:t>
            </a:r>
          </a:p>
        </p:txBody>
      </p:sp>
      <p:sp>
        <p:nvSpPr>
          <p:cNvPr id="7" name="TextBox 6"/>
          <p:cNvSpPr txBox="1"/>
          <p:nvPr/>
        </p:nvSpPr>
        <p:spPr>
          <a:xfrm>
            <a:off x="640080" y="1463040"/>
            <a:ext cx="10881360" cy="640080"/>
          </a:xfrm>
          <a:prstGeom prst="rect">
            <a:avLst/>
          </a:prstGeom>
          <a:noFill/>
        </p:spPr>
        <p:txBody>
          <a:bodyPr wrap="square" lIns="0" tIns="0" rIns="0" bIns="0" anchor="t">
            <a:spAutoFit/>
          </a:bodyPr>
          <a:lstStyle/>
          <a:p>
            <a:pPr algn="l">
              <a:spcAft>
                <a:spcPts val="400"/>
              </a:spcAft>
            </a:pPr>
            <a:r>
              <a:rPr sz="1500" b="0" i="0">
                <a:solidFill>
                  <a:srgbClr val="1A202C"/>
                </a:solidFill>
                <a:latin typeface="Segoe UI"/>
              </a:rPr>
              <a:t>A proxy (M365 Agents SDK) is the </a:t>
            </a:r>
            <a:r>
              <a:rPr sz="1500" b="1" i="0">
                <a:solidFill>
                  <a:srgbClr val="1F9E74"/>
                </a:solidFill>
                <a:latin typeface="Segoe UI"/>
              </a:rPr>
              <a:t>trust boundary</a:t>
            </a:r>
            <a:r>
              <a:rPr sz="1500" b="0" i="0">
                <a:solidFill>
                  <a:srgbClr val="1A202C"/>
                </a:solidFill>
                <a:latin typeface="Segoe UI"/>
              </a:rPr>
              <a:t>: Teams SSO → OBO → a per-user Azure AI Search token, so results are trimmed to that user’s entitlements (document-level security).</a:t>
            </a:r>
          </a:p>
        </p:txBody>
      </p:sp>
      <p:sp>
        <p:nvSpPr>
          <p:cNvPr id="8" name="Rounded Rectangle 7"/>
          <p:cNvSpPr/>
          <p:nvPr/>
        </p:nvSpPr>
        <p:spPr>
          <a:xfrm>
            <a:off x="640080" y="2286000"/>
            <a:ext cx="3520440" cy="3566160"/>
          </a:xfrm>
          <a:prstGeom prst="roundRect">
            <a:avLst>
              <a:gd name="adj" fmla="val 6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2286000"/>
            <a:ext cx="3520440" cy="457200"/>
          </a:xfrm>
          <a:prstGeom prst="rect">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59" y="2286000"/>
            <a:ext cx="3154680" cy="457200"/>
          </a:xfrm>
          <a:prstGeom prst="rect">
            <a:avLst/>
          </a:prstGeom>
          <a:noFill/>
        </p:spPr>
        <p:txBody>
          <a:bodyPr wrap="square" lIns="0" tIns="0" rIns="0" bIns="0" anchor="ctr">
            <a:spAutoFit/>
          </a:bodyPr>
          <a:lstStyle/>
          <a:p>
            <a:pPr algn="l">
              <a:spcAft>
                <a:spcPts val="400"/>
              </a:spcAft>
            </a:pPr>
            <a:r>
              <a:rPr sz="1400" b="1" i="0">
                <a:solidFill>
                  <a:srgbClr val="FFFFFF"/>
                </a:solidFill>
                <a:latin typeface="Segoe UI"/>
              </a:rPr>
              <a:t>How it works</a:t>
            </a:r>
          </a:p>
        </p:txBody>
      </p:sp>
      <p:sp>
        <p:nvSpPr>
          <p:cNvPr id="11" name="TextBox 10"/>
          <p:cNvSpPr txBox="1"/>
          <p:nvPr/>
        </p:nvSpPr>
        <p:spPr>
          <a:xfrm>
            <a:off x="859536" y="2852928"/>
            <a:ext cx="3081528" cy="2926080"/>
          </a:xfrm>
          <a:prstGeom prst="rect">
            <a:avLst/>
          </a:prstGeom>
          <a:noFill/>
        </p:spPr>
        <p:txBody>
          <a:bodyPr wrap="square" lIns="0" tIns="0" rIns="0" bIns="0" anchor="t">
            <a:spAutoFit/>
          </a:bodyPr>
          <a:lstStyle/>
          <a:p>
            <a:pPr algn="l">
              <a:spcAft>
                <a:spcPts val="400"/>
              </a:spcAft>
            </a:pPr>
            <a:r>
              <a:rPr sz="1250" b="0" i="0">
                <a:solidFill>
                  <a:srgbClr val="1A202C"/>
                </a:solidFill>
                <a:latin typeface="Segoe UI"/>
              </a:rPr>
              <a:t>• Teams SSO signs the user in</a:t>
            </a:r>
          </a:p>
          <a:p>
            <a:pPr algn="l">
              <a:spcAft>
                <a:spcPts val="400"/>
              </a:spcAft>
            </a:pPr>
            <a:r>
              <a:rPr sz="1250" b="0" i="0">
                <a:solidFill>
                  <a:srgbClr val="1A202C"/>
                </a:solidFill>
                <a:latin typeface="Segoe UI"/>
              </a:rPr>
              <a:t>• Proxy exchanges the token OBO for</a:t>
            </a:r>
          </a:p>
          <a:p>
            <a:pPr algn="l">
              <a:spcAft>
                <a:spcPts val="400"/>
              </a:spcAft>
            </a:pPr>
            <a:r>
              <a:rPr sz="1250" b="0" i="0">
                <a:solidFill>
                  <a:srgbClr val="1A202C"/>
                </a:solidFill>
                <a:latin typeface="Consolas"/>
              </a:rPr>
              <a:t>   a search.azure.com token</a:t>
            </a:r>
          </a:p>
          <a:p>
            <a:pPr algn="l">
              <a:spcAft>
                <a:spcPts val="400"/>
              </a:spcAft>
            </a:pPr>
            <a:r>
              <a:rPr sz="1250" b="0" i="0">
                <a:solidFill>
                  <a:srgbClr val="1A202C"/>
                </a:solidFill>
                <a:latin typeface="Segoe UI"/>
              </a:rPr>
              <a:t>• Forwards it to the backend via</a:t>
            </a:r>
          </a:p>
          <a:p>
            <a:pPr algn="l">
              <a:spcAft>
                <a:spcPts val="400"/>
              </a:spcAft>
            </a:pPr>
            <a:r>
              <a:rPr sz="1100" b="0" i="0">
                <a:solidFill>
                  <a:srgbClr val="1A202C"/>
                </a:solidFill>
                <a:latin typeface="Consolas"/>
              </a:rPr>
              <a:t>   x-ms-query-source-authorization</a:t>
            </a:r>
          </a:p>
          <a:p>
            <a:pPr algn="l">
              <a:spcAft>
                <a:spcPts val="400"/>
              </a:spcAft>
            </a:pPr>
            <a:r>
              <a:rPr sz="1250" b="0" i="0">
                <a:solidFill>
                  <a:srgbClr val="1A202C"/>
                </a:solidFill>
                <a:latin typeface="Segoe UI"/>
              </a:rPr>
              <a:t>• Backend runs per-user Search</a:t>
            </a:r>
          </a:p>
          <a:p>
            <a:pPr algn="l">
              <a:spcAft>
                <a:spcPts val="400"/>
              </a:spcAft>
            </a:pPr>
            <a:r>
              <a:rPr sz="600" b="0" i="0">
                <a:solidFill>
                  <a:srgbClr val="1A202C"/>
                </a:solidFill>
                <a:latin typeface="Segoe UI"/>
              </a:rPr>
              <a:t> </a:t>
            </a:r>
          </a:p>
          <a:p>
            <a:pPr algn="l">
              <a:spcAft>
                <a:spcPts val="400"/>
              </a:spcAft>
            </a:pPr>
            <a:r>
              <a:rPr sz="1250" b="1" i="0">
                <a:solidFill>
                  <a:srgbClr val="1F9E74"/>
                </a:solidFill>
                <a:latin typeface="Segoe UI"/>
              </a:rPr>
              <a:t>Availability: GA tooling</a:t>
            </a:r>
          </a:p>
        </p:txBody>
      </p:sp>
      <p:sp>
        <p:nvSpPr>
          <p:cNvPr id="12" name="Rounded Rectangle 11"/>
          <p:cNvSpPr/>
          <p:nvPr/>
        </p:nvSpPr>
        <p:spPr>
          <a:xfrm>
            <a:off x="4343400" y="2286000"/>
            <a:ext cx="3520440" cy="3566160"/>
          </a:xfrm>
          <a:prstGeom prst="roundRect">
            <a:avLst>
              <a:gd name="adj" fmla="val 6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43400" y="2286000"/>
            <a:ext cx="3520440" cy="4572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26280" y="2286000"/>
            <a:ext cx="3154680" cy="457200"/>
          </a:xfrm>
          <a:prstGeom prst="rect">
            <a:avLst/>
          </a:prstGeom>
          <a:noFill/>
        </p:spPr>
        <p:txBody>
          <a:bodyPr wrap="square" lIns="0" tIns="0" rIns="0" bIns="0" anchor="ctr">
            <a:spAutoFit/>
          </a:bodyPr>
          <a:lstStyle/>
          <a:p>
            <a:pPr algn="l">
              <a:spcAft>
                <a:spcPts val="400"/>
              </a:spcAft>
            </a:pPr>
            <a:r>
              <a:rPr sz="1400" b="1" i="0">
                <a:solidFill>
                  <a:srgbClr val="FFFFFF"/>
                </a:solidFill>
                <a:latin typeface="Segoe UI"/>
              </a:rPr>
              <a:t>Strengths</a:t>
            </a:r>
          </a:p>
        </p:txBody>
      </p:sp>
      <p:sp>
        <p:nvSpPr>
          <p:cNvPr id="15" name="TextBox 14"/>
          <p:cNvSpPr txBox="1"/>
          <p:nvPr/>
        </p:nvSpPr>
        <p:spPr>
          <a:xfrm>
            <a:off x="4562856" y="2852928"/>
            <a:ext cx="3081528" cy="2926080"/>
          </a:xfrm>
          <a:prstGeom prst="rect">
            <a:avLst/>
          </a:prstGeom>
          <a:noFill/>
        </p:spPr>
        <p:txBody>
          <a:bodyPr wrap="square" lIns="0" tIns="0" rIns="0" bIns="0" anchor="t">
            <a:spAutoFit/>
          </a:bodyPr>
          <a:lstStyle/>
          <a:p>
            <a:pPr algn="l">
              <a:spcAft>
                <a:spcPts val="400"/>
              </a:spcAft>
            </a:pPr>
            <a:r>
              <a:rPr sz="1250" b="0" i="0">
                <a:solidFill>
                  <a:srgbClr val="1F9E74"/>
                </a:solidFill>
                <a:latin typeface="Segoe UI"/>
              </a:rPr>
              <a:t>✓ Real per-user doc trimming</a:t>
            </a:r>
          </a:p>
          <a:p>
            <a:pPr algn="l">
              <a:spcAft>
                <a:spcPts val="400"/>
              </a:spcAft>
            </a:pPr>
            <a:r>
              <a:rPr sz="1250" b="0" i="0">
                <a:solidFill>
                  <a:srgbClr val="1F9E74"/>
                </a:solidFill>
                <a:latin typeface="Segoe UI"/>
              </a:rPr>
              <a:t>✓ OBO to downstream as the user</a:t>
            </a:r>
          </a:p>
          <a:p>
            <a:pPr algn="l">
              <a:spcAft>
                <a:spcPts val="400"/>
              </a:spcAft>
            </a:pPr>
            <a:r>
              <a:rPr sz="1250" b="0" i="0">
                <a:solidFill>
                  <a:srgbClr val="1F9E74"/>
                </a:solidFill>
                <a:latin typeface="Segoe UI"/>
              </a:rPr>
              <a:t>✓ Adaptive Cards, buttons, HITL</a:t>
            </a:r>
          </a:p>
          <a:p>
            <a:pPr algn="l">
              <a:spcAft>
                <a:spcPts val="400"/>
              </a:spcAft>
            </a:pPr>
            <a:r>
              <a:rPr sz="1250" b="0" i="0">
                <a:solidFill>
                  <a:srgbClr val="1F9E74"/>
                </a:solidFill>
                <a:latin typeface="Segoe UI"/>
              </a:rPr>
              <a:t>✓ Full control of Teams UX</a:t>
            </a:r>
          </a:p>
          <a:p>
            <a:pPr algn="l">
              <a:spcAft>
                <a:spcPts val="400"/>
              </a:spcAft>
            </a:pPr>
            <a:r>
              <a:rPr sz="1250" b="0" i="0">
                <a:solidFill>
                  <a:srgbClr val="1F9E74"/>
                </a:solidFill>
                <a:latin typeface="Segoe UI"/>
              </a:rPr>
              <a:t>✓ Multi-channel (Teams, Web, +)</a:t>
            </a:r>
          </a:p>
          <a:p>
            <a:pPr algn="l">
              <a:spcAft>
                <a:spcPts val="400"/>
              </a:spcAft>
            </a:pPr>
            <a:r>
              <a:rPr sz="1250" b="0" i="0">
                <a:solidFill>
                  <a:srgbClr val="1F9E74"/>
                </a:solidFill>
                <a:latin typeface="Segoe UI"/>
              </a:rPr>
              <a:t>✓ Built-in SSO + CI/CD templates</a:t>
            </a:r>
          </a:p>
        </p:txBody>
      </p:sp>
      <p:sp>
        <p:nvSpPr>
          <p:cNvPr id="16" name="Rounded Rectangle 15"/>
          <p:cNvSpPr/>
          <p:nvPr/>
        </p:nvSpPr>
        <p:spPr>
          <a:xfrm>
            <a:off x="8001000" y="2286000"/>
            <a:ext cx="3520440" cy="3566160"/>
          </a:xfrm>
          <a:prstGeom prst="roundRect">
            <a:avLst>
              <a:gd name="adj" fmla="val 6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01000" y="2286000"/>
            <a:ext cx="3520440" cy="4572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183879" y="2286000"/>
            <a:ext cx="3154680" cy="457200"/>
          </a:xfrm>
          <a:prstGeom prst="rect">
            <a:avLst/>
          </a:prstGeom>
          <a:noFill/>
        </p:spPr>
        <p:txBody>
          <a:bodyPr wrap="square" lIns="0" tIns="0" rIns="0" bIns="0" anchor="ctr">
            <a:spAutoFit/>
          </a:bodyPr>
          <a:lstStyle/>
          <a:p>
            <a:pPr algn="l">
              <a:spcAft>
                <a:spcPts val="400"/>
              </a:spcAft>
            </a:pPr>
            <a:r>
              <a:rPr sz="1400" b="1" i="0">
                <a:solidFill>
                  <a:srgbClr val="FFFFFF"/>
                </a:solidFill>
                <a:latin typeface="Segoe UI"/>
              </a:rPr>
              <a:t>Costs</a:t>
            </a:r>
          </a:p>
        </p:txBody>
      </p:sp>
      <p:sp>
        <p:nvSpPr>
          <p:cNvPr id="19" name="TextBox 18"/>
          <p:cNvSpPr txBox="1"/>
          <p:nvPr/>
        </p:nvSpPr>
        <p:spPr>
          <a:xfrm>
            <a:off x="8220456" y="2852928"/>
            <a:ext cx="3081528" cy="2926080"/>
          </a:xfrm>
          <a:prstGeom prst="rect">
            <a:avLst/>
          </a:prstGeom>
          <a:noFill/>
        </p:spPr>
        <p:txBody>
          <a:bodyPr wrap="square" lIns="0" tIns="0" rIns="0" bIns="0" anchor="t">
            <a:spAutoFit/>
          </a:bodyPr>
          <a:lstStyle/>
          <a:p>
            <a:pPr algn="l">
              <a:spcAft>
                <a:spcPts val="400"/>
              </a:spcAft>
            </a:pPr>
            <a:r>
              <a:rPr sz="1250" b="0" i="0">
                <a:solidFill>
                  <a:srgbClr val="C03B3B"/>
                </a:solidFill>
                <a:latin typeface="Segoe UI"/>
              </a:rPr>
              <a:t>✗ Build + host a proxy app</a:t>
            </a:r>
          </a:p>
          <a:p>
            <a:pPr algn="l">
              <a:spcAft>
                <a:spcPts val="400"/>
              </a:spcAft>
            </a:pPr>
            <a:r>
              <a:rPr sz="1250" b="0" i="0">
                <a:solidFill>
                  <a:srgbClr val="C03B3B"/>
                </a:solidFill>
                <a:latin typeface="Segoe UI"/>
              </a:rPr>
              <a:t>✗ Two hops to trace (bot + agent)</a:t>
            </a:r>
          </a:p>
          <a:p>
            <a:pPr algn="l">
              <a:spcAft>
                <a:spcPts val="400"/>
              </a:spcAft>
            </a:pPr>
            <a:r>
              <a:rPr sz="1250" b="0" i="0">
                <a:solidFill>
                  <a:srgbClr val="C03B3B"/>
                </a:solidFill>
                <a:latin typeface="Segoe UI"/>
              </a:rPr>
              <a:t>✗ No GCC / Government publish</a:t>
            </a:r>
          </a:p>
          <a:p>
            <a:pPr algn="l">
              <a:spcAft>
                <a:spcPts val="400"/>
              </a:spcAft>
            </a:pPr>
            <a:r>
              <a:rPr sz="1250" b="0" i="0">
                <a:solidFill>
                  <a:srgbClr val="C03B3B"/>
                </a:solidFill>
                <a:latin typeface="Segoe UI"/>
              </a:rPr>
              <a:t>✗ JS/TS today (Python planned)</a:t>
            </a:r>
          </a:p>
          <a:p>
            <a:pPr algn="l">
              <a:spcAft>
                <a:spcPts val="400"/>
              </a:spcAft>
            </a:pPr>
            <a:r>
              <a:rPr sz="600" b="0" i="0">
                <a:solidFill>
                  <a:srgbClr val="1A202C"/>
                </a:solidFill>
                <a:latin typeface="Segoe UI"/>
              </a:rPr>
              <a:t> </a:t>
            </a:r>
          </a:p>
          <a:p>
            <a:pPr algn="l">
              <a:spcAft>
                <a:spcPts val="400"/>
              </a:spcAft>
            </a:pPr>
            <a:r>
              <a:rPr sz="1250" b="1" i="0">
                <a:solidFill>
                  <a:srgbClr val="E8A33D"/>
                </a:solidFill>
                <a:latin typeface="Segoe UI"/>
              </a:rPr>
              <a:t>Best for: regulated data, per-user</a:t>
            </a:r>
          </a:p>
          <a:p>
            <a:pPr algn="l">
              <a:spcAft>
                <a:spcPts val="400"/>
              </a:spcAft>
            </a:pPr>
            <a:r>
              <a:rPr sz="1250" b="0" i="0">
                <a:solidFill>
                  <a:srgbClr val="E8A33D"/>
                </a:solidFill>
                <a:latin typeface="Segoe UI"/>
              </a:rPr>
              <a:t>security, rich UX, custom SSO/OBO.</a:t>
            </a:r>
          </a:p>
        </p:txBody>
      </p:sp>
      <p:sp>
        <p:nvSpPr>
          <p:cNvPr id="20" name="TextBox 19"/>
          <p:cNvSpPr txBox="1"/>
          <p:nvPr/>
        </p:nvSpPr>
        <p:spPr>
          <a:xfrm>
            <a:off x="502920" y="6419088"/>
            <a:ext cx="7315200" cy="274320"/>
          </a:xfrm>
          <a:prstGeom prst="rect">
            <a:avLst/>
          </a:prstGeom>
          <a:noFill/>
        </p:spPr>
        <p:txBody>
          <a:bodyPr wrap="square" lIns="0" tIns="0" rIns="0" bIns="0" anchor="t">
            <a:spAutoFit/>
          </a:bodyPr>
          <a:lstStyle/>
          <a:p>
            <a:pPr algn="l">
              <a:spcAft>
                <a:spcPts val="400"/>
              </a:spcAft>
            </a:pPr>
            <a:r>
              <a:rPr sz="900" b="0" i="0">
                <a:solidFill>
                  <a:srgbClr val="6B7280"/>
                </a:solidFill>
                <a:latin typeface="Segoe UI"/>
              </a:rPr>
              <a:t>One deployed agent · two front doors · Foundry hosted agent on Teams</a:t>
            </a:r>
          </a:p>
        </p:txBody>
      </p:sp>
      <p:sp>
        <p:nvSpPr>
          <p:cNvPr id="21" name="TextBox 20"/>
          <p:cNvSpPr txBox="1"/>
          <p:nvPr/>
        </p:nvSpPr>
        <p:spPr>
          <a:xfrm>
            <a:off x="10881360" y="6419088"/>
            <a:ext cx="822960" cy="274320"/>
          </a:xfrm>
          <a:prstGeom prst="rect">
            <a:avLst/>
          </a:prstGeom>
          <a:noFill/>
        </p:spPr>
        <p:txBody>
          <a:bodyPr wrap="square" lIns="0" tIns="0" rIns="0" bIns="0" anchor="t">
            <a:spAutoFit/>
          </a:bodyPr>
          <a:lstStyle/>
          <a:p>
            <a:pPr algn="r">
              <a:spcAft>
                <a:spcPts val="400"/>
              </a:spcAft>
            </a:pPr>
            <a:r>
              <a:rPr sz="900" b="0" i="0">
                <a:solidFill>
                  <a:srgbClr val="6B7280"/>
                </a:solidFill>
                <a:latin typeface="Segoe UI"/>
              </a:rPr>
              <a:t>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5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170432"/>
            <a:ext cx="12191695" cy="54864"/>
          </a:xfrm>
          <a:prstGeom prst="rect">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274320"/>
            <a:ext cx="128016" cy="603504"/>
          </a:xfrm>
          <a:prstGeom prst="rect">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19456"/>
            <a:ext cx="10789920" cy="310896"/>
          </a:xfrm>
          <a:prstGeom prst="rect">
            <a:avLst/>
          </a:prstGeom>
          <a:noFill/>
        </p:spPr>
        <p:txBody>
          <a:bodyPr wrap="square" lIns="0" tIns="0" rIns="0" bIns="0" anchor="t">
            <a:spAutoFit/>
          </a:bodyPr>
          <a:lstStyle/>
          <a:p>
            <a:pPr algn="l">
              <a:spcAft>
                <a:spcPts val="400"/>
              </a:spcAft>
            </a:pPr>
            <a:r>
              <a:rPr sz="1250" b="0" i="0">
                <a:solidFill>
                  <a:srgbClr val="1F9E74"/>
                </a:solidFill>
                <a:latin typeface="Segoe UI"/>
              </a:rPr>
              <a:t>OPTION B · END-TO-END</a:t>
            </a:r>
          </a:p>
        </p:txBody>
      </p:sp>
      <p:sp>
        <p:nvSpPr>
          <p:cNvPr id="6" name="TextBox 5"/>
          <p:cNvSpPr txBox="1"/>
          <p:nvPr/>
        </p:nvSpPr>
        <p:spPr>
          <a:xfrm>
            <a:off x="777240" y="502920"/>
            <a:ext cx="10789920" cy="566928"/>
          </a:xfrm>
          <a:prstGeom prst="rect">
            <a:avLst/>
          </a:prstGeom>
          <a:noFill/>
        </p:spPr>
        <p:txBody>
          <a:bodyPr wrap="square" lIns="0" tIns="0" rIns="0" bIns="0" anchor="t">
            <a:spAutoFit/>
          </a:bodyPr>
          <a:lstStyle/>
          <a:p>
            <a:pPr algn="l">
              <a:spcAft>
                <a:spcPts val="400"/>
              </a:spcAft>
            </a:pPr>
            <a:r>
              <a:rPr sz="2600" b="1" i="0">
                <a:solidFill>
                  <a:srgbClr val="FFFFFF"/>
                </a:solidFill>
                <a:latin typeface="Segoe UI"/>
              </a:rPr>
              <a:t>Teams client — per-user OBO</a:t>
            </a:r>
          </a:p>
        </p:txBody>
      </p:sp>
      <p:sp>
        <p:nvSpPr>
          <p:cNvPr id="7" name="Rounded Rectangle 6"/>
          <p:cNvSpPr/>
          <p:nvPr/>
        </p:nvSpPr>
        <p:spPr>
          <a:xfrm>
            <a:off x="640080" y="1481328"/>
            <a:ext cx="457200" cy="548640"/>
          </a:xfrm>
          <a:prstGeom prst="roundRect">
            <a:avLst>
              <a:gd name="adj" fmla="val 35000"/>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481328"/>
            <a:ext cx="457200" cy="548640"/>
          </a:xfrm>
          <a:prstGeom prst="rect">
            <a:avLst/>
          </a:prstGeom>
          <a:noFill/>
        </p:spPr>
        <p:txBody>
          <a:bodyPr wrap="square" lIns="0" tIns="0" rIns="0" bIns="0" anchor="ctr">
            <a:spAutoFit/>
          </a:bodyPr>
          <a:lstStyle/>
          <a:p>
            <a:pPr algn="ctr">
              <a:spcAft>
                <a:spcPts val="400"/>
              </a:spcAft>
            </a:pPr>
            <a:r>
              <a:rPr sz="1500" b="1" i="0">
                <a:solidFill>
                  <a:srgbClr val="FFFFFF"/>
                </a:solidFill>
                <a:latin typeface="Segoe UI"/>
              </a:rPr>
              <a:t>1</a:t>
            </a:r>
          </a:p>
        </p:txBody>
      </p:sp>
      <p:sp>
        <p:nvSpPr>
          <p:cNvPr id="9" name="Rounded Rectangle 8"/>
          <p:cNvSpPr/>
          <p:nvPr/>
        </p:nvSpPr>
        <p:spPr>
          <a:xfrm>
            <a:off x="1188719" y="1481328"/>
            <a:ext cx="6355080" cy="548640"/>
          </a:xfrm>
          <a:prstGeom prst="roundRect">
            <a:avLst>
              <a:gd name="adj" fmla="val 12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88719" y="1481328"/>
            <a:ext cx="73152" cy="548640"/>
          </a:xfrm>
          <a:prstGeom prst="rect">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89888" y="1508760"/>
            <a:ext cx="6035040" cy="493776"/>
          </a:xfrm>
          <a:prstGeom prst="rect">
            <a:avLst/>
          </a:prstGeom>
          <a:noFill/>
        </p:spPr>
        <p:txBody>
          <a:bodyPr wrap="square" lIns="0" tIns="0" rIns="0" bIns="0" anchor="ctr">
            <a:spAutoFit/>
          </a:bodyPr>
          <a:lstStyle/>
          <a:p>
            <a:pPr algn="l">
              <a:spcAft>
                <a:spcPts val="400"/>
              </a:spcAft>
            </a:pPr>
            <a:r>
              <a:rPr sz="1250" b="1" i="0">
                <a:solidFill>
                  <a:srgbClr val="1F9E74"/>
                </a:solidFill>
                <a:latin typeface="Segoe UI"/>
              </a:rPr>
              <a:t>Teams user  </a:t>
            </a:r>
          </a:p>
          <a:p>
            <a:pPr algn="l">
              <a:spcAft>
                <a:spcPts val="400"/>
              </a:spcAft>
            </a:pPr>
            <a:r>
              <a:rPr sz="1100" b="0" i="0">
                <a:solidFill>
                  <a:srgbClr val="1A202C"/>
                </a:solidFill>
                <a:latin typeface="Segoe UI"/>
              </a:rPr>
              <a:t>Asks a research question → Activity to the CEA proxy</a:t>
            </a:r>
          </a:p>
        </p:txBody>
      </p:sp>
      <p:sp>
        <p:nvSpPr>
          <p:cNvPr id="12" name="Rounded Rectangle 11"/>
          <p:cNvSpPr/>
          <p:nvPr/>
        </p:nvSpPr>
        <p:spPr>
          <a:xfrm>
            <a:off x="640080" y="2130552"/>
            <a:ext cx="457200" cy="548640"/>
          </a:xfrm>
          <a:prstGeom prst="roundRect">
            <a:avLst>
              <a:gd name="adj" fmla="val 35000"/>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2130552"/>
            <a:ext cx="457200" cy="548640"/>
          </a:xfrm>
          <a:prstGeom prst="rect">
            <a:avLst/>
          </a:prstGeom>
          <a:noFill/>
        </p:spPr>
        <p:txBody>
          <a:bodyPr wrap="square" lIns="0" tIns="0" rIns="0" bIns="0" anchor="ctr">
            <a:spAutoFit/>
          </a:bodyPr>
          <a:lstStyle/>
          <a:p>
            <a:pPr algn="ctr">
              <a:spcAft>
                <a:spcPts val="400"/>
              </a:spcAft>
            </a:pPr>
            <a:r>
              <a:rPr sz="1500" b="1" i="0">
                <a:solidFill>
                  <a:srgbClr val="FFFFFF"/>
                </a:solidFill>
                <a:latin typeface="Segoe UI"/>
              </a:rPr>
              <a:t>2</a:t>
            </a:r>
          </a:p>
        </p:txBody>
      </p:sp>
      <p:sp>
        <p:nvSpPr>
          <p:cNvPr id="14" name="Rounded Rectangle 13"/>
          <p:cNvSpPr/>
          <p:nvPr/>
        </p:nvSpPr>
        <p:spPr>
          <a:xfrm>
            <a:off x="1188719" y="2130552"/>
            <a:ext cx="6355080" cy="548640"/>
          </a:xfrm>
          <a:prstGeom prst="roundRect">
            <a:avLst>
              <a:gd name="adj" fmla="val 12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88719" y="2130552"/>
            <a:ext cx="73152" cy="548640"/>
          </a:xfrm>
          <a:prstGeom prst="rect">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89888" y="2157984"/>
            <a:ext cx="6035040" cy="493776"/>
          </a:xfrm>
          <a:prstGeom prst="rect">
            <a:avLst/>
          </a:prstGeom>
          <a:noFill/>
        </p:spPr>
        <p:txBody>
          <a:bodyPr wrap="square" lIns="0" tIns="0" rIns="0" bIns="0" anchor="ctr">
            <a:spAutoFit/>
          </a:bodyPr>
          <a:lstStyle/>
          <a:p>
            <a:pPr algn="l">
              <a:spcAft>
                <a:spcPts val="400"/>
              </a:spcAft>
            </a:pPr>
            <a:r>
              <a:rPr sz="1250" b="1" i="0">
                <a:solidFill>
                  <a:srgbClr val="1F9E74"/>
                </a:solidFill>
                <a:latin typeface="Segoe UI"/>
              </a:rPr>
              <a:t>Teams SSO  </a:t>
            </a:r>
          </a:p>
          <a:p>
            <a:pPr algn="l">
              <a:spcAft>
                <a:spcPts val="400"/>
              </a:spcAft>
            </a:pPr>
            <a:r>
              <a:rPr sz="1100" b="0" i="0">
                <a:solidFill>
                  <a:srgbClr val="1A202C"/>
                </a:solidFill>
                <a:latin typeface="Segoe UI"/>
              </a:rPr>
              <a:t>Silent sign-in, aud = api://botid-{clientId}</a:t>
            </a:r>
          </a:p>
        </p:txBody>
      </p:sp>
      <p:sp>
        <p:nvSpPr>
          <p:cNvPr id="17" name="Rounded Rectangle 16"/>
          <p:cNvSpPr/>
          <p:nvPr/>
        </p:nvSpPr>
        <p:spPr>
          <a:xfrm>
            <a:off x="640080" y="2779776"/>
            <a:ext cx="457200" cy="548640"/>
          </a:xfrm>
          <a:prstGeom prst="roundRect">
            <a:avLst>
              <a:gd name="adj" fmla="val 35000"/>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2779776"/>
            <a:ext cx="457200" cy="548640"/>
          </a:xfrm>
          <a:prstGeom prst="rect">
            <a:avLst/>
          </a:prstGeom>
          <a:noFill/>
        </p:spPr>
        <p:txBody>
          <a:bodyPr wrap="square" lIns="0" tIns="0" rIns="0" bIns="0" anchor="ctr">
            <a:spAutoFit/>
          </a:bodyPr>
          <a:lstStyle/>
          <a:p>
            <a:pPr algn="ctr">
              <a:spcAft>
                <a:spcPts val="400"/>
              </a:spcAft>
            </a:pPr>
            <a:r>
              <a:rPr sz="1500" b="1" i="0">
                <a:solidFill>
                  <a:srgbClr val="FFFFFF"/>
                </a:solidFill>
                <a:latin typeface="Segoe UI"/>
              </a:rPr>
              <a:t>3</a:t>
            </a:r>
          </a:p>
        </p:txBody>
      </p:sp>
      <p:sp>
        <p:nvSpPr>
          <p:cNvPr id="19" name="Rounded Rectangle 18"/>
          <p:cNvSpPr/>
          <p:nvPr/>
        </p:nvSpPr>
        <p:spPr>
          <a:xfrm>
            <a:off x="1188719" y="2779776"/>
            <a:ext cx="6355080" cy="548640"/>
          </a:xfrm>
          <a:prstGeom prst="roundRect">
            <a:avLst>
              <a:gd name="adj" fmla="val 12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188719" y="2779776"/>
            <a:ext cx="73152" cy="548640"/>
          </a:xfrm>
          <a:prstGeom prst="rect">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389888" y="2807208"/>
            <a:ext cx="6035040" cy="493776"/>
          </a:xfrm>
          <a:prstGeom prst="rect">
            <a:avLst/>
          </a:prstGeom>
          <a:noFill/>
        </p:spPr>
        <p:txBody>
          <a:bodyPr wrap="square" lIns="0" tIns="0" rIns="0" bIns="0" anchor="ctr">
            <a:spAutoFit/>
          </a:bodyPr>
          <a:lstStyle/>
          <a:p>
            <a:pPr algn="l">
              <a:spcAft>
                <a:spcPts val="400"/>
              </a:spcAft>
            </a:pPr>
            <a:r>
              <a:rPr sz="1250" b="1" i="0" dirty="0">
                <a:solidFill>
                  <a:srgbClr val="1F9E74"/>
                </a:solidFill>
                <a:latin typeface="Segoe UI"/>
              </a:rPr>
              <a:t>Bot Service  </a:t>
            </a:r>
          </a:p>
          <a:p>
            <a:pPr algn="l">
              <a:spcAft>
                <a:spcPts val="400"/>
              </a:spcAft>
            </a:pPr>
            <a:r>
              <a:rPr sz="1100" b="0" i="0" dirty="0" err="1">
                <a:solidFill>
                  <a:srgbClr val="1A202C"/>
                </a:solidFill>
                <a:latin typeface="Segoe UI"/>
              </a:rPr>
              <a:t>getToken</a:t>
            </a:r>
            <a:r>
              <a:rPr sz="1100" b="0" i="0" dirty="0">
                <a:solidFill>
                  <a:srgbClr val="1A202C"/>
                </a:solidFill>
                <a:latin typeface="Segoe UI"/>
              </a:rPr>
              <a:t> → user token (app's own identity)</a:t>
            </a:r>
          </a:p>
        </p:txBody>
      </p:sp>
      <p:sp>
        <p:nvSpPr>
          <p:cNvPr id="22" name="Rounded Rectangle 21"/>
          <p:cNvSpPr/>
          <p:nvPr/>
        </p:nvSpPr>
        <p:spPr>
          <a:xfrm>
            <a:off x="640080" y="3429000"/>
            <a:ext cx="457200" cy="548640"/>
          </a:xfrm>
          <a:prstGeom prst="roundRect">
            <a:avLst>
              <a:gd name="adj" fmla="val 35000"/>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 y="3429000"/>
            <a:ext cx="457200" cy="548640"/>
          </a:xfrm>
          <a:prstGeom prst="rect">
            <a:avLst/>
          </a:prstGeom>
          <a:noFill/>
        </p:spPr>
        <p:txBody>
          <a:bodyPr wrap="square" lIns="0" tIns="0" rIns="0" bIns="0" anchor="ctr">
            <a:spAutoFit/>
          </a:bodyPr>
          <a:lstStyle/>
          <a:p>
            <a:pPr algn="ctr">
              <a:spcAft>
                <a:spcPts val="400"/>
              </a:spcAft>
            </a:pPr>
            <a:r>
              <a:rPr sz="1500" b="1" i="0">
                <a:solidFill>
                  <a:srgbClr val="FFFFFF"/>
                </a:solidFill>
                <a:latin typeface="Segoe UI"/>
              </a:rPr>
              <a:t>4</a:t>
            </a:r>
          </a:p>
        </p:txBody>
      </p:sp>
      <p:sp>
        <p:nvSpPr>
          <p:cNvPr id="24" name="Rounded Rectangle 23"/>
          <p:cNvSpPr/>
          <p:nvPr/>
        </p:nvSpPr>
        <p:spPr>
          <a:xfrm>
            <a:off x="1188719" y="3429000"/>
            <a:ext cx="6355080" cy="548640"/>
          </a:xfrm>
          <a:prstGeom prst="roundRect">
            <a:avLst>
              <a:gd name="adj" fmla="val 12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188719" y="3429000"/>
            <a:ext cx="73152" cy="548640"/>
          </a:xfrm>
          <a:prstGeom prst="rect">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389888" y="3456432"/>
            <a:ext cx="6035040" cy="493776"/>
          </a:xfrm>
          <a:prstGeom prst="rect">
            <a:avLst/>
          </a:prstGeom>
          <a:noFill/>
        </p:spPr>
        <p:txBody>
          <a:bodyPr wrap="square" lIns="0" tIns="0" rIns="0" bIns="0" anchor="ctr">
            <a:spAutoFit/>
          </a:bodyPr>
          <a:lstStyle/>
          <a:p>
            <a:pPr algn="l">
              <a:spcAft>
                <a:spcPts val="400"/>
              </a:spcAft>
            </a:pPr>
            <a:r>
              <a:rPr sz="1250" b="1" i="0" dirty="0">
                <a:solidFill>
                  <a:srgbClr val="1F9E74"/>
                </a:solidFill>
                <a:latin typeface="Segoe UI"/>
              </a:rPr>
              <a:t>CEA proxy  </a:t>
            </a:r>
          </a:p>
          <a:p>
            <a:pPr algn="l">
              <a:spcAft>
                <a:spcPts val="400"/>
              </a:spcAft>
            </a:pPr>
            <a:r>
              <a:rPr sz="1100" b="0" i="0" dirty="0" err="1">
                <a:solidFill>
                  <a:srgbClr val="1A202C"/>
                </a:solidFill>
                <a:latin typeface="Segoe UI"/>
              </a:rPr>
              <a:t>exchangeToken</a:t>
            </a:r>
            <a:r>
              <a:rPr sz="1100" b="0" i="0" dirty="0">
                <a:solidFill>
                  <a:srgbClr val="1A202C"/>
                </a:solidFill>
                <a:latin typeface="Segoe UI"/>
              </a:rPr>
              <a:t> OBO → Azure AI Search token (this user)</a:t>
            </a:r>
          </a:p>
        </p:txBody>
      </p:sp>
      <p:sp>
        <p:nvSpPr>
          <p:cNvPr id="27" name="Rounded Rectangle 26"/>
          <p:cNvSpPr/>
          <p:nvPr/>
        </p:nvSpPr>
        <p:spPr>
          <a:xfrm>
            <a:off x="640080" y="4078224"/>
            <a:ext cx="457200" cy="548640"/>
          </a:xfrm>
          <a:prstGeom prst="roundRect">
            <a:avLst>
              <a:gd name="adj" fmla="val 35000"/>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 y="4078224"/>
            <a:ext cx="457200" cy="548640"/>
          </a:xfrm>
          <a:prstGeom prst="rect">
            <a:avLst/>
          </a:prstGeom>
          <a:noFill/>
        </p:spPr>
        <p:txBody>
          <a:bodyPr wrap="square" lIns="0" tIns="0" rIns="0" bIns="0" anchor="ctr">
            <a:spAutoFit/>
          </a:bodyPr>
          <a:lstStyle/>
          <a:p>
            <a:pPr algn="ctr">
              <a:spcAft>
                <a:spcPts val="400"/>
              </a:spcAft>
            </a:pPr>
            <a:r>
              <a:rPr sz="1500" b="1" i="0">
                <a:solidFill>
                  <a:srgbClr val="FFFFFF"/>
                </a:solidFill>
                <a:latin typeface="Segoe UI"/>
              </a:rPr>
              <a:t>5</a:t>
            </a:r>
          </a:p>
        </p:txBody>
      </p:sp>
      <p:sp>
        <p:nvSpPr>
          <p:cNvPr id="29" name="Rounded Rectangle 28"/>
          <p:cNvSpPr/>
          <p:nvPr/>
        </p:nvSpPr>
        <p:spPr>
          <a:xfrm>
            <a:off x="1188719" y="4078224"/>
            <a:ext cx="6355080" cy="548640"/>
          </a:xfrm>
          <a:prstGeom prst="roundRect">
            <a:avLst>
              <a:gd name="adj" fmla="val 12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188719" y="4078224"/>
            <a:ext cx="73152" cy="548640"/>
          </a:xfrm>
          <a:prstGeom prst="rect">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389888" y="4105656"/>
            <a:ext cx="6035040" cy="493776"/>
          </a:xfrm>
          <a:prstGeom prst="rect">
            <a:avLst/>
          </a:prstGeom>
          <a:noFill/>
        </p:spPr>
        <p:txBody>
          <a:bodyPr wrap="square" lIns="0" tIns="0" rIns="0" bIns="0" anchor="ctr">
            <a:spAutoFit/>
          </a:bodyPr>
          <a:lstStyle/>
          <a:p>
            <a:pPr algn="l">
              <a:spcAft>
                <a:spcPts val="400"/>
              </a:spcAft>
            </a:pPr>
            <a:r>
              <a:rPr sz="1250" b="1" i="0" dirty="0">
                <a:solidFill>
                  <a:srgbClr val="1F9E74"/>
                </a:solidFill>
                <a:latin typeface="Segoe UI"/>
              </a:rPr>
              <a:t>Backend </a:t>
            </a:r>
            <a:r>
              <a:rPr sz="1250" b="1" i="0" dirty="0" err="1">
                <a:solidFill>
                  <a:srgbClr val="1F9E74"/>
                </a:solidFill>
                <a:latin typeface="Segoe UI"/>
              </a:rPr>
              <a:t>optionB</a:t>
            </a:r>
            <a:r>
              <a:rPr sz="1250" b="1" i="0" dirty="0">
                <a:solidFill>
                  <a:srgbClr val="1F9E74"/>
                </a:solidFill>
                <a:latin typeface="Segoe UI"/>
              </a:rPr>
              <a:t>/invoke  </a:t>
            </a:r>
          </a:p>
          <a:p>
            <a:pPr algn="l">
              <a:spcAft>
                <a:spcPts val="400"/>
              </a:spcAft>
            </a:pPr>
            <a:r>
              <a:rPr sz="1100" b="0" i="0" dirty="0">
                <a:solidFill>
                  <a:srgbClr val="1A202C"/>
                </a:solidFill>
                <a:latin typeface="Segoe UI"/>
              </a:rPr>
              <a:t>x-</a:t>
            </a:r>
            <a:r>
              <a:rPr sz="1100" b="0" i="0" dirty="0" err="1">
                <a:solidFill>
                  <a:srgbClr val="1A202C"/>
                </a:solidFill>
                <a:latin typeface="Segoe UI"/>
              </a:rPr>
              <a:t>ms</a:t>
            </a:r>
            <a:r>
              <a:rPr sz="1100" b="0" i="0" dirty="0">
                <a:solidFill>
                  <a:srgbClr val="1A202C"/>
                </a:solidFill>
                <a:latin typeface="Segoe UI"/>
              </a:rPr>
              <a:t>-query-source-authorization: &lt;search token&gt;</a:t>
            </a:r>
          </a:p>
        </p:txBody>
      </p:sp>
      <p:sp>
        <p:nvSpPr>
          <p:cNvPr id="32" name="Rounded Rectangle 31"/>
          <p:cNvSpPr/>
          <p:nvPr/>
        </p:nvSpPr>
        <p:spPr>
          <a:xfrm>
            <a:off x="640080" y="4727448"/>
            <a:ext cx="457200" cy="548640"/>
          </a:xfrm>
          <a:prstGeom prst="roundRect">
            <a:avLst>
              <a:gd name="adj" fmla="val 35000"/>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0080" y="4727448"/>
            <a:ext cx="457200" cy="548640"/>
          </a:xfrm>
          <a:prstGeom prst="rect">
            <a:avLst/>
          </a:prstGeom>
          <a:noFill/>
        </p:spPr>
        <p:txBody>
          <a:bodyPr wrap="square" lIns="0" tIns="0" rIns="0" bIns="0" anchor="ctr">
            <a:spAutoFit/>
          </a:bodyPr>
          <a:lstStyle/>
          <a:p>
            <a:pPr algn="ctr">
              <a:spcAft>
                <a:spcPts val="400"/>
              </a:spcAft>
            </a:pPr>
            <a:r>
              <a:rPr sz="1500" b="1" i="0">
                <a:solidFill>
                  <a:srgbClr val="FFFFFF"/>
                </a:solidFill>
                <a:latin typeface="Segoe UI"/>
              </a:rPr>
              <a:t>6</a:t>
            </a:r>
          </a:p>
        </p:txBody>
      </p:sp>
      <p:sp>
        <p:nvSpPr>
          <p:cNvPr id="34" name="Rounded Rectangle 33"/>
          <p:cNvSpPr/>
          <p:nvPr/>
        </p:nvSpPr>
        <p:spPr>
          <a:xfrm>
            <a:off x="1188719" y="4727448"/>
            <a:ext cx="6355080" cy="548640"/>
          </a:xfrm>
          <a:prstGeom prst="roundRect">
            <a:avLst>
              <a:gd name="adj" fmla="val 12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1188719" y="4727448"/>
            <a:ext cx="73152" cy="548640"/>
          </a:xfrm>
          <a:prstGeom prst="rect">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389888" y="4754880"/>
            <a:ext cx="6035040" cy="493776"/>
          </a:xfrm>
          <a:prstGeom prst="rect">
            <a:avLst/>
          </a:prstGeom>
          <a:noFill/>
        </p:spPr>
        <p:txBody>
          <a:bodyPr wrap="square" lIns="0" tIns="0" rIns="0" bIns="0" anchor="ctr">
            <a:spAutoFit/>
          </a:bodyPr>
          <a:lstStyle/>
          <a:p>
            <a:pPr algn="l">
              <a:spcAft>
                <a:spcPts val="400"/>
              </a:spcAft>
            </a:pPr>
            <a:r>
              <a:rPr sz="1250" b="1" i="0" dirty="0">
                <a:solidFill>
                  <a:srgbClr val="1F9E74"/>
                </a:solidFill>
                <a:latin typeface="Segoe UI"/>
              </a:rPr>
              <a:t>Azure AI Search  </a:t>
            </a:r>
          </a:p>
          <a:p>
            <a:pPr algn="l">
              <a:spcAft>
                <a:spcPts val="400"/>
              </a:spcAft>
            </a:pPr>
            <a:r>
              <a:rPr sz="1100" b="0" i="0" dirty="0">
                <a:solidFill>
                  <a:srgbClr val="1A202C"/>
                </a:solidFill>
                <a:latin typeface="Segoe UI"/>
              </a:rPr>
              <a:t>Per-user query → entitled documents only</a:t>
            </a:r>
          </a:p>
        </p:txBody>
      </p:sp>
      <p:sp>
        <p:nvSpPr>
          <p:cNvPr id="37" name="Rounded Rectangle 36"/>
          <p:cNvSpPr/>
          <p:nvPr/>
        </p:nvSpPr>
        <p:spPr>
          <a:xfrm>
            <a:off x="640080" y="5376672"/>
            <a:ext cx="457200" cy="548640"/>
          </a:xfrm>
          <a:prstGeom prst="roundRect">
            <a:avLst>
              <a:gd name="adj" fmla="val 35000"/>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0080" y="5376672"/>
            <a:ext cx="457200" cy="548640"/>
          </a:xfrm>
          <a:prstGeom prst="rect">
            <a:avLst/>
          </a:prstGeom>
          <a:noFill/>
        </p:spPr>
        <p:txBody>
          <a:bodyPr wrap="square" lIns="0" tIns="0" rIns="0" bIns="0" anchor="ctr">
            <a:spAutoFit/>
          </a:bodyPr>
          <a:lstStyle/>
          <a:p>
            <a:pPr algn="ctr">
              <a:spcAft>
                <a:spcPts val="400"/>
              </a:spcAft>
            </a:pPr>
            <a:r>
              <a:rPr sz="1500" b="1" i="0">
                <a:solidFill>
                  <a:srgbClr val="FFFFFF"/>
                </a:solidFill>
                <a:latin typeface="Segoe UI"/>
              </a:rPr>
              <a:t>7</a:t>
            </a:r>
          </a:p>
        </p:txBody>
      </p:sp>
      <p:sp>
        <p:nvSpPr>
          <p:cNvPr id="39" name="Rounded Rectangle 38"/>
          <p:cNvSpPr/>
          <p:nvPr/>
        </p:nvSpPr>
        <p:spPr>
          <a:xfrm>
            <a:off x="1188719" y="5376672"/>
            <a:ext cx="6355080" cy="548640"/>
          </a:xfrm>
          <a:prstGeom prst="roundRect">
            <a:avLst>
              <a:gd name="adj" fmla="val 12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1188719" y="5376672"/>
            <a:ext cx="73152" cy="548640"/>
          </a:xfrm>
          <a:prstGeom prst="rect">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389888" y="5404104"/>
            <a:ext cx="6035040" cy="493776"/>
          </a:xfrm>
          <a:prstGeom prst="rect">
            <a:avLst/>
          </a:prstGeom>
          <a:noFill/>
        </p:spPr>
        <p:txBody>
          <a:bodyPr wrap="square" lIns="0" tIns="0" rIns="0" bIns="0" anchor="ctr">
            <a:spAutoFit/>
          </a:bodyPr>
          <a:lstStyle/>
          <a:p>
            <a:pPr algn="l">
              <a:spcAft>
                <a:spcPts val="400"/>
              </a:spcAft>
            </a:pPr>
            <a:r>
              <a:rPr sz="1250" b="1" i="0">
                <a:solidFill>
                  <a:srgbClr val="1F9E74"/>
                </a:solidFill>
                <a:latin typeface="Segoe UI"/>
              </a:rPr>
              <a:t>Teams user  </a:t>
            </a:r>
          </a:p>
          <a:p>
            <a:pPr algn="l">
              <a:spcAft>
                <a:spcPts val="400"/>
              </a:spcAft>
            </a:pPr>
            <a:r>
              <a:rPr sz="1100" b="0" i="0">
                <a:solidFill>
                  <a:srgbClr val="1A202C"/>
                </a:solidFill>
                <a:latin typeface="Segoe UI"/>
              </a:rPr>
              <a:t>Adaptive Card: citations + “trimmed for you”</a:t>
            </a:r>
          </a:p>
        </p:txBody>
      </p:sp>
      <p:sp>
        <p:nvSpPr>
          <p:cNvPr id="42" name="Rounded Rectangle 41"/>
          <p:cNvSpPr/>
          <p:nvPr/>
        </p:nvSpPr>
        <p:spPr>
          <a:xfrm>
            <a:off x="7863840" y="1481328"/>
            <a:ext cx="3657600" cy="4343400"/>
          </a:xfrm>
          <a:prstGeom prst="roundRect">
            <a:avLst>
              <a:gd name="adj" fmla="val 6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7863840" y="1481328"/>
            <a:ext cx="3657600" cy="4572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046719" y="1481328"/>
            <a:ext cx="3291840" cy="457200"/>
          </a:xfrm>
          <a:prstGeom prst="rect">
            <a:avLst/>
          </a:prstGeom>
          <a:noFill/>
        </p:spPr>
        <p:txBody>
          <a:bodyPr wrap="square" lIns="0" tIns="0" rIns="0" bIns="0" anchor="ctr">
            <a:spAutoFit/>
          </a:bodyPr>
          <a:lstStyle/>
          <a:p>
            <a:pPr algn="l">
              <a:spcAft>
                <a:spcPts val="400"/>
              </a:spcAft>
            </a:pPr>
            <a:r>
              <a:rPr sz="1400" b="1" i="0">
                <a:solidFill>
                  <a:srgbClr val="FFFFFF"/>
                </a:solidFill>
                <a:latin typeface="Segoe UI"/>
              </a:rPr>
              <a:t>The proxy does all token work</a:t>
            </a:r>
          </a:p>
        </p:txBody>
      </p:sp>
      <p:sp>
        <p:nvSpPr>
          <p:cNvPr id="45" name="TextBox 44"/>
          <p:cNvSpPr txBox="1"/>
          <p:nvPr/>
        </p:nvSpPr>
        <p:spPr>
          <a:xfrm>
            <a:off x="8083296" y="2048256"/>
            <a:ext cx="3218688" cy="3703320"/>
          </a:xfrm>
          <a:prstGeom prst="rect">
            <a:avLst/>
          </a:prstGeom>
          <a:noFill/>
        </p:spPr>
        <p:txBody>
          <a:bodyPr wrap="square" lIns="0" tIns="0" rIns="0" bIns="0" anchor="t">
            <a:spAutoFit/>
          </a:bodyPr>
          <a:lstStyle/>
          <a:p>
            <a:pPr algn="l">
              <a:spcAft>
                <a:spcPts val="400"/>
              </a:spcAft>
            </a:pPr>
            <a:r>
              <a:rPr sz="1150" b="0" i="0">
                <a:solidFill>
                  <a:srgbClr val="1A202C"/>
                </a:solidFill>
                <a:latin typeface="Segoe UI"/>
              </a:rPr>
              <a:t>Backend performs NO OBO here — it</a:t>
            </a:r>
          </a:p>
          <a:p>
            <a:pPr algn="l">
              <a:spcAft>
                <a:spcPts val="400"/>
              </a:spcAft>
            </a:pPr>
            <a:r>
              <a:rPr sz="1150" b="0" i="0">
                <a:solidFill>
                  <a:srgbClr val="1A202C"/>
                </a:solidFill>
                <a:latin typeface="Segoe UI"/>
              </a:rPr>
              <a:t>forwards the already-exchanged token.</a:t>
            </a:r>
          </a:p>
          <a:p>
            <a:pPr algn="l">
              <a:spcAft>
                <a:spcPts val="400"/>
              </a:spcAft>
            </a:pPr>
            <a:r>
              <a:rPr sz="500" b="0" i="0">
                <a:solidFill>
                  <a:srgbClr val="1A202C"/>
                </a:solidFill>
                <a:latin typeface="Segoe UI"/>
              </a:rPr>
              <a:t> </a:t>
            </a:r>
          </a:p>
          <a:p>
            <a:pPr algn="l">
              <a:spcAft>
                <a:spcPts val="400"/>
              </a:spcAft>
            </a:pPr>
            <a:r>
              <a:rPr sz="1200" b="1" i="0">
                <a:solidFill>
                  <a:srgbClr val="1F9E74"/>
                </a:solidFill>
                <a:latin typeface="Segoe UI"/>
              </a:rPr>
              <a:t>Audience progression</a:t>
            </a:r>
          </a:p>
          <a:p>
            <a:pPr algn="l">
              <a:spcAft>
                <a:spcPts val="400"/>
              </a:spcAft>
            </a:pPr>
            <a:r>
              <a:rPr sz="1050" b="0" i="0">
                <a:solidFill>
                  <a:srgbClr val="1A202C"/>
                </a:solidFill>
                <a:latin typeface="Consolas"/>
              </a:rPr>
              <a:t>SSO  → api://botid-{clientId}</a:t>
            </a:r>
          </a:p>
          <a:p>
            <a:pPr algn="l">
              <a:spcAft>
                <a:spcPts val="400"/>
              </a:spcAft>
            </a:pPr>
            <a:r>
              <a:rPr sz="1050" b="0" i="0">
                <a:solidFill>
                  <a:srgbClr val="1A202C"/>
                </a:solidFill>
                <a:latin typeface="Consolas"/>
              </a:rPr>
              <a:t>OBO  → https://search.azure.com</a:t>
            </a:r>
          </a:p>
          <a:p>
            <a:pPr algn="l">
              <a:spcAft>
                <a:spcPts val="400"/>
              </a:spcAft>
            </a:pPr>
            <a:r>
              <a:rPr sz="1050" b="0" i="0">
                <a:solidFill>
                  <a:srgbClr val="1A202C"/>
                </a:solidFill>
                <a:latin typeface="Consolas"/>
              </a:rPr>
              <a:t>→ AI Search native ACL trims</a:t>
            </a:r>
          </a:p>
          <a:p>
            <a:pPr algn="l">
              <a:spcAft>
                <a:spcPts val="400"/>
              </a:spcAft>
            </a:pPr>
            <a:r>
              <a:rPr sz="500" b="0" i="0">
                <a:solidFill>
                  <a:srgbClr val="1A202C"/>
                </a:solidFill>
                <a:latin typeface="Segoe UI"/>
              </a:rPr>
              <a:t> </a:t>
            </a:r>
          </a:p>
          <a:p>
            <a:pPr algn="l">
              <a:spcAft>
                <a:spcPts val="400"/>
              </a:spcAft>
            </a:pPr>
            <a:r>
              <a:rPr sz="1200" b="1" i="0">
                <a:solidFill>
                  <a:srgbClr val="E8A33D"/>
                </a:solidFill>
                <a:latin typeface="Segoe UI"/>
              </a:rPr>
              <a:t>Fails closed</a:t>
            </a:r>
          </a:p>
          <a:p>
            <a:pPr algn="l">
              <a:spcAft>
                <a:spcPts val="400"/>
              </a:spcAft>
            </a:pPr>
            <a:r>
              <a:rPr sz="1100" b="0" i="0">
                <a:solidFill>
                  <a:srgbClr val="1A202C"/>
                </a:solidFill>
                <a:latin typeface="Segoe UI"/>
              </a:rPr>
              <a:t>No token → public-only + “sign in”</a:t>
            </a:r>
          </a:p>
        </p:txBody>
      </p:sp>
      <p:sp>
        <p:nvSpPr>
          <p:cNvPr id="46" name="TextBox 45"/>
          <p:cNvSpPr txBox="1"/>
          <p:nvPr/>
        </p:nvSpPr>
        <p:spPr>
          <a:xfrm>
            <a:off x="502920" y="6419088"/>
            <a:ext cx="7315200" cy="274320"/>
          </a:xfrm>
          <a:prstGeom prst="rect">
            <a:avLst/>
          </a:prstGeom>
          <a:noFill/>
        </p:spPr>
        <p:txBody>
          <a:bodyPr wrap="square" lIns="0" tIns="0" rIns="0" bIns="0" anchor="t">
            <a:spAutoFit/>
          </a:bodyPr>
          <a:lstStyle/>
          <a:p>
            <a:pPr algn="l">
              <a:spcAft>
                <a:spcPts val="400"/>
              </a:spcAft>
            </a:pPr>
            <a:r>
              <a:rPr sz="900" b="0" i="0">
                <a:solidFill>
                  <a:srgbClr val="6B7280"/>
                </a:solidFill>
                <a:latin typeface="Segoe UI"/>
              </a:rPr>
              <a:t>One deployed agent · two front doors · Foundry hosted agent on Teams</a:t>
            </a:r>
          </a:p>
        </p:txBody>
      </p:sp>
      <p:sp>
        <p:nvSpPr>
          <p:cNvPr id="47" name="TextBox 46"/>
          <p:cNvSpPr txBox="1"/>
          <p:nvPr/>
        </p:nvSpPr>
        <p:spPr>
          <a:xfrm>
            <a:off x="10881360" y="6419088"/>
            <a:ext cx="822960" cy="274320"/>
          </a:xfrm>
          <a:prstGeom prst="rect">
            <a:avLst/>
          </a:prstGeom>
          <a:noFill/>
        </p:spPr>
        <p:txBody>
          <a:bodyPr wrap="square" lIns="0" tIns="0" rIns="0" bIns="0" anchor="t">
            <a:spAutoFit/>
          </a:bodyPr>
          <a:lstStyle/>
          <a:p>
            <a:pPr algn="r">
              <a:spcAft>
                <a:spcPts val="400"/>
              </a:spcAft>
            </a:pPr>
            <a:r>
              <a:rPr sz="900" b="0" i="0">
                <a:solidFill>
                  <a:srgbClr val="6B7280"/>
                </a:solidFill>
                <a:latin typeface="Segoe UI"/>
              </a:rPr>
              <a:t>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5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170432"/>
            <a:ext cx="12191695" cy="54864"/>
          </a:xfrm>
          <a:prstGeom prst="rect">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274320"/>
            <a:ext cx="128016" cy="603504"/>
          </a:xfrm>
          <a:prstGeom prst="rect">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19456"/>
            <a:ext cx="10789920" cy="310896"/>
          </a:xfrm>
          <a:prstGeom prst="rect">
            <a:avLst/>
          </a:prstGeom>
          <a:noFill/>
        </p:spPr>
        <p:txBody>
          <a:bodyPr wrap="square" lIns="0" tIns="0" rIns="0" bIns="0" anchor="t">
            <a:spAutoFit/>
          </a:bodyPr>
          <a:lstStyle/>
          <a:p>
            <a:pPr algn="l">
              <a:spcAft>
                <a:spcPts val="400"/>
              </a:spcAft>
            </a:pPr>
            <a:r>
              <a:rPr sz="1250" b="0" i="0">
                <a:solidFill>
                  <a:srgbClr val="1F9E74"/>
                </a:solidFill>
                <a:latin typeface="Segoe UI"/>
              </a:rPr>
              <a:t>OPTION B · END-TO-END</a:t>
            </a:r>
          </a:p>
        </p:txBody>
      </p:sp>
      <p:sp>
        <p:nvSpPr>
          <p:cNvPr id="6" name="TextBox 5"/>
          <p:cNvSpPr txBox="1"/>
          <p:nvPr/>
        </p:nvSpPr>
        <p:spPr>
          <a:xfrm>
            <a:off x="777240" y="502920"/>
            <a:ext cx="10789920" cy="566928"/>
          </a:xfrm>
          <a:prstGeom prst="rect">
            <a:avLst/>
          </a:prstGeom>
          <a:noFill/>
        </p:spPr>
        <p:txBody>
          <a:bodyPr wrap="square" lIns="0" tIns="0" rIns="0" bIns="0" anchor="t">
            <a:spAutoFit/>
          </a:bodyPr>
          <a:lstStyle/>
          <a:p>
            <a:pPr algn="l">
              <a:spcAft>
                <a:spcPts val="400"/>
              </a:spcAft>
            </a:pPr>
            <a:r>
              <a:rPr sz="2600" b="1" i="0">
                <a:solidFill>
                  <a:srgbClr val="FFFFFF"/>
                </a:solidFill>
                <a:latin typeface="Segoe UI"/>
              </a:rPr>
              <a:t>Web app — per-user OBO</a:t>
            </a:r>
          </a:p>
        </p:txBody>
      </p:sp>
      <p:sp>
        <p:nvSpPr>
          <p:cNvPr id="7" name="Rounded Rectangle 6"/>
          <p:cNvSpPr/>
          <p:nvPr/>
        </p:nvSpPr>
        <p:spPr>
          <a:xfrm>
            <a:off x="640080" y="1554480"/>
            <a:ext cx="457200" cy="640080"/>
          </a:xfrm>
          <a:prstGeom prst="roundRect">
            <a:avLst>
              <a:gd name="adj" fmla="val 35000"/>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554480"/>
            <a:ext cx="457200" cy="640080"/>
          </a:xfrm>
          <a:prstGeom prst="rect">
            <a:avLst/>
          </a:prstGeom>
          <a:noFill/>
        </p:spPr>
        <p:txBody>
          <a:bodyPr wrap="square" lIns="0" tIns="0" rIns="0" bIns="0" anchor="ctr">
            <a:spAutoFit/>
          </a:bodyPr>
          <a:lstStyle/>
          <a:p>
            <a:pPr algn="ctr">
              <a:spcAft>
                <a:spcPts val="400"/>
              </a:spcAft>
            </a:pPr>
            <a:r>
              <a:rPr sz="1500" b="1" i="0">
                <a:solidFill>
                  <a:srgbClr val="FFFFFF"/>
                </a:solidFill>
                <a:latin typeface="Segoe UI"/>
              </a:rPr>
              <a:t>1</a:t>
            </a:r>
          </a:p>
        </p:txBody>
      </p:sp>
      <p:sp>
        <p:nvSpPr>
          <p:cNvPr id="9" name="Rounded Rectangle 8"/>
          <p:cNvSpPr/>
          <p:nvPr/>
        </p:nvSpPr>
        <p:spPr>
          <a:xfrm>
            <a:off x="1188719" y="1554480"/>
            <a:ext cx="6355080" cy="640080"/>
          </a:xfrm>
          <a:prstGeom prst="roundRect">
            <a:avLst>
              <a:gd name="adj" fmla="val 12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88719" y="1554480"/>
            <a:ext cx="73152" cy="640080"/>
          </a:xfrm>
          <a:prstGeom prst="rect">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89888" y="1581912"/>
            <a:ext cx="6035040" cy="585215"/>
          </a:xfrm>
          <a:prstGeom prst="rect">
            <a:avLst/>
          </a:prstGeom>
          <a:noFill/>
        </p:spPr>
        <p:txBody>
          <a:bodyPr wrap="square" lIns="0" tIns="0" rIns="0" bIns="0" anchor="ctr">
            <a:spAutoFit/>
          </a:bodyPr>
          <a:lstStyle/>
          <a:p>
            <a:pPr algn="l">
              <a:spcAft>
                <a:spcPts val="400"/>
              </a:spcAft>
            </a:pPr>
            <a:r>
              <a:rPr sz="1250" b="1" i="0">
                <a:solidFill>
                  <a:srgbClr val="1F9E74"/>
                </a:solidFill>
                <a:latin typeface="Segoe UI"/>
              </a:rPr>
              <a:t>Web user  </a:t>
            </a:r>
          </a:p>
          <a:p>
            <a:pPr algn="l">
              <a:spcAft>
                <a:spcPts val="400"/>
              </a:spcAft>
            </a:pPr>
            <a:r>
              <a:rPr sz="1100" b="0" i="0">
                <a:solidFill>
                  <a:srgbClr val="1A202C"/>
                </a:solidFill>
                <a:latin typeface="Segoe UI"/>
              </a:rPr>
              <a:t>Sign in with MSAL.js</a:t>
            </a:r>
          </a:p>
        </p:txBody>
      </p:sp>
      <p:sp>
        <p:nvSpPr>
          <p:cNvPr id="12" name="Rounded Rectangle 11"/>
          <p:cNvSpPr/>
          <p:nvPr/>
        </p:nvSpPr>
        <p:spPr>
          <a:xfrm>
            <a:off x="640080" y="2322576"/>
            <a:ext cx="457200" cy="640080"/>
          </a:xfrm>
          <a:prstGeom prst="roundRect">
            <a:avLst>
              <a:gd name="adj" fmla="val 35000"/>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2322576"/>
            <a:ext cx="457200" cy="640080"/>
          </a:xfrm>
          <a:prstGeom prst="rect">
            <a:avLst/>
          </a:prstGeom>
          <a:noFill/>
        </p:spPr>
        <p:txBody>
          <a:bodyPr wrap="square" lIns="0" tIns="0" rIns="0" bIns="0" anchor="ctr">
            <a:spAutoFit/>
          </a:bodyPr>
          <a:lstStyle/>
          <a:p>
            <a:pPr algn="ctr">
              <a:spcAft>
                <a:spcPts val="400"/>
              </a:spcAft>
            </a:pPr>
            <a:r>
              <a:rPr sz="1500" b="1" i="0">
                <a:solidFill>
                  <a:srgbClr val="FFFFFF"/>
                </a:solidFill>
                <a:latin typeface="Segoe UI"/>
              </a:rPr>
              <a:t>2</a:t>
            </a:r>
          </a:p>
        </p:txBody>
      </p:sp>
      <p:sp>
        <p:nvSpPr>
          <p:cNvPr id="14" name="Rounded Rectangle 13"/>
          <p:cNvSpPr/>
          <p:nvPr/>
        </p:nvSpPr>
        <p:spPr>
          <a:xfrm>
            <a:off x="1188719" y="2322576"/>
            <a:ext cx="6355080" cy="640080"/>
          </a:xfrm>
          <a:prstGeom prst="roundRect">
            <a:avLst>
              <a:gd name="adj" fmla="val 12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88719" y="2322576"/>
            <a:ext cx="73152" cy="640080"/>
          </a:xfrm>
          <a:prstGeom prst="rect">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89888" y="2350008"/>
            <a:ext cx="6035040" cy="585215"/>
          </a:xfrm>
          <a:prstGeom prst="rect">
            <a:avLst/>
          </a:prstGeom>
          <a:noFill/>
        </p:spPr>
        <p:txBody>
          <a:bodyPr wrap="square" lIns="0" tIns="0" rIns="0" bIns="0" anchor="ctr">
            <a:spAutoFit/>
          </a:bodyPr>
          <a:lstStyle/>
          <a:p>
            <a:pPr algn="l">
              <a:spcAft>
                <a:spcPts val="400"/>
              </a:spcAft>
            </a:pPr>
            <a:r>
              <a:rPr sz="1250" b="1" i="0">
                <a:solidFill>
                  <a:srgbClr val="1F9E74"/>
                </a:solidFill>
                <a:latin typeface="Segoe UI"/>
              </a:rPr>
              <a:t>Microsoft Entra ID  </a:t>
            </a:r>
          </a:p>
          <a:p>
            <a:pPr algn="l">
              <a:spcAft>
                <a:spcPts val="400"/>
              </a:spcAft>
            </a:pPr>
            <a:r>
              <a:rPr sz="1100" b="0" i="0">
                <a:solidFill>
                  <a:srgbClr val="1A202C"/>
                </a:solidFill>
                <a:latin typeface="Segoe UI"/>
              </a:rPr>
              <a:t>acquireTokenSilent → user access token (backend API scope)</a:t>
            </a:r>
          </a:p>
        </p:txBody>
      </p:sp>
      <p:sp>
        <p:nvSpPr>
          <p:cNvPr id="17" name="Rounded Rectangle 16"/>
          <p:cNvSpPr/>
          <p:nvPr/>
        </p:nvSpPr>
        <p:spPr>
          <a:xfrm>
            <a:off x="640080" y="3090672"/>
            <a:ext cx="457200" cy="640080"/>
          </a:xfrm>
          <a:prstGeom prst="roundRect">
            <a:avLst>
              <a:gd name="adj" fmla="val 35000"/>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3090672"/>
            <a:ext cx="457200" cy="640080"/>
          </a:xfrm>
          <a:prstGeom prst="rect">
            <a:avLst/>
          </a:prstGeom>
          <a:noFill/>
        </p:spPr>
        <p:txBody>
          <a:bodyPr wrap="square" lIns="0" tIns="0" rIns="0" bIns="0" anchor="ctr">
            <a:spAutoFit/>
          </a:bodyPr>
          <a:lstStyle/>
          <a:p>
            <a:pPr algn="ctr">
              <a:spcAft>
                <a:spcPts val="400"/>
              </a:spcAft>
            </a:pPr>
            <a:r>
              <a:rPr sz="1500" b="1" i="0">
                <a:solidFill>
                  <a:srgbClr val="FFFFFF"/>
                </a:solidFill>
                <a:latin typeface="Segoe UI"/>
              </a:rPr>
              <a:t>3</a:t>
            </a:r>
          </a:p>
        </p:txBody>
      </p:sp>
      <p:sp>
        <p:nvSpPr>
          <p:cNvPr id="19" name="Rounded Rectangle 18"/>
          <p:cNvSpPr/>
          <p:nvPr/>
        </p:nvSpPr>
        <p:spPr>
          <a:xfrm>
            <a:off x="1188719" y="3090672"/>
            <a:ext cx="6355080" cy="640080"/>
          </a:xfrm>
          <a:prstGeom prst="roundRect">
            <a:avLst>
              <a:gd name="adj" fmla="val 12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188719" y="3090672"/>
            <a:ext cx="73152" cy="640080"/>
          </a:xfrm>
          <a:prstGeom prst="rect">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389888" y="3118103"/>
            <a:ext cx="6035040" cy="585215"/>
          </a:xfrm>
          <a:prstGeom prst="rect">
            <a:avLst/>
          </a:prstGeom>
          <a:noFill/>
        </p:spPr>
        <p:txBody>
          <a:bodyPr wrap="square" lIns="0" tIns="0" rIns="0" bIns="0" anchor="ctr">
            <a:spAutoFit/>
          </a:bodyPr>
          <a:lstStyle/>
          <a:p>
            <a:pPr algn="l">
              <a:spcAft>
                <a:spcPts val="400"/>
              </a:spcAft>
            </a:pPr>
            <a:r>
              <a:rPr sz="1250" b="1" i="0">
                <a:solidFill>
                  <a:srgbClr val="1F9E74"/>
                </a:solidFill>
                <a:latin typeface="Segoe UI"/>
              </a:rPr>
              <a:t>Web SPA  </a:t>
            </a:r>
          </a:p>
          <a:p>
            <a:pPr algn="l">
              <a:spcAft>
                <a:spcPts val="400"/>
              </a:spcAft>
            </a:pPr>
            <a:r>
              <a:rPr sz="1100" b="0" i="0">
                <a:solidFill>
                  <a:srgbClr val="1A202C"/>
                </a:solidFill>
                <a:latin typeface="Segoe UI"/>
              </a:rPr>
              <a:t>POST optionB/invoke — Authorization: Bearer &lt;user token&gt;</a:t>
            </a:r>
          </a:p>
        </p:txBody>
      </p:sp>
      <p:sp>
        <p:nvSpPr>
          <p:cNvPr id="22" name="Rounded Rectangle 21"/>
          <p:cNvSpPr/>
          <p:nvPr/>
        </p:nvSpPr>
        <p:spPr>
          <a:xfrm>
            <a:off x="640080" y="3858768"/>
            <a:ext cx="457200" cy="640080"/>
          </a:xfrm>
          <a:prstGeom prst="roundRect">
            <a:avLst>
              <a:gd name="adj" fmla="val 35000"/>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 y="3858768"/>
            <a:ext cx="457200" cy="640080"/>
          </a:xfrm>
          <a:prstGeom prst="rect">
            <a:avLst/>
          </a:prstGeom>
          <a:noFill/>
        </p:spPr>
        <p:txBody>
          <a:bodyPr wrap="square" lIns="0" tIns="0" rIns="0" bIns="0" anchor="ctr">
            <a:spAutoFit/>
          </a:bodyPr>
          <a:lstStyle/>
          <a:p>
            <a:pPr algn="ctr">
              <a:spcAft>
                <a:spcPts val="400"/>
              </a:spcAft>
            </a:pPr>
            <a:r>
              <a:rPr sz="1500" b="1" i="0">
                <a:solidFill>
                  <a:srgbClr val="FFFFFF"/>
                </a:solidFill>
                <a:latin typeface="Segoe UI"/>
              </a:rPr>
              <a:t>4</a:t>
            </a:r>
          </a:p>
        </p:txBody>
      </p:sp>
      <p:sp>
        <p:nvSpPr>
          <p:cNvPr id="24" name="Rounded Rectangle 23"/>
          <p:cNvSpPr/>
          <p:nvPr/>
        </p:nvSpPr>
        <p:spPr>
          <a:xfrm>
            <a:off x="1188719" y="3858768"/>
            <a:ext cx="6355080" cy="640080"/>
          </a:xfrm>
          <a:prstGeom prst="roundRect">
            <a:avLst>
              <a:gd name="adj" fmla="val 12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188719" y="3858768"/>
            <a:ext cx="73152" cy="640080"/>
          </a:xfrm>
          <a:prstGeom prst="rect">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389888" y="3886200"/>
            <a:ext cx="6035040" cy="585215"/>
          </a:xfrm>
          <a:prstGeom prst="rect">
            <a:avLst/>
          </a:prstGeom>
          <a:noFill/>
        </p:spPr>
        <p:txBody>
          <a:bodyPr wrap="square" lIns="0" tIns="0" rIns="0" bIns="0" anchor="ctr">
            <a:spAutoFit/>
          </a:bodyPr>
          <a:lstStyle/>
          <a:p>
            <a:pPr algn="l">
              <a:spcAft>
                <a:spcPts val="400"/>
              </a:spcAft>
            </a:pPr>
            <a:r>
              <a:rPr sz="1250" b="1" i="0">
                <a:solidFill>
                  <a:srgbClr val="1F9E74"/>
                </a:solidFill>
                <a:latin typeface="Segoe UI"/>
              </a:rPr>
              <a:t>Backend  </a:t>
            </a:r>
          </a:p>
          <a:p>
            <a:pPr algn="l">
              <a:spcAft>
                <a:spcPts val="400"/>
              </a:spcAft>
            </a:pPr>
            <a:r>
              <a:rPr sz="1100" b="0" i="0">
                <a:solidFill>
                  <a:srgbClr val="1A202C"/>
                </a:solidFill>
                <a:latin typeface="Segoe UI"/>
              </a:rPr>
              <a:t>OBO exchange: user assertion → search.azure.com token</a:t>
            </a:r>
          </a:p>
        </p:txBody>
      </p:sp>
      <p:sp>
        <p:nvSpPr>
          <p:cNvPr id="27" name="Rounded Rectangle 26"/>
          <p:cNvSpPr/>
          <p:nvPr/>
        </p:nvSpPr>
        <p:spPr>
          <a:xfrm>
            <a:off x="640080" y="4626864"/>
            <a:ext cx="457200" cy="640080"/>
          </a:xfrm>
          <a:prstGeom prst="roundRect">
            <a:avLst>
              <a:gd name="adj" fmla="val 35000"/>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 y="4626864"/>
            <a:ext cx="457200" cy="640080"/>
          </a:xfrm>
          <a:prstGeom prst="rect">
            <a:avLst/>
          </a:prstGeom>
          <a:noFill/>
        </p:spPr>
        <p:txBody>
          <a:bodyPr wrap="square" lIns="0" tIns="0" rIns="0" bIns="0" anchor="ctr">
            <a:spAutoFit/>
          </a:bodyPr>
          <a:lstStyle/>
          <a:p>
            <a:pPr algn="ctr">
              <a:spcAft>
                <a:spcPts val="400"/>
              </a:spcAft>
            </a:pPr>
            <a:r>
              <a:rPr sz="1500" b="1" i="0">
                <a:solidFill>
                  <a:srgbClr val="FFFFFF"/>
                </a:solidFill>
                <a:latin typeface="Segoe UI"/>
              </a:rPr>
              <a:t>5</a:t>
            </a:r>
          </a:p>
        </p:txBody>
      </p:sp>
      <p:sp>
        <p:nvSpPr>
          <p:cNvPr id="29" name="Rounded Rectangle 28"/>
          <p:cNvSpPr/>
          <p:nvPr/>
        </p:nvSpPr>
        <p:spPr>
          <a:xfrm>
            <a:off x="1188719" y="4626864"/>
            <a:ext cx="6355080" cy="640080"/>
          </a:xfrm>
          <a:prstGeom prst="roundRect">
            <a:avLst>
              <a:gd name="adj" fmla="val 12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188719" y="4626864"/>
            <a:ext cx="73152" cy="640080"/>
          </a:xfrm>
          <a:prstGeom prst="rect">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389888" y="4654296"/>
            <a:ext cx="6035040" cy="585215"/>
          </a:xfrm>
          <a:prstGeom prst="rect">
            <a:avLst/>
          </a:prstGeom>
          <a:noFill/>
        </p:spPr>
        <p:txBody>
          <a:bodyPr wrap="square" lIns="0" tIns="0" rIns="0" bIns="0" anchor="ctr">
            <a:spAutoFit/>
          </a:bodyPr>
          <a:lstStyle/>
          <a:p>
            <a:pPr algn="l">
              <a:spcAft>
                <a:spcPts val="400"/>
              </a:spcAft>
            </a:pPr>
            <a:r>
              <a:rPr sz="1250" b="1" i="0">
                <a:solidFill>
                  <a:srgbClr val="1F9E74"/>
                </a:solidFill>
                <a:latin typeface="Segoe UI"/>
              </a:rPr>
              <a:t>Azure AI Search  </a:t>
            </a:r>
          </a:p>
          <a:p>
            <a:pPr algn="l">
              <a:spcAft>
                <a:spcPts val="400"/>
              </a:spcAft>
            </a:pPr>
            <a:r>
              <a:rPr sz="1100" b="0" i="0">
                <a:solidFill>
                  <a:srgbClr val="1A202C"/>
                </a:solidFill>
                <a:latin typeface="Segoe UI"/>
              </a:rPr>
              <a:t>Per-user query (user's Entra groups / oid)</a:t>
            </a:r>
          </a:p>
        </p:txBody>
      </p:sp>
      <p:sp>
        <p:nvSpPr>
          <p:cNvPr id="32" name="Rounded Rectangle 31"/>
          <p:cNvSpPr/>
          <p:nvPr/>
        </p:nvSpPr>
        <p:spPr>
          <a:xfrm>
            <a:off x="640080" y="5394959"/>
            <a:ext cx="457200" cy="640080"/>
          </a:xfrm>
          <a:prstGeom prst="roundRect">
            <a:avLst>
              <a:gd name="adj" fmla="val 35000"/>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0080" y="5394959"/>
            <a:ext cx="457200" cy="640080"/>
          </a:xfrm>
          <a:prstGeom prst="rect">
            <a:avLst/>
          </a:prstGeom>
          <a:noFill/>
        </p:spPr>
        <p:txBody>
          <a:bodyPr wrap="square" lIns="0" tIns="0" rIns="0" bIns="0" anchor="ctr">
            <a:spAutoFit/>
          </a:bodyPr>
          <a:lstStyle/>
          <a:p>
            <a:pPr algn="ctr">
              <a:spcAft>
                <a:spcPts val="400"/>
              </a:spcAft>
            </a:pPr>
            <a:r>
              <a:rPr sz="1500" b="1" i="0">
                <a:solidFill>
                  <a:srgbClr val="FFFFFF"/>
                </a:solidFill>
                <a:latin typeface="Segoe UI"/>
              </a:rPr>
              <a:t>6</a:t>
            </a:r>
          </a:p>
        </p:txBody>
      </p:sp>
      <p:sp>
        <p:nvSpPr>
          <p:cNvPr id="34" name="Rounded Rectangle 33"/>
          <p:cNvSpPr/>
          <p:nvPr/>
        </p:nvSpPr>
        <p:spPr>
          <a:xfrm>
            <a:off x="1188719" y="5394959"/>
            <a:ext cx="6355080" cy="640080"/>
          </a:xfrm>
          <a:prstGeom prst="roundRect">
            <a:avLst>
              <a:gd name="adj" fmla="val 12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1188719" y="5394959"/>
            <a:ext cx="73152" cy="640080"/>
          </a:xfrm>
          <a:prstGeom prst="rect">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389888" y="5422392"/>
            <a:ext cx="6035040" cy="585215"/>
          </a:xfrm>
          <a:prstGeom prst="rect">
            <a:avLst/>
          </a:prstGeom>
          <a:noFill/>
        </p:spPr>
        <p:txBody>
          <a:bodyPr wrap="square" lIns="0" tIns="0" rIns="0" bIns="0" anchor="ctr">
            <a:spAutoFit/>
          </a:bodyPr>
          <a:lstStyle/>
          <a:p>
            <a:pPr algn="l">
              <a:spcAft>
                <a:spcPts val="400"/>
              </a:spcAft>
            </a:pPr>
            <a:r>
              <a:rPr sz="1250" b="1" i="0">
                <a:solidFill>
                  <a:srgbClr val="1F9E74"/>
                </a:solidFill>
                <a:latin typeface="Segoe UI"/>
              </a:rPr>
              <a:t>Web user  </a:t>
            </a:r>
          </a:p>
          <a:p>
            <a:pPr algn="l">
              <a:spcAft>
                <a:spcPts val="400"/>
              </a:spcAft>
            </a:pPr>
            <a:r>
              <a:rPr sz="1100" b="0" i="0">
                <a:solidFill>
                  <a:srgbClr val="1A202C"/>
                </a:solidFill>
                <a:latin typeface="Segoe UI"/>
              </a:rPr>
              <a:t>Per-user answer + entitled docs only</a:t>
            </a:r>
          </a:p>
        </p:txBody>
      </p:sp>
      <p:sp>
        <p:nvSpPr>
          <p:cNvPr id="37" name="Rounded Rectangle 36"/>
          <p:cNvSpPr/>
          <p:nvPr/>
        </p:nvSpPr>
        <p:spPr>
          <a:xfrm>
            <a:off x="7863840" y="1554480"/>
            <a:ext cx="3657600" cy="4160520"/>
          </a:xfrm>
          <a:prstGeom prst="roundRect">
            <a:avLst>
              <a:gd name="adj" fmla="val 6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7863840" y="1554480"/>
            <a:ext cx="3657600" cy="4572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046719" y="1554480"/>
            <a:ext cx="3291840" cy="457200"/>
          </a:xfrm>
          <a:prstGeom prst="rect">
            <a:avLst/>
          </a:prstGeom>
          <a:noFill/>
        </p:spPr>
        <p:txBody>
          <a:bodyPr wrap="square" lIns="0" tIns="0" rIns="0" bIns="0" anchor="ctr">
            <a:spAutoFit/>
          </a:bodyPr>
          <a:lstStyle/>
          <a:p>
            <a:pPr algn="l">
              <a:spcAft>
                <a:spcPts val="400"/>
              </a:spcAft>
            </a:pPr>
            <a:r>
              <a:rPr sz="1400" b="1" i="0">
                <a:solidFill>
                  <a:srgbClr val="FFFFFF"/>
                </a:solidFill>
                <a:latin typeface="Segoe UI"/>
              </a:rPr>
              <a:t>Where OBO happens differs</a:t>
            </a:r>
          </a:p>
        </p:txBody>
      </p:sp>
      <p:sp>
        <p:nvSpPr>
          <p:cNvPr id="40" name="TextBox 39"/>
          <p:cNvSpPr txBox="1"/>
          <p:nvPr/>
        </p:nvSpPr>
        <p:spPr>
          <a:xfrm>
            <a:off x="8083296" y="2121408"/>
            <a:ext cx="3218688" cy="3520439"/>
          </a:xfrm>
          <a:prstGeom prst="rect">
            <a:avLst/>
          </a:prstGeom>
          <a:noFill/>
        </p:spPr>
        <p:txBody>
          <a:bodyPr wrap="square" lIns="0" tIns="0" rIns="0" bIns="0" anchor="t">
            <a:spAutoFit/>
          </a:bodyPr>
          <a:lstStyle/>
          <a:p>
            <a:pPr algn="l">
              <a:spcAft>
                <a:spcPts val="400"/>
              </a:spcAft>
            </a:pPr>
            <a:r>
              <a:rPr sz="1200" b="1" i="0">
                <a:solidFill>
                  <a:srgbClr val="1F9E74"/>
                </a:solidFill>
                <a:latin typeface="Segoe UI"/>
              </a:rPr>
              <a:t>Web path:</a:t>
            </a:r>
          </a:p>
          <a:p>
            <a:pPr algn="l">
              <a:spcAft>
                <a:spcPts val="400"/>
              </a:spcAft>
            </a:pPr>
            <a:r>
              <a:rPr sz="1150" b="0" i="0">
                <a:solidFill>
                  <a:srgbClr val="1A202C"/>
                </a:solidFill>
                <a:latin typeface="Segoe UI"/>
              </a:rPr>
              <a:t>the BACKEND does the OBO</a:t>
            </a:r>
          </a:p>
          <a:p>
            <a:pPr algn="l">
              <a:spcAft>
                <a:spcPts val="400"/>
              </a:spcAft>
            </a:pPr>
            <a:r>
              <a:rPr sz="1100" b="0" i="0">
                <a:solidFill>
                  <a:srgbClr val="1A202C"/>
                </a:solidFill>
                <a:latin typeface="Consolas"/>
              </a:rPr>
              <a:t>(obo_service). SPA only ever sends</a:t>
            </a:r>
          </a:p>
          <a:p>
            <a:pPr algn="l">
              <a:spcAft>
                <a:spcPts val="400"/>
              </a:spcAft>
            </a:pPr>
            <a:r>
              <a:rPr sz="1100" b="0" i="0">
                <a:solidFill>
                  <a:srgbClr val="1A202C"/>
                </a:solidFill>
                <a:latin typeface="Segoe UI"/>
              </a:rPr>
              <a:t>its own user token.</a:t>
            </a:r>
          </a:p>
          <a:p>
            <a:pPr algn="l">
              <a:spcAft>
                <a:spcPts val="400"/>
              </a:spcAft>
            </a:pPr>
            <a:r>
              <a:rPr sz="600" b="0" i="0">
                <a:solidFill>
                  <a:srgbClr val="1A202C"/>
                </a:solidFill>
                <a:latin typeface="Segoe UI"/>
              </a:rPr>
              <a:t> </a:t>
            </a:r>
          </a:p>
          <a:p>
            <a:pPr algn="l">
              <a:spcAft>
                <a:spcPts val="400"/>
              </a:spcAft>
            </a:pPr>
            <a:r>
              <a:rPr sz="1150" b="1" i="0">
                <a:solidFill>
                  <a:srgbClr val="E8A33D"/>
                </a:solidFill>
                <a:latin typeface="Segoe UI"/>
              </a:rPr>
              <a:t>The browser never holds OBO</a:t>
            </a:r>
          </a:p>
          <a:p>
            <a:pPr algn="l">
              <a:spcAft>
                <a:spcPts val="400"/>
              </a:spcAft>
            </a:pPr>
            <a:r>
              <a:rPr sz="1100" b="0" i="0">
                <a:solidFill>
                  <a:srgbClr val="1A202C"/>
                </a:solidFill>
                <a:latin typeface="Segoe UI"/>
              </a:rPr>
              <a:t>credentials. auth_context puts the</a:t>
            </a:r>
          </a:p>
          <a:p>
            <a:pPr algn="l">
              <a:spcAft>
                <a:spcPts val="400"/>
              </a:spcAft>
            </a:pPr>
            <a:r>
              <a:rPr sz="1100" b="0" i="0">
                <a:solidFill>
                  <a:srgbClr val="1A202C"/>
                </a:solidFill>
                <a:latin typeface="Consolas"/>
              </a:rPr>
              <a:t>Bearer into user_assertion, which</a:t>
            </a:r>
          </a:p>
          <a:p>
            <a:pPr algn="l">
              <a:spcAft>
                <a:spcPts val="400"/>
              </a:spcAft>
            </a:pPr>
            <a:r>
              <a:rPr sz="1100" b="0" i="0">
                <a:solidFill>
                  <a:srgbClr val="1A202C"/>
                </a:solidFill>
                <a:latin typeface="Segoe UI"/>
              </a:rPr>
              <a:t>triggers the OBO exchange.</a:t>
            </a:r>
          </a:p>
          <a:p>
            <a:pPr algn="l">
              <a:spcAft>
                <a:spcPts val="400"/>
              </a:spcAft>
            </a:pPr>
            <a:r>
              <a:rPr sz="600" b="0" i="0">
                <a:solidFill>
                  <a:srgbClr val="1A202C"/>
                </a:solidFill>
                <a:latin typeface="Segoe UI"/>
              </a:rPr>
              <a:t> </a:t>
            </a:r>
          </a:p>
          <a:p>
            <a:pPr algn="l">
              <a:spcAft>
                <a:spcPts val="400"/>
              </a:spcAft>
            </a:pPr>
            <a:r>
              <a:rPr sz="1150" b="0" i="1">
                <a:solidFill>
                  <a:srgbClr val="1F4E79"/>
                </a:solidFill>
                <a:latin typeface="Segoe UI"/>
              </a:rPr>
              <a:t>Same per_user_search call as Teams.</a:t>
            </a:r>
          </a:p>
        </p:txBody>
      </p:sp>
      <p:sp>
        <p:nvSpPr>
          <p:cNvPr id="41" name="TextBox 40"/>
          <p:cNvSpPr txBox="1"/>
          <p:nvPr/>
        </p:nvSpPr>
        <p:spPr>
          <a:xfrm>
            <a:off x="502920" y="6419088"/>
            <a:ext cx="7315200" cy="274320"/>
          </a:xfrm>
          <a:prstGeom prst="rect">
            <a:avLst/>
          </a:prstGeom>
          <a:noFill/>
        </p:spPr>
        <p:txBody>
          <a:bodyPr wrap="square" lIns="0" tIns="0" rIns="0" bIns="0" anchor="t">
            <a:spAutoFit/>
          </a:bodyPr>
          <a:lstStyle/>
          <a:p>
            <a:pPr algn="l">
              <a:spcAft>
                <a:spcPts val="400"/>
              </a:spcAft>
            </a:pPr>
            <a:r>
              <a:rPr sz="900" b="0" i="0">
                <a:solidFill>
                  <a:srgbClr val="6B7280"/>
                </a:solidFill>
                <a:latin typeface="Segoe UI"/>
              </a:rPr>
              <a:t>One deployed agent · two front doors · Foundry hosted agent on Teams</a:t>
            </a:r>
          </a:p>
        </p:txBody>
      </p:sp>
      <p:sp>
        <p:nvSpPr>
          <p:cNvPr id="42" name="TextBox 41"/>
          <p:cNvSpPr txBox="1"/>
          <p:nvPr/>
        </p:nvSpPr>
        <p:spPr>
          <a:xfrm>
            <a:off x="10881360" y="6419088"/>
            <a:ext cx="822960" cy="274320"/>
          </a:xfrm>
          <a:prstGeom prst="rect">
            <a:avLst/>
          </a:prstGeom>
          <a:noFill/>
        </p:spPr>
        <p:txBody>
          <a:bodyPr wrap="square" lIns="0" tIns="0" rIns="0" bIns="0" anchor="t">
            <a:spAutoFit/>
          </a:bodyPr>
          <a:lstStyle/>
          <a:p>
            <a:pPr algn="r">
              <a:spcAft>
                <a:spcPts val="400"/>
              </a:spcAft>
            </a:pPr>
            <a:r>
              <a:rPr sz="900" b="0" i="0">
                <a:solidFill>
                  <a:srgbClr val="6B7280"/>
                </a:solidFill>
                <a:latin typeface="Segoe UI"/>
              </a:rPr>
              <a:t>10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2F5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170432"/>
            <a:ext cx="12191695"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274320"/>
            <a:ext cx="128016" cy="60350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19456"/>
            <a:ext cx="10789920" cy="310896"/>
          </a:xfrm>
          <a:prstGeom prst="rect">
            <a:avLst/>
          </a:prstGeom>
          <a:noFill/>
        </p:spPr>
        <p:txBody>
          <a:bodyPr wrap="square" lIns="0" tIns="0" rIns="0" bIns="0" anchor="t">
            <a:spAutoFit/>
          </a:bodyPr>
          <a:lstStyle/>
          <a:p>
            <a:pPr algn="l">
              <a:spcAft>
                <a:spcPts val="400"/>
              </a:spcAft>
            </a:pPr>
            <a:r>
              <a:rPr sz="1250" b="0" i="0">
                <a:solidFill>
                  <a:srgbClr val="1F4E79"/>
                </a:solidFill>
                <a:latin typeface="Segoe UI"/>
              </a:rPr>
              <a:t>OPTION B · THE ONE CONTRAST TO MEMORIZE</a:t>
            </a:r>
          </a:p>
        </p:txBody>
      </p:sp>
      <p:sp>
        <p:nvSpPr>
          <p:cNvPr id="6" name="TextBox 5"/>
          <p:cNvSpPr txBox="1"/>
          <p:nvPr/>
        </p:nvSpPr>
        <p:spPr>
          <a:xfrm>
            <a:off x="777240" y="502920"/>
            <a:ext cx="10789920" cy="566928"/>
          </a:xfrm>
          <a:prstGeom prst="rect">
            <a:avLst/>
          </a:prstGeom>
          <a:noFill/>
        </p:spPr>
        <p:txBody>
          <a:bodyPr wrap="square" lIns="0" tIns="0" rIns="0" bIns="0" anchor="t">
            <a:spAutoFit/>
          </a:bodyPr>
          <a:lstStyle/>
          <a:p>
            <a:pPr algn="l">
              <a:spcAft>
                <a:spcPts val="400"/>
              </a:spcAft>
            </a:pPr>
            <a:r>
              <a:rPr sz="2600" b="1" i="0">
                <a:solidFill>
                  <a:srgbClr val="FFFFFF"/>
                </a:solidFill>
                <a:latin typeface="Segoe UI"/>
              </a:rPr>
              <a:t>Where the OBO happens: Teams vs Web</a:t>
            </a:r>
          </a:p>
        </p:txBody>
      </p:sp>
      <p:graphicFrame>
        <p:nvGraphicFramePr>
          <p:cNvPr id="7" name="Table 6"/>
          <p:cNvGraphicFramePr>
            <a:graphicFrameLocks noGrp="1"/>
          </p:cNvGraphicFramePr>
          <p:nvPr/>
        </p:nvGraphicFramePr>
        <p:xfrm>
          <a:off x="640080" y="1554480"/>
          <a:ext cx="10881358" cy="1737360"/>
        </p:xfrm>
        <a:graphic>
          <a:graphicData uri="http://schemas.openxmlformats.org/drawingml/2006/table">
            <a:tbl>
              <a:tblPr>
                <a:tableStyleId>{5C22544A-7EE6-4342-B048-85BDC9FD1C3A}</a:tableStyleId>
              </a:tblPr>
              <a:tblGrid>
                <a:gridCol w="208026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3200399">
                  <a:extLst>
                    <a:ext uri="{9D8B030D-6E8A-4147-A177-3AD203B41FA5}">
                      <a16:colId xmlns:a16="http://schemas.microsoft.com/office/drawing/2014/main" val="20002"/>
                    </a:ext>
                  </a:extLst>
                </a:gridCol>
                <a:gridCol w="3040379">
                  <a:extLst>
                    <a:ext uri="{9D8B030D-6E8A-4147-A177-3AD203B41FA5}">
                      <a16:colId xmlns:a16="http://schemas.microsoft.com/office/drawing/2014/main" val="20003"/>
                    </a:ext>
                  </a:extLst>
                </a:gridCol>
              </a:tblGrid>
              <a:tr h="579120">
                <a:tc>
                  <a:txBody>
                    <a:bodyPr/>
                    <a:lstStyle/>
                    <a:p>
                      <a:pPr algn="l"/>
                      <a:r>
                        <a:rPr sz="1150" b="1">
                          <a:solidFill>
                            <a:srgbClr val="FFFFFF"/>
                          </a:solidFill>
                          <a:latin typeface="Segoe UI"/>
                        </a:rPr>
                        <a:t>Path</a:t>
                      </a:r>
                    </a:p>
                  </a:txBody>
                  <a:tcPr marL="73152" marR="54864" marT="27432" marB="27432" anchor="ctr">
                    <a:solidFill>
                      <a:srgbClr val="1F4E79"/>
                    </a:solidFill>
                  </a:tcPr>
                </a:tc>
                <a:tc>
                  <a:txBody>
                    <a:bodyPr/>
                    <a:lstStyle/>
                    <a:p>
                      <a:pPr algn="ctr"/>
                      <a:r>
                        <a:rPr sz="1150" b="1">
                          <a:solidFill>
                            <a:srgbClr val="FFFFFF"/>
                          </a:solidFill>
                          <a:latin typeface="Segoe UI"/>
                        </a:rPr>
                        <a:t>Who performs the OBO</a:t>
                      </a:r>
                    </a:p>
                  </a:txBody>
                  <a:tcPr marL="73152" marR="54864" marT="27432" marB="27432" anchor="ctr">
                    <a:solidFill>
                      <a:srgbClr val="1F4E79"/>
                    </a:solidFill>
                  </a:tcPr>
                </a:tc>
                <a:tc>
                  <a:txBody>
                    <a:bodyPr/>
                    <a:lstStyle/>
                    <a:p>
                      <a:pPr algn="ctr"/>
                      <a:r>
                        <a:rPr sz="1150" b="1">
                          <a:solidFill>
                            <a:srgbClr val="FFFFFF"/>
                          </a:solidFill>
                          <a:latin typeface="Segoe UI"/>
                        </a:rPr>
                        <a:t>What the backend receives</a:t>
                      </a:r>
                    </a:p>
                  </a:txBody>
                  <a:tcPr marL="73152" marR="54864" marT="27432" marB="27432" anchor="ctr">
                    <a:solidFill>
                      <a:srgbClr val="1F4E79"/>
                    </a:solidFill>
                  </a:tcPr>
                </a:tc>
                <a:tc>
                  <a:txBody>
                    <a:bodyPr/>
                    <a:lstStyle/>
                    <a:p>
                      <a:pPr algn="ctr"/>
                      <a:r>
                        <a:rPr sz="1150" b="1">
                          <a:solidFill>
                            <a:srgbClr val="FFFFFF"/>
                          </a:solidFill>
                          <a:latin typeface="Segoe UI"/>
                        </a:rPr>
                        <a:t>Header used</a:t>
                      </a:r>
                    </a:p>
                  </a:txBody>
                  <a:tcPr marL="73152" marR="54864" marT="27432" marB="27432" anchor="ctr">
                    <a:solidFill>
                      <a:srgbClr val="1F4E79"/>
                    </a:solidFill>
                  </a:tcPr>
                </a:tc>
                <a:extLst>
                  <a:ext uri="{0D108BD9-81ED-4DB2-BD59-A6C34878D82A}">
                    <a16:rowId xmlns:a16="http://schemas.microsoft.com/office/drawing/2014/main" val="10000"/>
                  </a:ext>
                </a:extLst>
              </a:tr>
              <a:tr h="579120">
                <a:tc>
                  <a:txBody>
                    <a:bodyPr/>
                    <a:lstStyle/>
                    <a:p>
                      <a:pPr algn="l"/>
                      <a:r>
                        <a:rPr sz="1250" b="1">
                          <a:solidFill>
                            <a:srgbClr val="1A202C"/>
                          </a:solidFill>
                          <a:latin typeface="Segoe UI"/>
                        </a:rPr>
                        <a:t>Teams (Option B)</a:t>
                      </a:r>
                    </a:p>
                  </a:txBody>
                  <a:tcPr marL="73152" marR="54864" marT="18288" marB="18288" anchor="ctr">
                    <a:solidFill>
                      <a:srgbClr val="FFFFFF"/>
                    </a:solidFill>
                  </a:tcPr>
                </a:tc>
                <a:tc>
                  <a:txBody>
                    <a:bodyPr/>
                    <a:lstStyle/>
                    <a:p>
                      <a:pPr algn="ctr"/>
                      <a:r>
                        <a:rPr sz="1250" b="0">
                          <a:solidFill>
                            <a:srgbClr val="1A202C"/>
                          </a:solidFill>
                          <a:latin typeface="Segoe UI"/>
                        </a:rPr>
                        <a:t>The proxy (exchangeToken)</a:t>
                      </a:r>
                    </a:p>
                  </a:txBody>
                  <a:tcPr marL="73152" marR="54864" marT="18288" marB="18288" anchor="ctr">
                    <a:solidFill>
                      <a:srgbClr val="FFFFFF"/>
                    </a:solidFill>
                  </a:tcPr>
                </a:tc>
                <a:tc>
                  <a:txBody>
                    <a:bodyPr/>
                    <a:lstStyle/>
                    <a:p>
                      <a:pPr algn="ctr"/>
                      <a:r>
                        <a:rPr sz="1250" b="0">
                          <a:solidFill>
                            <a:srgbClr val="1A202C"/>
                          </a:solidFill>
                          <a:latin typeface="Segoe UI"/>
                        </a:rPr>
                        <a:t>An already-exchanged Search token</a:t>
                      </a:r>
                    </a:p>
                  </a:txBody>
                  <a:tcPr marL="73152" marR="54864" marT="18288" marB="18288" anchor="ctr">
                    <a:solidFill>
                      <a:srgbClr val="FFFFFF"/>
                    </a:solidFill>
                  </a:tcPr>
                </a:tc>
                <a:tc>
                  <a:txBody>
                    <a:bodyPr/>
                    <a:lstStyle/>
                    <a:p>
                      <a:pPr algn="ctr"/>
                      <a:r>
                        <a:rPr sz="1250" b="0">
                          <a:solidFill>
                            <a:srgbClr val="1A202C"/>
                          </a:solidFill>
                          <a:latin typeface="Segoe UI"/>
                        </a:rPr>
                        <a:t>x-ms-query-source-authorization</a:t>
                      </a:r>
                    </a:p>
                  </a:txBody>
                  <a:tcPr marL="73152" marR="54864" marT="18288" marB="18288" anchor="ctr">
                    <a:solidFill>
                      <a:srgbClr val="FFFFFF"/>
                    </a:solidFill>
                  </a:tcPr>
                </a:tc>
                <a:extLst>
                  <a:ext uri="{0D108BD9-81ED-4DB2-BD59-A6C34878D82A}">
                    <a16:rowId xmlns:a16="http://schemas.microsoft.com/office/drawing/2014/main" val="10001"/>
                  </a:ext>
                </a:extLst>
              </a:tr>
              <a:tr h="579120">
                <a:tc>
                  <a:txBody>
                    <a:bodyPr/>
                    <a:lstStyle/>
                    <a:p>
                      <a:pPr algn="l"/>
                      <a:r>
                        <a:rPr sz="1250" b="1">
                          <a:solidFill>
                            <a:srgbClr val="1A202C"/>
                          </a:solidFill>
                          <a:latin typeface="Segoe UI"/>
                        </a:rPr>
                        <a:t>Web app (Option B)</a:t>
                      </a:r>
                    </a:p>
                  </a:txBody>
                  <a:tcPr marL="73152" marR="54864" marT="18288" marB="18288" anchor="ctr">
                    <a:solidFill>
                      <a:srgbClr val="EDF1F7"/>
                    </a:solidFill>
                  </a:tcPr>
                </a:tc>
                <a:tc>
                  <a:txBody>
                    <a:bodyPr/>
                    <a:lstStyle/>
                    <a:p>
                      <a:pPr algn="ctr"/>
                      <a:r>
                        <a:rPr sz="1250" b="0">
                          <a:solidFill>
                            <a:srgbClr val="1A202C"/>
                          </a:solidFill>
                          <a:latin typeface="Segoe UI"/>
                        </a:rPr>
                        <a:t>The backend (obo_service)</a:t>
                      </a:r>
                    </a:p>
                  </a:txBody>
                  <a:tcPr marL="73152" marR="54864" marT="18288" marB="18288" anchor="ctr">
                    <a:solidFill>
                      <a:srgbClr val="EDF1F7"/>
                    </a:solidFill>
                  </a:tcPr>
                </a:tc>
                <a:tc>
                  <a:txBody>
                    <a:bodyPr/>
                    <a:lstStyle/>
                    <a:p>
                      <a:pPr algn="ctr"/>
                      <a:r>
                        <a:rPr sz="1250" b="0">
                          <a:solidFill>
                            <a:srgbClr val="1A202C"/>
                          </a:solidFill>
                          <a:latin typeface="Segoe UI"/>
                        </a:rPr>
                        <a:t>The user's own token (needs OBO)</a:t>
                      </a:r>
                    </a:p>
                  </a:txBody>
                  <a:tcPr marL="73152" marR="54864" marT="18288" marB="18288" anchor="ctr">
                    <a:solidFill>
                      <a:srgbClr val="EDF1F7"/>
                    </a:solidFill>
                  </a:tcPr>
                </a:tc>
                <a:tc>
                  <a:txBody>
                    <a:bodyPr/>
                    <a:lstStyle/>
                    <a:p>
                      <a:pPr algn="ctr"/>
                      <a:r>
                        <a:rPr sz="1250" b="0">
                          <a:solidFill>
                            <a:srgbClr val="1A202C"/>
                          </a:solidFill>
                          <a:latin typeface="Segoe UI"/>
                        </a:rPr>
                        <a:t>Authorization: Bearer</a:t>
                      </a:r>
                    </a:p>
                  </a:txBody>
                  <a:tcPr marL="73152" marR="54864" marT="18288" marB="18288" anchor="ctr">
                    <a:solidFill>
                      <a:srgbClr val="EDF1F7"/>
                    </a:solidFill>
                  </a:tcPr>
                </a:tc>
                <a:extLst>
                  <a:ext uri="{0D108BD9-81ED-4DB2-BD59-A6C34878D82A}">
                    <a16:rowId xmlns:a16="http://schemas.microsoft.com/office/drawing/2014/main" val="10002"/>
                  </a:ext>
                </a:extLst>
              </a:tr>
            </a:tbl>
          </a:graphicData>
        </a:graphic>
      </p:graphicFrame>
      <p:sp>
        <p:nvSpPr>
          <p:cNvPr id="8" name="Rounded Rectangle 7"/>
          <p:cNvSpPr/>
          <p:nvPr/>
        </p:nvSpPr>
        <p:spPr>
          <a:xfrm>
            <a:off x="822960" y="3794760"/>
            <a:ext cx="2834640" cy="502920"/>
          </a:xfrm>
          <a:prstGeom prst="roundRect">
            <a:avLst>
              <a:gd name="adj" fmla="val 50000"/>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3794760"/>
            <a:ext cx="2834640" cy="502920"/>
          </a:xfrm>
          <a:prstGeom prst="rect">
            <a:avLst/>
          </a:prstGeom>
          <a:noFill/>
        </p:spPr>
        <p:txBody>
          <a:bodyPr wrap="square" lIns="0" tIns="0" rIns="0" bIns="0" anchor="ctr">
            <a:spAutoFit/>
          </a:bodyPr>
          <a:lstStyle/>
          <a:p>
            <a:pPr algn="ctr">
              <a:spcAft>
                <a:spcPts val="400"/>
              </a:spcAft>
            </a:pPr>
            <a:r>
              <a:rPr sz="1200" b="1" i="0">
                <a:solidFill>
                  <a:srgbClr val="FFFFFF"/>
                </a:solidFill>
                <a:latin typeface="Segoe UI"/>
              </a:rPr>
              <a:t>CEA proxy — SSO + OBO</a:t>
            </a:r>
          </a:p>
        </p:txBody>
      </p:sp>
      <p:sp>
        <p:nvSpPr>
          <p:cNvPr id="10" name="Rounded Rectangle 9"/>
          <p:cNvSpPr/>
          <p:nvPr/>
        </p:nvSpPr>
        <p:spPr>
          <a:xfrm>
            <a:off x="822960" y="4572000"/>
            <a:ext cx="2834640" cy="502920"/>
          </a:xfrm>
          <a:prstGeom prst="roundRect">
            <a:avLst>
              <a:gd name="adj" fmla="val 50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4572000"/>
            <a:ext cx="2834640" cy="502920"/>
          </a:xfrm>
          <a:prstGeom prst="rect">
            <a:avLst/>
          </a:prstGeom>
          <a:noFill/>
        </p:spPr>
        <p:txBody>
          <a:bodyPr wrap="square" lIns="0" tIns="0" rIns="0" bIns="0" anchor="ctr">
            <a:spAutoFit/>
          </a:bodyPr>
          <a:lstStyle/>
          <a:p>
            <a:pPr algn="ctr">
              <a:spcAft>
                <a:spcPts val="400"/>
              </a:spcAft>
            </a:pPr>
            <a:r>
              <a:rPr sz="1200" b="1" i="0">
                <a:solidFill>
                  <a:srgbClr val="FFFFFF"/>
                </a:solidFill>
                <a:latin typeface="Segoe UI"/>
              </a:rPr>
              <a:t>SPA MSAL — Bearer token</a:t>
            </a:r>
          </a:p>
        </p:txBody>
      </p:sp>
      <p:sp>
        <p:nvSpPr>
          <p:cNvPr id="12" name="Rectangle 11"/>
          <p:cNvSpPr/>
          <p:nvPr/>
        </p:nvSpPr>
        <p:spPr>
          <a:xfrm>
            <a:off x="3703320" y="4041648"/>
            <a:ext cx="1051560" cy="18288"/>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703320" y="4818888"/>
            <a:ext cx="1051560" cy="18288"/>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800600" y="3703320"/>
            <a:ext cx="2926080" cy="1600200"/>
          </a:xfrm>
          <a:prstGeom prst="roundRect">
            <a:avLst>
              <a:gd name="adj" fmla="val 6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800600" y="3703320"/>
            <a:ext cx="2926080" cy="4572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983480" y="3703320"/>
            <a:ext cx="2560320" cy="457200"/>
          </a:xfrm>
          <a:prstGeom prst="rect">
            <a:avLst/>
          </a:prstGeom>
          <a:noFill/>
        </p:spPr>
        <p:txBody>
          <a:bodyPr wrap="square" lIns="0" tIns="0" rIns="0" bIns="0" anchor="ctr">
            <a:spAutoFit/>
          </a:bodyPr>
          <a:lstStyle/>
          <a:p>
            <a:pPr algn="l">
              <a:spcAft>
                <a:spcPts val="400"/>
              </a:spcAft>
            </a:pPr>
            <a:r>
              <a:rPr sz="1200" b="1" i="0">
                <a:solidFill>
                  <a:srgbClr val="FFFFFF"/>
                </a:solidFill>
                <a:latin typeface="Segoe UI"/>
              </a:rPr>
              <a:t>auth_context
.from_headers()</a:t>
            </a:r>
          </a:p>
        </p:txBody>
      </p:sp>
      <p:sp>
        <p:nvSpPr>
          <p:cNvPr id="17" name="TextBox 16"/>
          <p:cNvSpPr txBox="1"/>
          <p:nvPr/>
        </p:nvSpPr>
        <p:spPr>
          <a:xfrm>
            <a:off x="5020056" y="4270248"/>
            <a:ext cx="2487168" cy="960120"/>
          </a:xfrm>
          <a:prstGeom prst="rect">
            <a:avLst/>
          </a:prstGeom>
          <a:noFill/>
        </p:spPr>
        <p:txBody>
          <a:bodyPr wrap="square" lIns="0" tIns="0" rIns="0" bIns="0" anchor="t">
            <a:spAutoFit/>
          </a:bodyPr>
          <a:lstStyle/>
          <a:p>
            <a:pPr algn="l">
              <a:spcAft>
                <a:spcPts val="400"/>
              </a:spcAft>
            </a:pPr>
            <a:r>
              <a:rPr sz="1200" b="1" i="0">
                <a:solidFill>
                  <a:srgbClr val="1A202C"/>
                </a:solidFill>
                <a:latin typeface="Segoe UI"/>
              </a:rPr>
              <a:t>→ single UserAuth</a:t>
            </a:r>
          </a:p>
          <a:p>
            <a:pPr algn="l">
              <a:spcAft>
                <a:spcPts val="400"/>
              </a:spcAft>
            </a:pPr>
            <a:r>
              <a:rPr sz="1100" b="0" i="0">
                <a:solidFill>
                  <a:srgbClr val="1F9E74"/>
                </a:solidFill>
                <a:latin typeface="Consolas"/>
              </a:rPr>
              <a:t>search_token</a:t>
            </a:r>
          </a:p>
          <a:p>
            <a:pPr algn="l">
              <a:spcAft>
                <a:spcPts val="400"/>
              </a:spcAft>
            </a:pPr>
            <a:r>
              <a:rPr sz="1100" b="0" i="0">
                <a:solidFill>
                  <a:srgbClr val="1F9E74"/>
                </a:solidFill>
                <a:latin typeface="Consolas"/>
              </a:rPr>
              <a:t>user_assertion → OBO</a:t>
            </a:r>
          </a:p>
        </p:txBody>
      </p:sp>
      <p:sp>
        <p:nvSpPr>
          <p:cNvPr id="18" name="Rectangle 17"/>
          <p:cNvSpPr/>
          <p:nvPr/>
        </p:nvSpPr>
        <p:spPr>
          <a:xfrm>
            <a:off x="7726679" y="4434840"/>
            <a:ext cx="731520" cy="18288"/>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503920" y="3703320"/>
            <a:ext cx="3017520" cy="1600200"/>
          </a:xfrm>
          <a:prstGeom prst="roundRect">
            <a:avLst>
              <a:gd name="adj" fmla="val 6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503920" y="3703320"/>
            <a:ext cx="3017520" cy="457200"/>
          </a:xfrm>
          <a:prstGeom prst="rect">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686800" y="3703320"/>
            <a:ext cx="2651760" cy="457200"/>
          </a:xfrm>
          <a:prstGeom prst="rect">
            <a:avLst/>
          </a:prstGeom>
          <a:noFill/>
        </p:spPr>
        <p:txBody>
          <a:bodyPr wrap="square" lIns="0" tIns="0" rIns="0" bIns="0" anchor="ctr">
            <a:spAutoFit/>
          </a:bodyPr>
          <a:lstStyle/>
          <a:p>
            <a:pPr algn="l">
              <a:spcAft>
                <a:spcPts val="400"/>
              </a:spcAft>
            </a:pPr>
            <a:r>
              <a:rPr sz="1200" b="1" i="0">
                <a:solidFill>
                  <a:srgbClr val="FFFFFF"/>
                </a:solidFill>
                <a:latin typeface="Segoe UI"/>
              </a:rPr>
              <a:t>per_user_search</a:t>
            </a:r>
          </a:p>
        </p:txBody>
      </p:sp>
      <p:sp>
        <p:nvSpPr>
          <p:cNvPr id="22" name="TextBox 21"/>
          <p:cNvSpPr txBox="1"/>
          <p:nvPr/>
        </p:nvSpPr>
        <p:spPr>
          <a:xfrm>
            <a:off x="8723376" y="4270248"/>
            <a:ext cx="2578608" cy="960120"/>
          </a:xfrm>
          <a:prstGeom prst="rect">
            <a:avLst/>
          </a:prstGeom>
          <a:noFill/>
        </p:spPr>
        <p:txBody>
          <a:bodyPr wrap="square" lIns="0" tIns="0" rIns="0" bIns="0" anchor="t">
            <a:spAutoFit/>
          </a:bodyPr>
          <a:lstStyle/>
          <a:p>
            <a:pPr algn="l">
              <a:spcAft>
                <a:spcPts val="400"/>
              </a:spcAft>
            </a:pPr>
            <a:r>
              <a:rPr sz="1150" b="0" i="0">
                <a:solidFill>
                  <a:srgbClr val="1A202C"/>
                </a:solidFill>
                <a:latin typeface="Segoe UI"/>
              </a:rPr>
              <a:t>Identical call for both paths.</a:t>
            </a:r>
          </a:p>
          <a:p>
            <a:pPr algn="l">
              <a:spcAft>
                <a:spcPts val="400"/>
              </a:spcAft>
            </a:pPr>
            <a:r>
              <a:rPr sz="1150" b="0" i="0">
                <a:solidFill>
                  <a:srgbClr val="1A202C"/>
                </a:solidFill>
                <a:latin typeface="Segoe UI"/>
              </a:rPr>
              <a:t>Azure AI Search enforces</a:t>
            </a:r>
          </a:p>
          <a:p>
            <a:pPr algn="l">
              <a:spcAft>
                <a:spcPts val="400"/>
              </a:spcAft>
            </a:pPr>
            <a:r>
              <a:rPr sz="1150" b="1" i="0">
                <a:solidFill>
                  <a:srgbClr val="1F9E74"/>
                </a:solidFill>
                <a:latin typeface="Segoe UI"/>
              </a:rPr>
              <a:t>document-level security.</a:t>
            </a:r>
          </a:p>
        </p:txBody>
      </p:sp>
      <p:sp>
        <p:nvSpPr>
          <p:cNvPr id="23" name="TextBox 22"/>
          <p:cNvSpPr txBox="1"/>
          <p:nvPr/>
        </p:nvSpPr>
        <p:spPr>
          <a:xfrm>
            <a:off x="640080" y="5806440"/>
            <a:ext cx="10881360" cy="548640"/>
          </a:xfrm>
          <a:prstGeom prst="rect">
            <a:avLst/>
          </a:prstGeom>
          <a:noFill/>
        </p:spPr>
        <p:txBody>
          <a:bodyPr wrap="square" lIns="0" tIns="0" rIns="0" bIns="0" anchor="t">
            <a:spAutoFit/>
          </a:bodyPr>
          <a:lstStyle/>
          <a:p>
            <a:pPr algn="l">
              <a:spcAft>
                <a:spcPts val="400"/>
              </a:spcAft>
            </a:pPr>
            <a:r>
              <a:rPr sz="1350" b="1" i="0">
                <a:solidFill>
                  <a:srgbClr val="1F4E79"/>
                </a:solidFill>
                <a:latin typeface="Segoe UI"/>
              </a:rPr>
              <a:t>One agent, two front doors:  </a:t>
            </a:r>
            <a:r>
              <a:rPr sz="1350" b="0" i="0">
                <a:solidFill>
                  <a:srgbClr val="1A202C"/>
                </a:solidFill>
                <a:latin typeface="Segoe UI"/>
              </a:rPr>
              <a:t>both Option B paths resolve to the identical per-user Search call. The browser never holds OBO credentials.</a:t>
            </a:r>
          </a:p>
        </p:txBody>
      </p:sp>
      <p:sp>
        <p:nvSpPr>
          <p:cNvPr id="24" name="TextBox 23"/>
          <p:cNvSpPr txBox="1"/>
          <p:nvPr/>
        </p:nvSpPr>
        <p:spPr>
          <a:xfrm>
            <a:off x="502920" y="6419088"/>
            <a:ext cx="7315200" cy="274320"/>
          </a:xfrm>
          <a:prstGeom prst="rect">
            <a:avLst/>
          </a:prstGeom>
          <a:noFill/>
        </p:spPr>
        <p:txBody>
          <a:bodyPr wrap="square" lIns="0" tIns="0" rIns="0" bIns="0" anchor="t">
            <a:spAutoFit/>
          </a:bodyPr>
          <a:lstStyle/>
          <a:p>
            <a:pPr algn="l">
              <a:spcAft>
                <a:spcPts val="400"/>
              </a:spcAft>
            </a:pPr>
            <a:r>
              <a:rPr sz="900" b="0" i="0">
                <a:solidFill>
                  <a:srgbClr val="6B7280"/>
                </a:solidFill>
                <a:latin typeface="Segoe UI"/>
              </a:rPr>
              <a:t>One deployed agent · two front doors · Foundry hosted agent on Teams</a:t>
            </a:r>
          </a:p>
        </p:txBody>
      </p:sp>
      <p:sp>
        <p:nvSpPr>
          <p:cNvPr id="25" name="TextBox 24"/>
          <p:cNvSpPr txBox="1"/>
          <p:nvPr/>
        </p:nvSpPr>
        <p:spPr>
          <a:xfrm>
            <a:off x="10881360" y="6419088"/>
            <a:ext cx="822960" cy="274320"/>
          </a:xfrm>
          <a:prstGeom prst="rect">
            <a:avLst/>
          </a:prstGeom>
          <a:noFill/>
        </p:spPr>
        <p:txBody>
          <a:bodyPr wrap="square" lIns="0" tIns="0" rIns="0" bIns="0" anchor="t">
            <a:spAutoFit/>
          </a:bodyPr>
          <a:lstStyle/>
          <a:p>
            <a:pPr algn="r">
              <a:spcAft>
                <a:spcPts val="400"/>
              </a:spcAft>
            </a:pPr>
            <a:r>
              <a:rPr sz="900" b="0" i="0">
                <a:solidFill>
                  <a:srgbClr val="6B7280"/>
                </a:solidFill>
                <a:latin typeface="Segoe UI"/>
              </a:rPr>
              <a:t>11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2F5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170432"/>
            <a:ext cx="12191695" cy="54864"/>
          </a:xfrm>
          <a:prstGeom prst="rect">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274320"/>
            <a:ext cx="128016" cy="603504"/>
          </a:xfrm>
          <a:prstGeom prst="rect">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19456"/>
            <a:ext cx="10789920" cy="310896"/>
          </a:xfrm>
          <a:prstGeom prst="rect">
            <a:avLst/>
          </a:prstGeom>
          <a:noFill/>
        </p:spPr>
        <p:txBody>
          <a:bodyPr wrap="square" lIns="0" tIns="0" rIns="0" bIns="0" anchor="t">
            <a:spAutoFit/>
          </a:bodyPr>
          <a:lstStyle/>
          <a:p>
            <a:pPr algn="l">
              <a:spcAft>
                <a:spcPts val="400"/>
              </a:spcAft>
            </a:pPr>
            <a:r>
              <a:rPr sz="1250" b="0" i="0">
                <a:solidFill>
                  <a:srgbClr val="1F9E74"/>
                </a:solidFill>
                <a:latin typeface="Segoe UI"/>
              </a:rPr>
              <a:t>OPTION B · TECHNICAL DETAILS</a:t>
            </a:r>
          </a:p>
        </p:txBody>
      </p:sp>
      <p:sp>
        <p:nvSpPr>
          <p:cNvPr id="6" name="TextBox 5"/>
          <p:cNvSpPr txBox="1"/>
          <p:nvPr/>
        </p:nvSpPr>
        <p:spPr>
          <a:xfrm>
            <a:off x="777240" y="502920"/>
            <a:ext cx="10789920" cy="566928"/>
          </a:xfrm>
          <a:prstGeom prst="rect">
            <a:avLst/>
          </a:prstGeom>
          <a:noFill/>
        </p:spPr>
        <p:txBody>
          <a:bodyPr wrap="square" lIns="0" tIns="0" rIns="0" bIns="0" anchor="t">
            <a:spAutoFit/>
          </a:bodyPr>
          <a:lstStyle/>
          <a:p>
            <a:pPr algn="l">
              <a:spcAft>
                <a:spcPts val="400"/>
              </a:spcAft>
            </a:pPr>
            <a:r>
              <a:rPr sz="2600" b="1" i="0">
                <a:solidFill>
                  <a:srgbClr val="FFFFFF"/>
                </a:solidFill>
                <a:latin typeface="Segoe UI"/>
              </a:rPr>
              <a:t>SSO → OBO token mechanics (verified live)</a:t>
            </a:r>
          </a:p>
        </p:txBody>
      </p:sp>
      <p:sp>
        <p:nvSpPr>
          <p:cNvPr id="7" name="Rounded Rectangle 6"/>
          <p:cNvSpPr/>
          <p:nvPr/>
        </p:nvSpPr>
        <p:spPr>
          <a:xfrm>
            <a:off x="640080" y="1508760"/>
            <a:ext cx="5349240" cy="4206240"/>
          </a:xfrm>
          <a:prstGeom prst="roundRect">
            <a:avLst>
              <a:gd name="adj" fmla="val 6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508760"/>
            <a:ext cx="5349240" cy="4572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59" y="1508760"/>
            <a:ext cx="4983479" cy="457200"/>
          </a:xfrm>
          <a:prstGeom prst="rect">
            <a:avLst/>
          </a:prstGeom>
          <a:noFill/>
        </p:spPr>
        <p:txBody>
          <a:bodyPr wrap="square" lIns="0" tIns="0" rIns="0" bIns="0" anchor="ctr">
            <a:spAutoFit/>
          </a:bodyPr>
          <a:lstStyle/>
          <a:p>
            <a:pPr algn="l">
              <a:spcAft>
                <a:spcPts val="400"/>
              </a:spcAft>
            </a:pPr>
            <a:r>
              <a:rPr sz="1400" b="1" i="0">
                <a:solidFill>
                  <a:srgbClr val="FFFFFF"/>
                </a:solidFill>
                <a:latin typeface="Segoe UI"/>
              </a:rPr>
              <a:t>The four moving parts</a:t>
            </a:r>
          </a:p>
        </p:txBody>
      </p:sp>
      <p:sp>
        <p:nvSpPr>
          <p:cNvPr id="10" name="TextBox 9"/>
          <p:cNvSpPr txBox="1"/>
          <p:nvPr/>
        </p:nvSpPr>
        <p:spPr>
          <a:xfrm>
            <a:off x="859536" y="2075688"/>
            <a:ext cx="4910327" cy="3566159"/>
          </a:xfrm>
          <a:prstGeom prst="rect">
            <a:avLst/>
          </a:prstGeom>
          <a:noFill/>
        </p:spPr>
        <p:txBody>
          <a:bodyPr wrap="square" lIns="0" tIns="0" rIns="0" bIns="0" anchor="t">
            <a:spAutoFit/>
          </a:bodyPr>
          <a:lstStyle/>
          <a:p>
            <a:pPr algn="l">
              <a:spcAft>
                <a:spcPts val="400"/>
              </a:spcAft>
            </a:pPr>
            <a:r>
              <a:rPr sz="1250" b="1" i="0">
                <a:solidFill>
                  <a:srgbClr val="1F9E74"/>
                </a:solidFill>
                <a:latin typeface="Segoe UI"/>
              </a:rPr>
              <a:t>1  SSO connection scope</a:t>
            </a:r>
          </a:p>
          <a:p>
            <a:pPr algn="l">
              <a:spcAft>
                <a:spcPts val="400"/>
              </a:spcAft>
            </a:pPr>
            <a:r>
              <a:rPr sz="1100" b="0" i="0">
                <a:solidFill>
                  <a:srgbClr val="1A202C"/>
                </a:solidFill>
                <a:latin typeface="Consolas"/>
              </a:rPr>
              <a:t>search-sso scoped to the app's OWN</a:t>
            </a:r>
          </a:p>
          <a:p>
            <a:pPr algn="l">
              <a:spcAft>
                <a:spcPts val="400"/>
              </a:spcAft>
            </a:pPr>
            <a:r>
              <a:rPr sz="1100" b="0" i="0">
                <a:solidFill>
                  <a:srgbClr val="1A202C"/>
                </a:solidFill>
                <a:latin typeface="Consolas"/>
              </a:rPr>
              <a:t>identity (.../access_as_user) so the base</a:t>
            </a:r>
          </a:p>
          <a:p>
            <a:pPr algn="l">
              <a:spcAft>
                <a:spcPts val="400"/>
              </a:spcAft>
            </a:pPr>
            <a:r>
              <a:rPr sz="1100" b="0" i="0">
                <a:solidFill>
                  <a:srgbClr val="1A202C"/>
                </a:solidFill>
                <a:latin typeface="Segoe UI"/>
              </a:rPr>
              <a:t>token is OBO-exchangeable.</a:t>
            </a:r>
          </a:p>
          <a:p>
            <a:pPr algn="l">
              <a:spcAft>
                <a:spcPts val="400"/>
              </a:spcAft>
            </a:pPr>
            <a:r>
              <a:rPr sz="1250" b="1" i="0">
                <a:solidFill>
                  <a:srgbClr val="1F9E74"/>
                </a:solidFill>
                <a:latin typeface="Segoe UI"/>
              </a:rPr>
              <a:t>2  tokenExchangeUrl = api://botid-{id}</a:t>
            </a:r>
          </a:p>
          <a:p>
            <a:pPr algn="l">
              <a:spcAft>
                <a:spcPts val="400"/>
              </a:spcAft>
            </a:pPr>
            <a:r>
              <a:rPr sz="1100" b="0" i="0">
                <a:solidFill>
                  <a:srgbClr val="1A202C"/>
                </a:solidFill>
                <a:latin typeface="Segoe UI"/>
              </a:rPr>
              <a:t>Standalone bot SSO token aud carries the</a:t>
            </a:r>
          </a:p>
          <a:p>
            <a:pPr algn="l">
              <a:spcAft>
                <a:spcPts val="400"/>
              </a:spcAft>
            </a:pPr>
            <a:r>
              <a:rPr sz="1100" b="0" i="0">
                <a:solidFill>
                  <a:srgbClr val="1A202C"/>
                </a:solidFill>
                <a:latin typeface="Segoe UI"/>
              </a:rPr>
              <a:t>botid- prefix — must string-match manifest.</a:t>
            </a:r>
          </a:p>
          <a:p>
            <a:pPr algn="l">
              <a:spcAft>
                <a:spcPts val="400"/>
              </a:spcAft>
            </a:pPr>
            <a:r>
              <a:rPr sz="1250" b="1" i="0">
                <a:solidFill>
                  <a:srgbClr val="1F9E74"/>
                </a:solidFill>
                <a:latin typeface="Segoe UI"/>
              </a:rPr>
              <a:t>3  exchangeToken → oboScopes</a:t>
            </a:r>
          </a:p>
          <a:p>
            <a:pPr algn="l">
              <a:spcAft>
                <a:spcPts val="400"/>
              </a:spcAft>
            </a:pPr>
            <a:r>
              <a:rPr sz="1100" b="0" i="0">
                <a:solidFill>
                  <a:srgbClr val="1A202C"/>
                </a:solidFill>
                <a:latin typeface="Consolas"/>
              </a:rPr>
              <a:t>[search.azure.com/.default] performs the</a:t>
            </a:r>
          </a:p>
          <a:p>
            <a:pPr algn="l">
              <a:spcAft>
                <a:spcPts val="400"/>
              </a:spcAft>
            </a:pPr>
            <a:r>
              <a:rPr sz="1100" b="0" i="0">
                <a:solidFill>
                  <a:srgbClr val="1A202C"/>
                </a:solidFill>
                <a:latin typeface="Segoe UI"/>
              </a:rPr>
              <a:t>OBO to a per-user Search token.</a:t>
            </a:r>
          </a:p>
          <a:p>
            <a:pPr algn="l">
              <a:spcAft>
                <a:spcPts val="400"/>
              </a:spcAft>
            </a:pPr>
            <a:r>
              <a:rPr sz="1250" b="1" i="0">
                <a:solidFill>
                  <a:srgbClr val="1F9E74"/>
                </a:solidFill>
                <a:latin typeface="Segoe UI"/>
              </a:rPr>
              <a:t>4  Delegated consent granted</a:t>
            </a:r>
          </a:p>
          <a:p>
            <a:pPr algn="l">
              <a:spcAft>
                <a:spcPts val="400"/>
              </a:spcAft>
            </a:pPr>
            <a:r>
              <a:rPr sz="1100" b="0" i="0">
                <a:solidFill>
                  <a:srgbClr val="1A202C"/>
                </a:solidFill>
                <a:latin typeface="Segoe UI"/>
              </a:rPr>
              <a:t>App has Azure Cognitive Search</a:t>
            </a:r>
          </a:p>
          <a:p>
            <a:pPr algn="l">
              <a:spcAft>
                <a:spcPts val="400"/>
              </a:spcAft>
            </a:pPr>
            <a:r>
              <a:rPr sz="1100" b="0" i="0">
                <a:solidFill>
                  <a:srgbClr val="1A202C"/>
                </a:solidFill>
                <a:latin typeface="Consolas"/>
              </a:rPr>
              <a:t>user_impersonation + admin consent.</a:t>
            </a:r>
          </a:p>
        </p:txBody>
      </p:sp>
      <p:sp>
        <p:nvSpPr>
          <p:cNvPr id="11" name="Rounded Rectangle 10"/>
          <p:cNvSpPr/>
          <p:nvPr/>
        </p:nvSpPr>
        <p:spPr>
          <a:xfrm>
            <a:off x="6172200" y="1508760"/>
            <a:ext cx="5349240" cy="2011680"/>
          </a:xfrm>
          <a:prstGeom prst="roundRect">
            <a:avLst>
              <a:gd name="adj" fmla="val 6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72200" y="1508760"/>
            <a:ext cx="5349240" cy="4572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55080" y="1508760"/>
            <a:ext cx="4983479" cy="457200"/>
          </a:xfrm>
          <a:prstGeom prst="rect">
            <a:avLst/>
          </a:prstGeom>
          <a:noFill/>
        </p:spPr>
        <p:txBody>
          <a:bodyPr wrap="square" lIns="0" tIns="0" rIns="0" bIns="0" anchor="ctr">
            <a:spAutoFit/>
          </a:bodyPr>
          <a:lstStyle/>
          <a:p>
            <a:pPr algn="l">
              <a:spcAft>
                <a:spcPts val="400"/>
              </a:spcAft>
            </a:pPr>
            <a:r>
              <a:rPr sz="1300" b="1" i="0">
                <a:solidFill>
                  <a:srgbClr val="FFFFFF"/>
                </a:solidFill>
                <a:latin typeface="Segoe UI"/>
              </a:rPr>
              <a:t>Token audience progression</a:t>
            </a:r>
          </a:p>
        </p:txBody>
      </p:sp>
      <p:sp>
        <p:nvSpPr>
          <p:cNvPr id="14" name="TextBox 13"/>
          <p:cNvSpPr txBox="1"/>
          <p:nvPr/>
        </p:nvSpPr>
        <p:spPr>
          <a:xfrm>
            <a:off x="6391656" y="2075688"/>
            <a:ext cx="4910327" cy="1371600"/>
          </a:xfrm>
          <a:prstGeom prst="rect">
            <a:avLst/>
          </a:prstGeom>
          <a:noFill/>
        </p:spPr>
        <p:txBody>
          <a:bodyPr wrap="square" lIns="0" tIns="0" rIns="0" bIns="0" anchor="t">
            <a:spAutoFit/>
          </a:bodyPr>
          <a:lstStyle/>
          <a:p>
            <a:pPr algn="l">
              <a:spcAft>
                <a:spcPts val="400"/>
              </a:spcAft>
            </a:pPr>
            <a:r>
              <a:rPr sz="1200" b="0" i="0">
                <a:solidFill>
                  <a:srgbClr val="1A202C"/>
                </a:solidFill>
                <a:latin typeface="Consolas"/>
              </a:rPr>
              <a:t>Teams user session</a:t>
            </a:r>
          </a:p>
          <a:p>
            <a:pPr algn="l">
              <a:spcAft>
                <a:spcPts val="400"/>
              </a:spcAft>
            </a:pPr>
            <a:r>
              <a:rPr sz="1150" b="0" i="0">
                <a:solidFill>
                  <a:srgbClr val="2E75B6"/>
                </a:solidFill>
                <a:latin typeface="Consolas"/>
              </a:rPr>
              <a:t>  → (SSO)   aud = api://botid-{clientId}</a:t>
            </a:r>
          </a:p>
          <a:p>
            <a:pPr algn="l">
              <a:spcAft>
                <a:spcPts val="400"/>
              </a:spcAft>
            </a:pPr>
            <a:r>
              <a:rPr sz="1150" b="0" i="0">
                <a:solidFill>
                  <a:srgbClr val="1F9E74"/>
                </a:solidFill>
                <a:latin typeface="Consolas"/>
              </a:rPr>
              <a:t>  → (OBO)   aud = https://search.azure.com</a:t>
            </a:r>
          </a:p>
          <a:p>
            <a:pPr algn="l">
              <a:spcAft>
                <a:spcPts val="400"/>
              </a:spcAft>
            </a:pPr>
            <a:r>
              <a:rPr sz="1150" b="0" i="0">
                <a:solidFill>
                  <a:srgbClr val="1A202C"/>
                </a:solidFill>
                <a:latin typeface="Consolas"/>
              </a:rPr>
              <a:t>  → AI Search — native ACL trims</a:t>
            </a:r>
          </a:p>
        </p:txBody>
      </p:sp>
      <p:sp>
        <p:nvSpPr>
          <p:cNvPr id="15" name="Rounded Rectangle 14"/>
          <p:cNvSpPr/>
          <p:nvPr/>
        </p:nvSpPr>
        <p:spPr>
          <a:xfrm>
            <a:off x="6172200" y="3703320"/>
            <a:ext cx="5349240" cy="2011680"/>
          </a:xfrm>
          <a:prstGeom prst="roundRect">
            <a:avLst>
              <a:gd name="adj" fmla="val 6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172200" y="3703320"/>
            <a:ext cx="5349240" cy="45720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55080" y="3703320"/>
            <a:ext cx="4983479" cy="457200"/>
          </a:xfrm>
          <a:prstGeom prst="rect">
            <a:avLst/>
          </a:prstGeom>
          <a:noFill/>
        </p:spPr>
        <p:txBody>
          <a:bodyPr wrap="square" lIns="0" tIns="0" rIns="0" bIns="0" anchor="ctr">
            <a:spAutoFit/>
          </a:bodyPr>
          <a:lstStyle/>
          <a:p>
            <a:pPr algn="l">
              <a:spcAft>
                <a:spcPts val="400"/>
              </a:spcAft>
            </a:pPr>
            <a:r>
              <a:rPr sz="1300" b="1" i="0">
                <a:solidFill>
                  <a:srgbClr val="FFFFFF"/>
                </a:solidFill>
                <a:latin typeface="Segoe UI"/>
              </a:rPr>
              <a:t>Native ACL vs GA trimming</a:t>
            </a:r>
          </a:p>
        </p:txBody>
      </p:sp>
      <p:sp>
        <p:nvSpPr>
          <p:cNvPr id="18" name="TextBox 17"/>
          <p:cNvSpPr txBox="1"/>
          <p:nvPr/>
        </p:nvSpPr>
        <p:spPr>
          <a:xfrm>
            <a:off x="6391656" y="4270248"/>
            <a:ext cx="4910327" cy="1371600"/>
          </a:xfrm>
          <a:prstGeom prst="rect">
            <a:avLst/>
          </a:prstGeom>
          <a:noFill/>
        </p:spPr>
        <p:txBody>
          <a:bodyPr wrap="square" lIns="0" tIns="0" rIns="0" bIns="0" anchor="t">
            <a:spAutoFit/>
          </a:bodyPr>
          <a:lstStyle/>
          <a:p>
            <a:pPr algn="l">
              <a:spcAft>
                <a:spcPts val="400"/>
              </a:spcAft>
            </a:pPr>
            <a:r>
              <a:rPr sz="1150" b="1" i="0">
                <a:solidFill>
                  <a:srgbClr val="1A202C"/>
                </a:solidFill>
                <a:latin typeface="Segoe UI"/>
              </a:rPr>
              <a:t>Native ACL (use_native_acl=true):</a:t>
            </a:r>
          </a:p>
          <a:p>
            <a:pPr algn="l">
              <a:spcAft>
                <a:spcPts val="400"/>
              </a:spcAft>
            </a:pPr>
            <a:r>
              <a:rPr sz="1100" b="0" i="0">
                <a:solidFill>
                  <a:srgbClr val="1A202C"/>
                </a:solidFill>
                <a:latin typeface="Segoe UI"/>
              </a:rPr>
              <a:t>trims by the REAL signed-in user's oid /</a:t>
            </a:r>
          </a:p>
          <a:p>
            <a:pPr algn="l">
              <a:spcAft>
                <a:spcPts val="400"/>
              </a:spcAft>
            </a:pPr>
            <a:r>
              <a:rPr sz="1100" b="0" i="0">
                <a:solidFill>
                  <a:srgbClr val="1A202C"/>
                </a:solidFill>
                <a:latin typeface="Segoe UI"/>
              </a:rPr>
              <a:t>groups — persona dropdown has no effect.</a:t>
            </a:r>
          </a:p>
          <a:p>
            <a:pPr algn="l">
              <a:spcAft>
                <a:spcPts val="400"/>
              </a:spcAft>
            </a:pPr>
            <a:r>
              <a:rPr sz="1150" b="1" i="0">
                <a:solidFill>
                  <a:srgbClr val="1A202C"/>
                </a:solidFill>
                <a:latin typeface="Segoe UI"/>
              </a:rPr>
              <a:t>GA trimming (use_native_acl=false):</a:t>
            </a:r>
          </a:p>
          <a:p>
            <a:pPr algn="l">
              <a:spcAft>
                <a:spcPts val="400"/>
              </a:spcAft>
            </a:pPr>
            <a:r>
              <a:rPr sz="1100" b="0" i="0">
                <a:solidFill>
                  <a:srgbClr val="1A202C"/>
                </a:solidFill>
                <a:latin typeface="Consolas"/>
              </a:rPr>
              <a:t>builds filter from persona.entra_group_id →</a:t>
            </a:r>
          </a:p>
          <a:p>
            <a:pPr algn="l">
              <a:spcAft>
                <a:spcPts val="400"/>
              </a:spcAft>
            </a:pPr>
            <a:r>
              <a:rPr sz="1100" b="0" i="0">
                <a:solidFill>
                  <a:srgbClr val="1A202C"/>
                </a:solidFill>
                <a:latin typeface="Segoe UI"/>
              </a:rPr>
              <a:t>per-persona subsets for the same tester.</a:t>
            </a:r>
          </a:p>
        </p:txBody>
      </p:sp>
      <p:sp>
        <p:nvSpPr>
          <p:cNvPr id="19" name="TextBox 18"/>
          <p:cNvSpPr txBox="1"/>
          <p:nvPr/>
        </p:nvSpPr>
        <p:spPr>
          <a:xfrm>
            <a:off x="502920" y="6419088"/>
            <a:ext cx="7315200" cy="274320"/>
          </a:xfrm>
          <a:prstGeom prst="rect">
            <a:avLst/>
          </a:prstGeom>
          <a:noFill/>
        </p:spPr>
        <p:txBody>
          <a:bodyPr wrap="square" lIns="0" tIns="0" rIns="0" bIns="0" anchor="t">
            <a:spAutoFit/>
          </a:bodyPr>
          <a:lstStyle/>
          <a:p>
            <a:pPr algn="l">
              <a:spcAft>
                <a:spcPts val="400"/>
              </a:spcAft>
            </a:pPr>
            <a:r>
              <a:rPr sz="900" b="0" i="0">
                <a:solidFill>
                  <a:srgbClr val="6B7280"/>
                </a:solidFill>
                <a:latin typeface="Segoe UI"/>
              </a:rPr>
              <a:t>One deployed agent · two front doors · Foundry hosted agent on Teams</a:t>
            </a:r>
          </a:p>
        </p:txBody>
      </p:sp>
      <p:sp>
        <p:nvSpPr>
          <p:cNvPr id="20" name="TextBox 19"/>
          <p:cNvSpPr txBox="1"/>
          <p:nvPr/>
        </p:nvSpPr>
        <p:spPr>
          <a:xfrm>
            <a:off x="10881360" y="6419088"/>
            <a:ext cx="822960" cy="274320"/>
          </a:xfrm>
          <a:prstGeom prst="rect">
            <a:avLst/>
          </a:prstGeom>
          <a:noFill/>
        </p:spPr>
        <p:txBody>
          <a:bodyPr wrap="square" lIns="0" tIns="0" rIns="0" bIns="0" anchor="t">
            <a:spAutoFit/>
          </a:bodyPr>
          <a:lstStyle/>
          <a:p>
            <a:pPr algn="r">
              <a:spcAft>
                <a:spcPts val="400"/>
              </a:spcAft>
            </a:pPr>
            <a:r>
              <a:rPr sz="900" b="0" i="0">
                <a:solidFill>
                  <a:srgbClr val="6B7280"/>
                </a:solidFill>
                <a:latin typeface="Segoe UI"/>
              </a:rPr>
              <a:t>12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2F5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170432"/>
            <a:ext cx="12191695"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274320"/>
            <a:ext cx="128016" cy="60350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19456"/>
            <a:ext cx="10789920" cy="310896"/>
          </a:xfrm>
          <a:prstGeom prst="rect">
            <a:avLst/>
          </a:prstGeom>
          <a:noFill/>
        </p:spPr>
        <p:txBody>
          <a:bodyPr wrap="square" lIns="0" tIns="0" rIns="0" bIns="0" anchor="t">
            <a:spAutoFit/>
          </a:bodyPr>
          <a:lstStyle/>
          <a:p>
            <a:pPr algn="l">
              <a:spcAft>
                <a:spcPts val="400"/>
              </a:spcAft>
            </a:pPr>
            <a:r>
              <a:rPr sz="1250" b="0" i="0">
                <a:solidFill>
                  <a:srgbClr val="1F4E79"/>
                </a:solidFill>
                <a:latin typeface="Segoe UI"/>
              </a:rPr>
              <a:t>TEAMS UX &amp; IDENTITY</a:t>
            </a:r>
          </a:p>
        </p:txBody>
      </p:sp>
      <p:sp>
        <p:nvSpPr>
          <p:cNvPr id="6" name="TextBox 5"/>
          <p:cNvSpPr txBox="1"/>
          <p:nvPr/>
        </p:nvSpPr>
        <p:spPr>
          <a:xfrm>
            <a:off x="777240" y="502920"/>
            <a:ext cx="10789920" cy="566928"/>
          </a:xfrm>
          <a:prstGeom prst="rect">
            <a:avLst/>
          </a:prstGeom>
          <a:noFill/>
        </p:spPr>
        <p:txBody>
          <a:bodyPr wrap="square" lIns="0" tIns="0" rIns="0" bIns="0" anchor="t">
            <a:spAutoFit/>
          </a:bodyPr>
          <a:lstStyle/>
          <a:p>
            <a:pPr algn="l">
              <a:spcAft>
                <a:spcPts val="400"/>
              </a:spcAft>
            </a:pPr>
            <a:r>
              <a:rPr sz="2600" b="1" i="0">
                <a:solidFill>
                  <a:srgbClr val="FFFFFF"/>
                </a:solidFill>
                <a:latin typeface="Segoe UI"/>
              </a:rPr>
              <a:t>What Option A gives vs what needs Option B</a:t>
            </a:r>
          </a:p>
        </p:txBody>
      </p:sp>
      <p:graphicFrame>
        <p:nvGraphicFramePr>
          <p:cNvPr id="7" name="Table 6"/>
          <p:cNvGraphicFramePr>
            <a:graphicFrameLocks noGrp="1"/>
          </p:cNvGraphicFramePr>
          <p:nvPr/>
        </p:nvGraphicFramePr>
        <p:xfrm>
          <a:off x="640080" y="1554480"/>
          <a:ext cx="6309360" cy="3566160"/>
        </p:xfrm>
        <a:graphic>
          <a:graphicData uri="http://schemas.openxmlformats.org/drawingml/2006/table">
            <a:tbl>
              <a:tblPr>
                <a:tableStyleId>{5C22544A-7EE6-4342-B048-85BDC9FD1C3A}</a:tableStyleId>
              </a:tblPr>
              <a:tblGrid>
                <a:gridCol w="466344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396240">
                <a:tc>
                  <a:txBody>
                    <a:bodyPr/>
                    <a:lstStyle/>
                    <a:p>
                      <a:pPr algn="l"/>
                      <a:r>
                        <a:rPr sz="1150" b="1">
                          <a:solidFill>
                            <a:srgbClr val="FFFFFF"/>
                          </a:solidFill>
                          <a:latin typeface="Segoe UI"/>
                        </a:rPr>
                        <a:t>Teams capability</a:t>
                      </a:r>
                    </a:p>
                  </a:txBody>
                  <a:tcPr marL="73152" marR="54864" marT="27432" marB="27432" anchor="ctr">
                    <a:solidFill>
                      <a:srgbClr val="1F4E79"/>
                    </a:solidFill>
                  </a:tcPr>
                </a:tc>
                <a:tc>
                  <a:txBody>
                    <a:bodyPr/>
                    <a:lstStyle/>
                    <a:p>
                      <a:pPr algn="ctr"/>
                      <a:r>
                        <a:rPr sz="1150" b="1">
                          <a:solidFill>
                            <a:srgbClr val="FFFFFF"/>
                          </a:solidFill>
                          <a:latin typeface="Segoe UI"/>
                        </a:rPr>
                        <a:t>A</a:t>
                      </a:r>
                    </a:p>
                  </a:txBody>
                  <a:tcPr marL="73152" marR="54864" marT="27432" marB="27432" anchor="ctr">
                    <a:solidFill>
                      <a:srgbClr val="1F4E79"/>
                    </a:solidFill>
                  </a:tcPr>
                </a:tc>
                <a:tc>
                  <a:txBody>
                    <a:bodyPr/>
                    <a:lstStyle/>
                    <a:p>
                      <a:pPr algn="ctr"/>
                      <a:r>
                        <a:rPr sz="1150" b="1">
                          <a:solidFill>
                            <a:srgbClr val="FFFFFF"/>
                          </a:solidFill>
                          <a:latin typeface="Segoe UI"/>
                        </a:rPr>
                        <a:t>B</a:t>
                      </a:r>
                    </a:p>
                  </a:txBody>
                  <a:tcPr marL="73152" marR="54864" marT="27432" marB="27432" anchor="ctr">
                    <a:solidFill>
                      <a:srgbClr val="1F4E79"/>
                    </a:solidFill>
                  </a:tcPr>
                </a:tc>
                <a:extLst>
                  <a:ext uri="{0D108BD9-81ED-4DB2-BD59-A6C34878D82A}">
                    <a16:rowId xmlns:a16="http://schemas.microsoft.com/office/drawing/2014/main" val="10000"/>
                  </a:ext>
                </a:extLst>
              </a:tr>
              <a:tr h="396240">
                <a:tc>
                  <a:txBody>
                    <a:bodyPr/>
                    <a:lstStyle/>
                    <a:p>
                      <a:pPr algn="l"/>
                      <a:r>
                        <a:rPr sz="1150" b="1">
                          <a:solidFill>
                            <a:srgbClr val="1A202C"/>
                          </a:solidFill>
                          <a:latin typeface="Segoe UI"/>
                        </a:rPr>
                        <a:t>Conversational chat + Markdown</a:t>
                      </a:r>
                    </a:p>
                  </a:txBody>
                  <a:tcPr marL="73152" marR="54864" marT="18288" marB="18288" anchor="ctr">
                    <a:solidFill>
                      <a:srgbClr val="FFFFFF"/>
                    </a:solidFill>
                  </a:tcPr>
                </a:tc>
                <a:tc>
                  <a:txBody>
                    <a:bodyPr/>
                    <a:lstStyle/>
                    <a:p>
                      <a:pPr algn="ctr"/>
                      <a:r>
                        <a:rPr sz="1150" b="0">
                          <a:solidFill>
                            <a:srgbClr val="1A202C"/>
                          </a:solidFill>
                          <a:latin typeface="Segoe UI"/>
                        </a:rPr>
                        <a:t>✓</a:t>
                      </a:r>
                    </a:p>
                  </a:txBody>
                  <a:tcPr marL="73152" marR="54864" marT="18288" marB="18288" anchor="ctr">
                    <a:solidFill>
                      <a:srgbClr val="FFFFFF"/>
                    </a:solidFill>
                  </a:tcPr>
                </a:tc>
                <a:tc>
                  <a:txBody>
                    <a:bodyPr/>
                    <a:lstStyle/>
                    <a:p>
                      <a:pPr algn="ctr"/>
                      <a:r>
                        <a:rPr sz="1150" b="0">
                          <a:solidFill>
                            <a:srgbClr val="1A202C"/>
                          </a:solidFill>
                          <a:latin typeface="Segoe UI"/>
                        </a:rPr>
                        <a:t>–</a:t>
                      </a:r>
                    </a:p>
                  </a:txBody>
                  <a:tcPr marL="73152" marR="54864" marT="18288" marB="18288" anchor="ctr">
                    <a:solidFill>
                      <a:srgbClr val="FFFFFF"/>
                    </a:solidFill>
                  </a:tcPr>
                </a:tc>
                <a:extLst>
                  <a:ext uri="{0D108BD9-81ED-4DB2-BD59-A6C34878D82A}">
                    <a16:rowId xmlns:a16="http://schemas.microsoft.com/office/drawing/2014/main" val="10001"/>
                  </a:ext>
                </a:extLst>
              </a:tr>
              <a:tr h="396240">
                <a:tc>
                  <a:txBody>
                    <a:bodyPr/>
                    <a:lstStyle/>
                    <a:p>
                      <a:pPr algn="l"/>
                      <a:r>
                        <a:rPr sz="1150" b="1">
                          <a:solidFill>
                            <a:srgbClr val="1A202C"/>
                          </a:solidFill>
                          <a:latin typeface="Segoe UI"/>
                        </a:rPr>
                        <a:t>Inline footnote citations</a:t>
                      </a:r>
                    </a:p>
                  </a:txBody>
                  <a:tcPr marL="73152" marR="54864" marT="18288" marB="18288" anchor="ctr">
                    <a:solidFill>
                      <a:srgbClr val="EDF1F7"/>
                    </a:solidFill>
                  </a:tcPr>
                </a:tc>
                <a:tc>
                  <a:txBody>
                    <a:bodyPr/>
                    <a:lstStyle/>
                    <a:p>
                      <a:pPr algn="ctr"/>
                      <a:r>
                        <a:rPr sz="1150" b="0">
                          <a:solidFill>
                            <a:srgbClr val="1A202C"/>
                          </a:solidFill>
                          <a:latin typeface="Segoe UI"/>
                        </a:rPr>
                        <a:t>✓</a:t>
                      </a:r>
                    </a:p>
                  </a:txBody>
                  <a:tcPr marL="73152" marR="54864" marT="18288" marB="18288" anchor="ctr">
                    <a:solidFill>
                      <a:srgbClr val="EDF1F7"/>
                    </a:solidFill>
                  </a:tcPr>
                </a:tc>
                <a:tc>
                  <a:txBody>
                    <a:bodyPr/>
                    <a:lstStyle/>
                    <a:p>
                      <a:pPr algn="ctr"/>
                      <a:r>
                        <a:rPr sz="1150" b="0">
                          <a:solidFill>
                            <a:srgbClr val="1A202C"/>
                          </a:solidFill>
                          <a:latin typeface="Segoe UI"/>
                        </a:rPr>
                        <a:t>–</a:t>
                      </a:r>
                    </a:p>
                  </a:txBody>
                  <a:tcPr marL="73152" marR="54864" marT="18288" marB="18288" anchor="ctr">
                    <a:solidFill>
                      <a:srgbClr val="EDF1F7"/>
                    </a:solidFill>
                  </a:tcPr>
                </a:tc>
                <a:extLst>
                  <a:ext uri="{0D108BD9-81ED-4DB2-BD59-A6C34878D82A}">
                    <a16:rowId xmlns:a16="http://schemas.microsoft.com/office/drawing/2014/main" val="10002"/>
                  </a:ext>
                </a:extLst>
              </a:tr>
              <a:tr h="396240">
                <a:tc>
                  <a:txBody>
                    <a:bodyPr/>
                    <a:lstStyle/>
                    <a:p>
                      <a:pPr algn="l"/>
                      <a:r>
                        <a:rPr sz="1150" b="1">
                          <a:solidFill>
                            <a:srgbClr val="1A202C"/>
                          </a:solidFill>
                          <a:latin typeface="Segoe UI"/>
                        </a:rPr>
                        <a:t>Authored Adaptive Cards</a:t>
                      </a:r>
                    </a:p>
                  </a:txBody>
                  <a:tcPr marL="73152" marR="54864" marT="18288" marB="18288" anchor="ctr">
                    <a:solidFill>
                      <a:srgbClr val="FFFFFF"/>
                    </a:solidFill>
                  </a:tcPr>
                </a:tc>
                <a:tc>
                  <a:txBody>
                    <a:bodyPr/>
                    <a:lstStyle/>
                    <a:p>
                      <a:pPr algn="ctr"/>
                      <a:r>
                        <a:rPr sz="1150" b="0">
                          <a:solidFill>
                            <a:srgbClr val="1A202C"/>
                          </a:solidFill>
                          <a:latin typeface="Segoe UI"/>
                        </a:rPr>
                        <a:t>✗</a:t>
                      </a:r>
                    </a:p>
                  </a:txBody>
                  <a:tcPr marL="73152" marR="54864" marT="18288" marB="18288" anchor="ctr">
                    <a:solidFill>
                      <a:srgbClr val="FFFFFF"/>
                    </a:solidFill>
                  </a:tcPr>
                </a:tc>
                <a:tc>
                  <a:txBody>
                    <a:bodyPr/>
                    <a:lstStyle/>
                    <a:p>
                      <a:pPr algn="ctr"/>
                      <a:r>
                        <a:rPr sz="1150" b="0">
                          <a:solidFill>
                            <a:srgbClr val="1A202C"/>
                          </a:solidFill>
                          <a:latin typeface="Segoe UI"/>
                        </a:rPr>
                        <a:t>✓</a:t>
                      </a:r>
                    </a:p>
                  </a:txBody>
                  <a:tcPr marL="73152" marR="54864" marT="18288" marB="18288" anchor="ctr">
                    <a:solidFill>
                      <a:srgbClr val="FFFFFF"/>
                    </a:solidFill>
                  </a:tcPr>
                </a:tc>
                <a:extLst>
                  <a:ext uri="{0D108BD9-81ED-4DB2-BD59-A6C34878D82A}">
                    <a16:rowId xmlns:a16="http://schemas.microsoft.com/office/drawing/2014/main" val="10003"/>
                  </a:ext>
                </a:extLst>
              </a:tr>
              <a:tr h="396240">
                <a:tc>
                  <a:txBody>
                    <a:bodyPr/>
                    <a:lstStyle/>
                    <a:p>
                      <a:pPr algn="l"/>
                      <a:r>
                        <a:rPr sz="1150" b="1">
                          <a:solidFill>
                            <a:srgbClr val="1A202C"/>
                          </a:solidFill>
                          <a:latin typeface="Segoe UI"/>
                        </a:rPr>
                        <a:t>Buttons / Action.Execute (HITL)</a:t>
                      </a:r>
                    </a:p>
                  </a:txBody>
                  <a:tcPr marL="73152" marR="54864" marT="18288" marB="18288" anchor="ctr">
                    <a:solidFill>
                      <a:srgbClr val="EDF1F7"/>
                    </a:solidFill>
                  </a:tcPr>
                </a:tc>
                <a:tc>
                  <a:txBody>
                    <a:bodyPr/>
                    <a:lstStyle/>
                    <a:p>
                      <a:pPr algn="ctr"/>
                      <a:r>
                        <a:rPr sz="1150" b="0">
                          <a:solidFill>
                            <a:srgbClr val="1A202C"/>
                          </a:solidFill>
                          <a:latin typeface="Segoe UI"/>
                        </a:rPr>
                        <a:t>✗</a:t>
                      </a:r>
                    </a:p>
                  </a:txBody>
                  <a:tcPr marL="73152" marR="54864" marT="18288" marB="18288" anchor="ctr">
                    <a:solidFill>
                      <a:srgbClr val="EDF1F7"/>
                    </a:solidFill>
                  </a:tcPr>
                </a:tc>
                <a:tc>
                  <a:txBody>
                    <a:bodyPr/>
                    <a:lstStyle/>
                    <a:p>
                      <a:pPr algn="ctr"/>
                      <a:r>
                        <a:rPr sz="1150" b="0">
                          <a:solidFill>
                            <a:srgbClr val="1A202C"/>
                          </a:solidFill>
                          <a:latin typeface="Segoe UI"/>
                        </a:rPr>
                        <a:t>✓</a:t>
                      </a:r>
                    </a:p>
                  </a:txBody>
                  <a:tcPr marL="73152" marR="54864" marT="18288" marB="18288" anchor="ctr">
                    <a:solidFill>
                      <a:srgbClr val="EDF1F7"/>
                    </a:solidFill>
                  </a:tcPr>
                </a:tc>
                <a:extLst>
                  <a:ext uri="{0D108BD9-81ED-4DB2-BD59-A6C34878D82A}">
                    <a16:rowId xmlns:a16="http://schemas.microsoft.com/office/drawing/2014/main" val="10004"/>
                  </a:ext>
                </a:extLst>
              </a:tr>
              <a:tr h="396240">
                <a:tc>
                  <a:txBody>
                    <a:bodyPr/>
                    <a:lstStyle/>
                    <a:p>
                      <a:pPr algn="l"/>
                      <a:r>
                        <a:rPr sz="1150" b="1">
                          <a:solidFill>
                            <a:srgbClr val="1A202C"/>
                          </a:solidFill>
                          <a:latin typeface="Segoe UI"/>
                        </a:rPr>
                        <a:t>Clarification cards, suggested prompts</a:t>
                      </a:r>
                    </a:p>
                  </a:txBody>
                  <a:tcPr marL="73152" marR="54864" marT="18288" marB="18288" anchor="ctr">
                    <a:solidFill>
                      <a:srgbClr val="FFFFFF"/>
                    </a:solidFill>
                  </a:tcPr>
                </a:tc>
                <a:tc>
                  <a:txBody>
                    <a:bodyPr/>
                    <a:lstStyle/>
                    <a:p>
                      <a:pPr algn="ctr"/>
                      <a:r>
                        <a:rPr sz="1150" b="0">
                          <a:solidFill>
                            <a:srgbClr val="1A202C"/>
                          </a:solidFill>
                          <a:latin typeface="Segoe UI"/>
                        </a:rPr>
                        <a:t>✗</a:t>
                      </a:r>
                    </a:p>
                  </a:txBody>
                  <a:tcPr marL="73152" marR="54864" marT="18288" marB="18288" anchor="ctr">
                    <a:solidFill>
                      <a:srgbClr val="FFFFFF"/>
                    </a:solidFill>
                  </a:tcPr>
                </a:tc>
                <a:tc>
                  <a:txBody>
                    <a:bodyPr/>
                    <a:lstStyle/>
                    <a:p>
                      <a:pPr algn="ctr"/>
                      <a:r>
                        <a:rPr sz="1150" b="0">
                          <a:solidFill>
                            <a:srgbClr val="1A202C"/>
                          </a:solidFill>
                          <a:latin typeface="Segoe UI"/>
                        </a:rPr>
                        <a:t>✓</a:t>
                      </a:r>
                    </a:p>
                  </a:txBody>
                  <a:tcPr marL="73152" marR="54864" marT="18288" marB="18288" anchor="ctr">
                    <a:solidFill>
                      <a:srgbClr val="FFFFFF"/>
                    </a:solidFill>
                  </a:tcPr>
                </a:tc>
                <a:extLst>
                  <a:ext uri="{0D108BD9-81ED-4DB2-BD59-A6C34878D82A}">
                    <a16:rowId xmlns:a16="http://schemas.microsoft.com/office/drawing/2014/main" val="10005"/>
                  </a:ext>
                </a:extLst>
              </a:tr>
              <a:tr h="396240">
                <a:tc>
                  <a:txBody>
                    <a:bodyPr/>
                    <a:lstStyle/>
                    <a:p>
                      <a:pPr algn="l"/>
                      <a:r>
                        <a:rPr sz="1150" b="1">
                          <a:solidFill>
                            <a:srgbClr val="1A202C"/>
                          </a:solidFill>
                          <a:latin typeface="Segoe UI"/>
                        </a:rPr>
                        <a:t>Thumbs up/down feedback</a:t>
                      </a:r>
                    </a:p>
                  </a:txBody>
                  <a:tcPr marL="73152" marR="54864" marT="18288" marB="18288" anchor="ctr">
                    <a:solidFill>
                      <a:srgbClr val="EDF1F7"/>
                    </a:solidFill>
                  </a:tcPr>
                </a:tc>
                <a:tc>
                  <a:txBody>
                    <a:bodyPr/>
                    <a:lstStyle/>
                    <a:p>
                      <a:pPr algn="ctr"/>
                      <a:r>
                        <a:rPr sz="1150" b="0">
                          <a:solidFill>
                            <a:srgbClr val="1A202C"/>
                          </a:solidFill>
                          <a:latin typeface="Segoe UI"/>
                        </a:rPr>
                        <a:t>✗</a:t>
                      </a:r>
                    </a:p>
                  </a:txBody>
                  <a:tcPr marL="73152" marR="54864" marT="18288" marB="18288" anchor="ctr">
                    <a:solidFill>
                      <a:srgbClr val="EDF1F7"/>
                    </a:solidFill>
                  </a:tcPr>
                </a:tc>
                <a:tc>
                  <a:txBody>
                    <a:bodyPr/>
                    <a:lstStyle/>
                    <a:p>
                      <a:pPr algn="ctr"/>
                      <a:r>
                        <a:rPr sz="1150" b="0">
                          <a:solidFill>
                            <a:srgbClr val="1A202C"/>
                          </a:solidFill>
                          <a:latin typeface="Segoe UI"/>
                        </a:rPr>
                        <a:t>✓</a:t>
                      </a:r>
                    </a:p>
                  </a:txBody>
                  <a:tcPr marL="73152" marR="54864" marT="18288" marB="18288" anchor="ctr">
                    <a:solidFill>
                      <a:srgbClr val="EDF1F7"/>
                    </a:solidFill>
                  </a:tcPr>
                </a:tc>
                <a:extLst>
                  <a:ext uri="{0D108BD9-81ED-4DB2-BD59-A6C34878D82A}">
                    <a16:rowId xmlns:a16="http://schemas.microsoft.com/office/drawing/2014/main" val="10006"/>
                  </a:ext>
                </a:extLst>
              </a:tr>
              <a:tr h="396240">
                <a:tc>
                  <a:txBody>
                    <a:bodyPr/>
                    <a:lstStyle/>
                    <a:p>
                      <a:pPr algn="l"/>
                      <a:r>
                        <a:rPr sz="1150" b="1">
                          <a:solidFill>
                            <a:srgbClr val="1A202C"/>
                          </a:solidFill>
                          <a:latin typeface="Segoe UI"/>
                        </a:rPr>
                        <a:t>Message extensions, tabs, dialogs</a:t>
                      </a:r>
                    </a:p>
                  </a:txBody>
                  <a:tcPr marL="73152" marR="54864" marT="18288" marB="18288" anchor="ctr">
                    <a:solidFill>
                      <a:srgbClr val="FFFFFF"/>
                    </a:solidFill>
                  </a:tcPr>
                </a:tc>
                <a:tc>
                  <a:txBody>
                    <a:bodyPr/>
                    <a:lstStyle/>
                    <a:p>
                      <a:pPr algn="ctr"/>
                      <a:r>
                        <a:rPr sz="1150" b="0">
                          <a:solidFill>
                            <a:srgbClr val="1A202C"/>
                          </a:solidFill>
                          <a:latin typeface="Segoe UI"/>
                        </a:rPr>
                        <a:t>✗</a:t>
                      </a:r>
                    </a:p>
                  </a:txBody>
                  <a:tcPr marL="73152" marR="54864" marT="18288" marB="18288" anchor="ctr">
                    <a:solidFill>
                      <a:srgbClr val="FFFFFF"/>
                    </a:solidFill>
                  </a:tcPr>
                </a:tc>
                <a:tc>
                  <a:txBody>
                    <a:bodyPr/>
                    <a:lstStyle/>
                    <a:p>
                      <a:pPr algn="ctr"/>
                      <a:r>
                        <a:rPr sz="1150" b="0">
                          <a:solidFill>
                            <a:srgbClr val="1A202C"/>
                          </a:solidFill>
                          <a:latin typeface="Segoe UI"/>
                        </a:rPr>
                        <a:t>✓</a:t>
                      </a:r>
                    </a:p>
                  </a:txBody>
                  <a:tcPr marL="73152" marR="54864" marT="18288" marB="18288" anchor="ctr">
                    <a:solidFill>
                      <a:srgbClr val="FFFFFF"/>
                    </a:solidFill>
                  </a:tcPr>
                </a:tc>
                <a:extLst>
                  <a:ext uri="{0D108BD9-81ED-4DB2-BD59-A6C34878D82A}">
                    <a16:rowId xmlns:a16="http://schemas.microsoft.com/office/drawing/2014/main" val="10007"/>
                  </a:ext>
                </a:extLst>
              </a:tr>
              <a:tr h="396240">
                <a:tc>
                  <a:txBody>
                    <a:bodyPr/>
                    <a:lstStyle/>
                    <a:p>
                      <a:pPr algn="l"/>
                      <a:r>
                        <a:rPr sz="1150" b="1">
                          <a:solidFill>
                            <a:srgbClr val="1A202C"/>
                          </a:solidFill>
                          <a:latin typeface="Segoe UI"/>
                        </a:rPr>
                        <a:t>Per-user OBO to downstream</a:t>
                      </a:r>
                    </a:p>
                  </a:txBody>
                  <a:tcPr marL="73152" marR="54864" marT="18288" marB="18288" anchor="ctr">
                    <a:solidFill>
                      <a:srgbClr val="EDF1F7"/>
                    </a:solidFill>
                  </a:tcPr>
                </a:tc>
                <a:tc>
                  <a:txBody>
                    <a:bodyPr/>
                    <a:lstStyle/>
                    <a:p>
                      <a:pPr algn="ctr"/>
                      <a:r>
                        <a:rPr sz="1150" b="0">
                          <a:solidFill>
                            <a:srgbClr val="1A202C"/>
                          </a:solidFill>
                          <a:latin typeface="Segoe UI"/>
                        </a:rPr>
                        <a:t>✗</a:t>
                      </a:r>
                    </a:p>
                  </a:txBody>
                  <a:tcPr marL="73152" marR="54864" marT="18288" marB="18288" anchor="ctr">
                    <a:solidFill>
                      <a:srgbClr val="EDF1F7"/>
                    </a:solidFill>
                  </a:tcPr>
                </a:tc>
                <a:tc>
                  <a:txBody>
                    <a:bodyPr/>
                    <a:lstStyle/>
                    <a:p>
                      <a:pPr algn="ctr"/>
                      <a:r>
                        <a:rPr sz="1150" b="0">
                          <a:solidFill>
                            <a:srgbClr val="1A202C"/>
                          </a:solidFill>
                          <a:latin typeface="Segoe UI"/>
                        </a:rPr>
                        <a:t>✓</a:t>
                      </a:r>
                    </a:p>
                  </a:txBody>
                  <a:tcPr marL="73152" marR="54864" marT="18288" marB="18288" anchor="ctr">
                    <a:solidFill>
                      <a:srgbClr val="EDF1F7"/>
                    </a:solidFill>
                  </a:tcPr>
                </a:tc>
                <a:extLst>
                  <a:ext uri="{0D108BD9-81ED-4DB2-BD59-A6C34878D82A}">
                    <a16:rowId xmlns:a16="http://schemas.microsoft.com/office/drawing/2014/main" val="10008"/>
                  </a:ext>
                </a:extLst>
              </a:tr>
            </a:tbl>
          </a:graphicData>
        </a:graphic>
      </p:graphicFrame>
      <p:sp>
        <p:nvSpPr>
          <p:cNvPr id="8" name="Rounded Rectangle 7"/>
          <p:cNvSpPr/>
          <p:nvPr/>
        </p:nvSpPr>
        <p:spPr>
          <a:xfrm>
            <a:off x="7178040" y="1554480"/>
            <a:ext cx="4343400" cy="3566160"/>
          </a:xfrm>
          <a:prstGeom prst="roundRect">
            <a:avLst>
              <a:gd name="adj" fmla="val 6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178040" y="1554480"/>
            <a:ext cx="4343400" cy="4572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60919" y="1554480"/>
            <a:ext cx="3977639" cy="457200"/>
          </a:xfrm>
          <a:prstGeom prst="rect">
            <a:avLst/>
          </a:prstGeom>
          <a:noFill/>
        </p:spPr>
        <p:txBody>
          <a:bodyPr wrap="square" lIns="0" tIns="0" rIns="0" bIns="0" anchor="ctr">
            <a:spAutoFit/>
          </a:bodyPr>
          <a:lstStyle/>
          <a:p>
            <a:pPr algn="l">
              <a:spcAft>
                <a:spcPts val="400"/>
              </a:spcAft>
            </a:pPr>
            <a:r>
              <a:rPr sz="1400" b="1" i="0">
                <a:solidFill>
                  <a:srgbClr val="FFFFFF"/>
                </a:solidFill>
                <a:latin typeface="Segoe UI"/>
              </a:rPr>
              <a:t>The nuance</a:t>
            </a:r>
          </a:p>
        </p:txBody>
      </p:sp>
      <p:sp>
        <p:nvSpPr>
          <p:cNvPr id="11" name="TextBox 10"/>
          <p:cNvSpPr txBox="1"/>
          <p:nvPr/>
        </p:nvSpPr>
        <p:spPr>
          <a:xfrm>
            <a:off x="7397496" y="2121408"/>
            <a:ext cx="3904487" cy="2926080"/>
          </a:xfrm>
          <a:prstGeom prst="rect">
            <a:avLst/>
          </a:prstGeom>
          <a:noFill/>
        </p:spPr>
        <p:txBody>
          <a:bodyPr wrap="square" lIns="0" tIns="0" rIns="0" bIns="0" anchor="t">
            <a:spAutoFit/>
          </a:bodyPr>
          <a:lstStyle/>
          <a:p>
            <a:pPr algn="l">
              <a:spcAft>
                <a:spcPts val="400"/>
              </a:spcAft>
            </a:pPr>
            <a:r>
              <a:rPr sz="1250" b="0" i="0">
                <a:solidFill>
                  <a:srgbClr val="1A202C"/>
                </a:solidFill>
                <a:latin typeface="Segoe UI"/>
              </a:rPr>
              <a:t>Option A keeps conversational chat</a:t>
            </a:r>
          </a:p>
          <a:p>
            <a:pPr algn="l">
              <a:spcAft>
                <a:spcPts val="400"/>
              </a:spcAft>
            </a:pPr>
            <a:r>
              <a:rPr sz="1250" b="0" i="0">
                <a:solidFill>
                  <a:srgbClr val="1A202C"/>
                </a:solidFill>
                <a:latin typeface="Segoe UI"/>
              </a:rPr>
              <a:t>and native citations — but loses the</a:t>
            </a:r>
          </a:p>
          <a:p>
            <a:pPr algn="l">
              <a:spcAft>
                <a:spcPts val="400"/>
              </a:spcAft>
            </a:pPr>
            <a:r>
              <a:rPr sz="1250" b="0" i="0">
                <a:solidFill>
                  <a:srgbClr val="1A202C"/>
                </a:solidFill>
                <a:latin typeface="Segoe UI"/>
              </a:rPr>
              <a:t>authored UI and customer-controlled</a:t>
            </a:r>
          </a:p>
          <a:p>
            <a:pPr algn="l">
              <a:spcAft>
                <a:spcPts val="400"/>
              </a:spcAft>
            </a:pPr>
            <a:r>
              <a:rPr sz="1250" b="0" i="0">
                <a:solidFill>
                  <a:srgbClr val="1A202C"/>
                </a:solidFill>
                <a:latin typeface="Segoe UI"/>
              </a:rPr>
              <a:t>identity flows.</a:t>
            </a:r>
          </a:p>
          <a:p>
            <a:pPr algn="l">
              <a:spcAft>
                <a:spcPts val="400"/>
              </a:spcAft>
            </a:pPr>
            <a:r>
              <a:rPr sz="600" b="0" i="0">
                <a:solidFill>
                  <a:srgbClr val="1A202C"/>
                </a:solidFill>
                <a:latin typeface="Segoe UI"/>
              </a:rPr>
              <a:t> </a:t>
            </a:r>
          </a:p>
          <a:p>
            <a:pPr algn="l">
              <a:spcAft>
                <a:spcPts val="400"/>
              </a:spcAft>
            </a:pPr>
            <a:r>
              <a:rPr sz="1200" b="0" i="0">
                <a:solidFill>
                  <a:srgbClr val="1A202C"/>
                </a:solidFill>
                <a:latin typeface="Segoe UI"/>
              </a:rPr>
              <a:t>Direct publish provides channel-level</a:t>
            </a:r>
          </a:p>
          <a:p>
            <a:pPr algn="l">
              <a:spcAft>
                <a:spcPts val="400"/>
              </a:spcAft>
            </a:pPr>
            <a:r>
              <a:rPr sz="1200" b="0" i="0">
                <a:solidFill>
                  <a:srgbClr val="1A202C"/>
                </a:solidFill>
                <a:latin typeface="Segoe UI"/>
              </a:rPr>
              <a:t>auth + a dedicated agent identity for</a:t>
            </a:r>
          </a:p>
          <a:p>
            <a:pPr algn="l">
              <a:spcAft>
                <a:spcPts val="400"/>
              </a:spcAft>
            </a:pPr>
            <a:r>
              <a:rPr sz="1200" b="0" i="0">
                <a:solidFill>
                  <a:srgbClr val="1A202C"/>
                </a:solidFill>
                <a:latin typeface="Segoe UI"/>
              </a:rPr>
              <a:t>app-only downstream access.</a:t>
            </a:r>
          </a:p>
          <a:p>
            <a:pPr algn="l">
              <a:spcAft>
                <a:spcPts val="400"/>
              </a:spcAft>
            </a:pPr>
            <a:r>
              <a:rPr sz="600" b="0" i="0">
                <a:solidFill>
                  <a:srgbClr val="1A202C"/>
                </a:solidFill>
                <a:latin typeface="Segoe UI"/>
              </a:rPr>
              <a:t> </a:t>
            </a:r>
          </a:p>
          <a:p>
            <a:pPr algn="l">
              <a:spcAft>
                <a:spcPts val="400"/>
              </a:spcAft>
            </a:pPr>
            <a:r>
              <a:rPr sz="1200" b="1" i="0">
                <a:solidFill>
                  <a:srgbClr val="1F9E74"/>
                </a:solidFill>
                <a:latin typeface="Segoe UI"/>
              </a:rPr>
              <a:t>Per-user OBO (attended flow) needs a</a:t>
            </a:r>
          </a:p>
          <a:p>
            <a:pPr algn="l">
              <a:spcAft>
                <a:spcPts val="400"/>
              </a:spcAft>
            </a:pPr>
            <a:r>
              <a:rPr sz="1200" b="1" i="0">
                <a:solidFill>
                  <a:srgbClr val="1F9E74"/>
                </a:solidFill>
                <a:latin typeface="Segoe UI"/>
              </a:rPr>
              <a:t>trust-boundary app → Option B.</a:t>
            </a:r>
          </a:p>
        </p:txBody>
      </p:sp>
      <p:sp>
        <p:nvSpPr>
          <p:cNvPr id="12" name="TextBox 11"/>
          <p:cNvSpPr txBox="1"/>
          <p:nvPr/>
        </p:nvSpPr>
        <p:spPr>
          <a:xfrm>
            <a:off x="640080" y="5349240"/>
            <a:ext cx="10881360" cy="822960"/>
          </a:xfrm>
          <a:prstGeom prst="rect">
            <a:avLst/>
          </a:prstGeom>
          <a:noFill/>
        </p:spPr>
        <p:txBody>
          <a:bodyPr wrap="square" lIns="0" tIns="0" rIns="0" bIns="0" anchor="t">
            <a:spAutoFit/>
          </a:bodyPr>
          <a:lstStyle/>
          <a:p>
            <a:pPr algn="l">
              <a:spcAft>
                <a:spcPts val="400"/>
              </a:spcAft>
            </a:pPr>
            <a:r>
              <a:rPr sz="1350" b="1" i="0">
                <a:solidFill>
                  <a:srgbClr val="E8A33D"/>
                </a:solidFill>
                <a:latin typeface="Segoe UI"/>
              </a:rPr>
              <a:t>Hybrid is common:  </a:t>
            </a:r>
            <a:r>
              <a:rPr sz="1350" b="0" i="0">
                <a:solidFill>
                  <a:srgbClr val="1A202C"/>
                </a:solidFill>
                <a:latin typeface="Segoe UI"/>
              </a:rPr>
              <a:t>default LOB agents on Option A; high-touch agents (trade approval needing per-user Graph/OBO + rich cards) on Option B.</a:t>
            </a:r>
          </a:p>
        </p:txBody>
      </p:sp>
      <p:sp>
        <p:nvSpPr>
          <p:cNvPr id="13" name="TextBox 12"/>
          <p:cNvSpPr txBox="1"/>
          <p:nvPr/>
        </p:nvSpPr>
        <p:spPr>
          <a:xfrm>
            <a:off x="502920" y="6419088"/>
            <a:ext cx="7315200" cy="274320"/>
          </a:xfrm>
          <a:prstGeom prst="rect">
            <a:avLst/>
          </a:prstGeom>
          <a:noFill/>
        </p:spPr>
        <p:txBody>
          <a:bodyPr wrap="square" lIns="0" tIns="0" rIns="0" bIns="0" anchor="t">
            <a:spAutoFit/>
          </a:bodyPr>
          <a:lstStyle/>
          <a:p>
            <a:pPr algn="l">
              <a:spcAft>
                <a:spcPts val="400"/>
              </a:spcAft>
            </a:pPr>
            <a:r>
              <a:rPr sz="900" b="0" i="0">
                <a:solidFill>
                  <a:srgbClr val="6B7280"/>
                </a:solidFill>
                <a:latin typeface="Segoe UI"/>
              </a:rPr>
              <a:t>One deployed agent · two front doors · Foundry hosted agent on Teams</a:t>
            </a:r>
          </a:p>
        </p:txBody>
      </p:sp>
      <p:sp>
        <p:nvSpPr>
          <p:cNvPr id="14" name="TextBox 13"/>
          <p:cNvSpPr txBox="1"/>
          <p:nvPr/>
        </p:nvSpPr>
        <p:spPr>
          <a:xfrm>
            <a:off x="10881360" y="6419088"/>
            <a:ext cx="822960" cy="274320"/>
          </a:xfrm>
          <a:prstGeom prst="rect">
            <a:avLst/>
          </a:prstGeom>
          <a:noFill/>
        </p:spPr>
        <p:txBody>
          <a:bodyPr wrap="square" lIns="0" tIns="0" rIns="0" bIns="0" anchor="t">
            <a:spAutoFit/>
          </a:bodyPr>
          <a:lstStyle/>
          <a:p>
            <a:pPr algn="r">
              <a:spcAft>
                <a:spcPts val="400"/>
              </a:spcAft>
            </a:pPr>
            <a:r>
              <a:rPr sz="900" b="0" i="0">
                <a:solidFill>
                  <a:srgbClr val="6B7280"/>
                </a:solidFill>
                <a:latin typeface="Segoe UI"/>
              </a:rPr>
              <a:t>14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2F5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170432"/>
            <a:ext cx="12191695"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274320"/>
            <a:ext cx="128016" cy="60350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19456"/>
            <a:ext cx="10789920" cy="310896"/>
          </a:xfrm>
          <a:prstGeom prst="rect">
            <a:avLst/>
          </a:prstGeom>
          <a:noFill/>
        </p:spPr>
        <p:txBody>
          <a:bodyPr wrap="square" lIns="0" tIns="0" rIns="0" bIns="0" anchor="t">
            <a:spAutoFit/>
          </a:bodyPr>
          <a:lstStyle/>
          <a:p>
            <a:pPr algn="l">
              <a:spcAft>
                <a:spcPts val="400"/>
              </a:spcAft>
            </a:pPr>
            <a:r>
              <a:rPr sz="1250" b="0" i="0">
                <a:solidFill>
                  <a:srgbClr val="1F4E79"/>
                </a:solidFill>
                <a:latin typeface="Segoe UI"/>
              </a:rPr>
              <a:t>SECURITY &amp; IDENTITY</a:t>
            </a:r>
          </a:p>
        </p:txBody>
      </p:sp>
      <p:sp>
        <p:nvSpPr>
          <p:cNvPr id="6" name="TextBox 5"/>
          <p:cNvSpPr txBox="1"/>
          <p:nvPr/>
        </p:nvSpPr>
        <p:spPr>
          <a:xfrm>
            <a:off x="777240" y="502920"/>
            <a:ext cx="10789920" cy="566928"/>
          </a:xfrm>
          <a:prstGeom prst="rect">
            <a:avLst/>
          </a:prstGeom>
          <a:noFill/>
        </p:spPr>
        <p:txBody>
          <a:bodyPr wrap="square" lIns="0" tIns="0" rIns="0" bIns="0" anchor="t">
            <a:spAutoFit/>
          </a:bodyPr>
          <a:lstStyle/>
          <a:p>
            <a:pPr algn="l">
              <a:spcAft>
                <a:spcPts val="400"/>
              </a:spcAft>
            </a:pPr>
            <a:r>
              <a:rPr sz="2600" b="1" i="0">
                <a:solidFill>
                  <a:srgbClr val="FFFFFF"/>
                </a:solidFill>
                <a:latin typeface="Segoe UI"/>
              </a:rPr>
              <a:t>Document-level trimming, verified behavior</a:t>
            </a:r>
          </a:p>
        </p:txBody>
      </p:sp>
      <p:sp>
        <p:nvSpPr>
          <p:cNvPr id="7" name="Rounded Rectangle 6"/>
          <p:cNvSpPr/>
          <p:nvPr/>
        </p:nvSpPr>
        <p:spPr>
          <a:xfrm>
            <a:off x="640080" y="1508760"/>
            <a:ext cx="5349240" cy="2286000"/>
          </a:xfrm>
          <a:prstGeom prst="roundRect">
            <a:avLst>
              <a:gd name="adj" fmla="val 6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508760"/>
            <a:ext cx="5349240" cy="457200"/>
          </a:xfrm>
          <a:prstGeom prst="rect">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59" y="1508760"/>
            <a:ext cx="4983479" cy="457200"/>
          </a:xfrm>
          <a:prstGeom prst="rect">
            <a:avLst/>
          </a:prstGeom>
          <a:noFill/>
        </p:spPr>
        <p:txBody>
          <a:bodyPr wrap="square" lIns="0" tIns="0" rIns="0" bIns="0" anchor="ctr">
            <a:spAutoFit/>
          </a:bodyPr>
          <a:lstStyle/>
          <a:p>
            <a:pPr algn="l">
              <a:spcAft>
                <a:spcPts val="400"/>
              </a:spcAft>
            </a:pPr>
            <a:r>
              <a:rPr sz="1400" b="1" i="0">
                <a:solidFill>
                  <a:srgbClr val="FFFFFF"/>
                </a:solidFill>
                <a:latin typeface="Segoe UI"/>
              </a:rPr>
              <a:t>Native ACL (token-driven)</a:t>
            </a:r>
          </a:p>
        </p:txBody>
      </p:sp>
      <p:sp>
        <p:nvSpPr>
          <p:cNvPr id="10" name="TextBox 9"/>
          <p:cNvSpPr txBox="1"/>
          <p:nvPr/>
        </p:nvSpPr>
        <p:spPr>
          <a:xfrm>
            <a:off x="859536" y="2075688"/>
            <a:ext cx="4910327" cy="1645920"/>
          </a:xfrm>
          <a:prstGeom prst="rect">
            <a:avLst/>
          </a:prstGeom>
          <a:noFill/>
        </p:spPr>
        <p:txBody>
          <a:bodyPr wrap="square" lIns="0" tIns="0" rIns="0" bIns="0" anchor="t">
            <a:spAutoFit/>
          </a:bodyPr>
          <a:lstStyle/>
          <a:p>
            <a:pPr algn="l">
              <a:spcAft>
                <a:spcPts val="400"/>
              </a:spcAft>
            </a:pPr>
            <a:r>
              <a:rPr sz="1150" b="0" i="0">
                <a:solidFill>
                  <a:srgbClr val="1A202C"/>
                </a:solidFill>
                <a:latin typeface="Consolas"/>
              </a:rPr>
              <a:t>permissionFilterOption = enabled</a:t>
            </a:r>
          </a:p>
          <a:p>
            <a:pPr algn="l">
              <a:spcAft>
                <a:spcPts val="400"/>
              </a:spcAft>
            </a:pPr>
            <a:r>
              <a:rPr sz="1200" b="0" i="0">
                <a:solidFill>
                  <a:srgbClr val="1A202C"/>
                </a:solidFill>
                <a:latin typeface="Segoe UI"/>
              </a:rPr>
              <a:t>Every query enforces GroupIds/UserIds.</a:t>
            </a:r>
          </a:p>
          <a:p>
            <a:pPr algn="l">
              <a:spcAft>
                <a:spcPts val="400"/>
              </a:spcAft>
            </a:pPr>
            <a:r>
              <a:rPr sz="1200" b="0" i="0">
                <a:solidFill>
                  <a:srgbClr val="C03B3B"/>
                </a:solidFill>
                <a:latin typeface="Segoe UI"/>
              </a:rPr>
              <a:t>No user token → 0 docs (even public).</a:t>
            </a:r>
          </a:p>
          <a:p>
            <a:pPr algn="l">
              <a:spcAft>
                <a:spcPts val="400"/>
              </a:spcAft>
            </a:pPr>
            <a:r>
              <a:rPr sz="1200" b="0" i="0">
                <a:solidFill>
                  <a:srgbClr val="1A202C"/>
                </a:solidFill>
                <a:latin typeface="Segoe UI"/>
              </a:rPr>
              <a:t>Real user token in</a:t>
            </a:r>
          </a:p>
          <a:p>
            <a:pPr algn="l">
              <a:spcAft>
                <a:spcPts val="400"/>
              </a:spcAft>
            </a:pPr>
            <a:r>
              <a:rPr sz="1100" b="0" i="0">
                <a:solidFill>
                  <a:srgbClr val="1A202C"/>
                </a:solidFill>
                <a:latin typeface="Consolas"/>
              </a:rPr>
              <a:t>x-ms-query-source-authorization → only</a:t>
            </a:r>
          </a:p>
          <a:p>
            <a:pPr algn="l">
              <a:spcAft>
                <a:spcPts val="400"/>
              </a:spcAft>
            </a:pPr>
            <a:r>
              <a:rPr sz="1200" b="0" i="0">
                <a:solidFill>
                  <a:srgbClr val="1A202C"/>
                </a:solidFill>
                <a:latin typeface="Segoe UI"/>
              </a:rPr>
              <a:t>docs matching the caller's real Entra</a:t>
            </a:r>
          </a:p>
          <a:p>
            <a:pPr algn="l">
              <a:spcAft>
                <a:spcPts val="400"/>
              </a:spcAft>
            </a:pPr>
            <a:r>
              <a:rPr sz="1200" b="1" i="0">
                <a:solidFill>
                  <a:srgbClr val="1F9E74"/>
                </a:solidFill>
                <a:latin typeface="Segoe UI"/>
              </a:rPr>
              <a:t>groups / oid. True per-user security.</a:t>
            </a:r>
          </a:p>
        </p:txBody>
      </p:sp>
      <p:sp>
        <p:nvSpPr>
          <p:cNvPr id="11" name="Rounded Rectangle 10"/>
          <p:cNvSpPr/>
          <p:nvPr/>
        </p:nvSpPr>
        <p:spPr>
          <a:xfrm>
            <a:off x="6172200" y="1508760"/>
            <a:ext cx="5349240" cy="2286000"/>
          </a:xfrm>
          <a:prstGeom prst="roundRect">
            <a:avLst>
              <a:gd name="adj" fmla="val 6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72200" y="1508760"/>
            <a:ext cx="5349240" cy="45720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55080" y="1508760"/>
            <a:ext cx="4983479" cy="457200"/>
          </a:xfrm>
          <a:prstGeom prst="rect">
            <a:avLst/>
          </a:prstGeom>
          <a:noFill/>
        </p:spPr>
        <p:txBody>
          <a:bodyPr wrap="square" lIns="0" tIns="0" rIns="0" bIns="0" anchor="ctr">
            <a:spAutoFit/>
          </a:bodyPr>
          <a:lstStyle/>
          <a:p>
            <a:pPr algn="l">
              <a:spcAft>
                <a:spcPts val="400"/>
              </a:spcAft>
            </a:pPr>
            <a:r>
              <a:rPr sz="1400" b="1" i="0">
                <a:solidFill>
                  <a:srgbClr val="FFFFFF"/>
                </a:solidFill>
                <a:latin typeface="Segoe UI"/>
              </a:rPr>
              <a:t>GA security trimming (persona)</a:t>
            </a:r>
          </a:p>
        </p:txBody>
      </p:sp>
      <p:sp>
        <p:nvSpPr>
          <p:cNvPr id="14" name="TextBox 13"/>
          <p:cNvSpPr txBox="1"/>
          <p:nvPr/>
        </p:nvSpPr>
        <p:spPr>
          <a:xfrm>
            <a:off x="6391656" y="2075688"/>
            <a:ext cx="4910327" cy="1645920"/>
          </a:xfrm>
          <a:prstGeom prst="rect">
            <a:avLst/>
          </a:prstGeom>
          <a:noFill/>
        </p:spPr>
        <p:txBody>
          <a:bodyPr wrap="square" lIns="0" tIns="0" rIns="0" bIns="0" anchor="t">
            <a:spAutoFit/>
          </a:bodyPr>
          <a:lstStyle/>
          <a:p>
            <a:pPr algn="l">
              <a:spcAft>
                <a:spcPts val="400"/>
              </a:spcAft>
            </a:pPr>
            <a:r>
              <a:rPr sz="1150" b="0" i="0">
                <a:solidFill>
                  <a:srgbClr val="1A202C"/>
                </a:solidFill>
                <a:latin typeface="Consolas"/>
              </a:rPr>
              <a:t>use_native_acl = false</a:t>
            </a:r>
          </a:p>
          <a:p>
            <a:pPr algn="l">
              <a:spcAft>
                <a:spcPts val="400"/>
              </a:spcAft>
            </a:pPr>
            <a:r>
              <a:rPr sz="1200" b="0" i="0">
                <a:solidFill>
                  <a:srgbClr val="1A202C"/>
                </a:solidFill>
                <a:latin typeface="Segoe UI"/>
              </a:rPr>
              <a:t>Filter built from the persona's</a:t>
            </a:r>
          </a:p>
          <a:p>
            <a:pPr algn="l">
              <a:spcAft>
                <a:spcPts val="400"/>
              </a:spcAft>
            </a:pPr>
            <a:r>
              <a:rPr sz="1150" b="0" i="0">
                <a:solidFill>
                  <a:srgbClr val="1A202C"/>
                </a:solidFill>
                <a:latin typeface="Consolas"/>
              </a:rPr>
              <a:t>entra_group_id:</a:t>
            </a:r>
          </a:p>
          <a:p>
            <a:pPr algn="l">
              <a:spcAft>
                <a:spcPts val="400"/>
              </a:spcAft>
            </a:pPr>
            <a:r>
              <a:rPr sz="1050" b="0" i="0">
                <a:solidFill>
                  <a:srgbClr val="1A202C"/>
                </a:solidFill>
                <a:latin typeface="Consolas"/>
              </a:rPr>
              <a:t>group_ids/any(g: search.in(g, ...))</a:t>
            </a:r>
          </a:p>
          <a:p>
            <a:pPr algn="l">
              <a:spcAft>
                <a:spcPts val="400"/>
              </a:spcAft>
            </a:pPr>
            <a:r>
              <a:rPr sz="1200" b="0" i="0">
                <a:solidFill>
                  <a:srgbClr val="1A202C"/>
                </a:solidFill>
                <a:latin typeface="Segoe UI"/>
              </a:rPr>
              <a:t>Different personas → different subsets</a:t>
            </a:r>
          </a:p>
          <a:p>
            <a:pPr algn="l">
              <a:spcAft>
                <a:spcPts val="400"/>
              </a:spcAft>
            </a:pPr>
            <a:r>
              <a:rPr sz="1200" b="0" i="0">
                <a:solidFill>
                  <a:srgbClr val="1A202C"/>
                </a:solidFill>
                <a:latin typeface="Segoe UI"/>
              </a:rPr>
              <a:t>for the SAME tester. Empty groups fall</a:t>
            </a:r>
          </a:p>
          <a:p>
            <a:pPr algn="l">
              <a:spcAft>
                <a:spcPts val="400"/>
              </a:spcAft>
            </a:pPr>
            <a:r>
              <a:rPr sz="1200" b="0" i="0">
                <a:solidFill>
                  <a:srgbClr val="1A202C"/>
                </a:solidFill>
                <a:latin typeface="Segoe UI"/>
              </a:rPr>
              <a:t>back to public (GRP_ALL) only.</a:t>
            </a:r>
          </a:p>
        </p:txBody>
      </p:sp>
      <p:sp>
        <p:nvSpPr>
          <p:cNvPr id="15" name="Rounded Rectangle 14"/>
          <p:cNvSpPr/>
          <p:nvPr/>
        </p:nvSpPr>
        <p:spPr>
          <a:xfrm>
            <a:off x="640080" y="3977639"/>
            <a:ext cx="10881360" cy="1874519"/>
          </a:xfrm>
          <a:prstGeom prst="roundRect">
            <a:avLst>
              <a:gd name="adj" fmla="val 6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40080" y="3977639"/>
            <a:ext cx="10881360" cy="4572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59" y="3977639"/>
            <a:ext cx="10515600" cy="457200"/>
          </a:xfrm>
          <a:prstGeom prst="rect">
            <a:avLst/>
          </a:prstGeom>
          <a:noFill/>
        </p:spPr>
        <p:txBody>
          <a:bodyPr wrap="square" lIns="0" tIns="0" rIns="0" bIns="0" anchor="ctr">
            <a:spAutoFit/>
          </a:bodyPr>
          <a:lstStyle/>
          <a:p>
            <a:pPr algn="l">
              <a:spcAft>
                <a:spcPts val="400"/>
              </a:spcAft>
            </a:pPr>
            <a:r>
              <a:rPr sz="1400" b="1" i="0">
                <a:solidFill>
                  <a:srgbClr val="FFFFFF"/>
                </a:solidFill>
                <a:latin typeface="Segoe UI"/>
              </a:rPr>
              <a:t>Verified live in this environment</a:t>
            </a:r>
          </a:p>
        </p:txBody>
      </p:sp>
      <p:sp>
        <p:nvSpPr>
          <p:cNvPr id="18" name="TextBox 17"/>
          <p:cNvSpPr txBox="1"/>
          <p:nvPr/>
        </p:nvSpPr>
        <p:spPr>
          <a:xfrm>
            <a:off x="859536" y="4544568"/>
            <a:ext cx="10442448" cy="1234439"/>
          </a:xfrm>
          <a:prstGeom prst="rect">
            <a:avLst/>
          </a:prstGeom>
          <a:noFill/>
        </p:spPr>
        <p:txBody>
          <a:bodyPr wrap="square" lIns="0" tIns="0" rIns="0" bIns="0" anchor="t">
            <a:spAutoFit/>
          </a:bodyPr>
          <a:lstStyle/>
          <a:p>
            <a:pPr algn="l">
              <a:spcAft>
                <a:spcPts val="400"/>
              </a:spcAft>
            </a:pPr>
            <a:r>
              <a:rPr sz="1200" b="0" i="0">
                <a:solidFill>
                  <a:srgbClr val="1F9E74"/>
                </a:solidFill>
                <a:latin typeface="Segoe UI"/>
              </a:rPr>
              <a:t>•  </a:t>
            </a:r>
            <a:r>
              <a:rPr sz="1200" b="0" i="0">
                <a:solidFill>
                  <a:srgbClr val="1A202C"/>
                </a:solidFill>
                <a:latin typeface="Segoe UI"/>
              </a:rPr>
              <a:t>Compliance user (oid 91a5dd7e = full control) sees all 8 docs including MNPI (DEAL-MEMO-007, SURV-021).</a:t>
            </a:r>
          </a:p>
          <a:p>
            <a:pPr algn="l">
              <a:spcAft>
                <a:spcPts val="400"/>
              </a:spcAft>
            </a:pPr>
            <a:r>
              <a:rPr sz="1200" b="0" i="0">
                <a:solidFill>
                  <a:srgbClr val="E8A33D"/>
                </a:solidFill>
                <a:latin typeface="Segoe UI"/>
              </a:rPr>
              <a:t>•  </a:t>
            </a:r>
            <a:r>
              <a:rPr sz="1200" b="0" i="0">
                <a:solidFill>
                  <a:srgbClr val="1A202C"/>
                </a:solidFill>
                <a:latin typeface="Segoe UI"/>
              </a:rPr>
              <a:t>Native-ACL subtlety: it trims by the real signed-in user, NOT the selected persona — the tester always sees their full entitlement regardless of dropdown.</a:t>
            </a:r>
          </a:p>
          <a:p>
            <a:pPr algn="l">
              <a:spcAft>
                <a:spcPts val="400"/>
              </a:spcAft>
            </a:pPr>
            <a:r>
              <a:rPr sz="1200" b="0" i="0">
                <a:solidFill>
                  <a:srgbClr val="1F4E79"/>
                </a:solidFill>
                <a:latin typeface="Segoe UI"/>
              </a:rPr>
              <a:t>•  </a:t>
            </a:r>
            <a:r>
              <a:rPr sz="1200" b="0" i="0">
                <a:solidFill>
                  <a:srgbClr val="1A202C"/>
                </a:solidFill>
                <a:latin typeface="Segoe UI"/>
              </a:rPr>
              <a:t>To demo per-persona differences as one tester, use GA trimming; to demo true token-driven security, sign in as separate group members.</a:t>
            </a:r>
          </a:p>
          <a:p>
            <a:pPr algn="l">
              <a:spcAft>
                <a:spcPts val="400"/>
              </a:spcAft>
            </a:pPr>
            <a:r>
              <a:rPr sz="1200" b="0" i="0">
                <a:solidFill>
                  <a:srgbClr val="C03B3B"/>
                </a:solidFill>
                <a:latin typeface="Segoe UI"/>
              </a:rPr>
              <a:t>•  </a:t>
            </a:r>
            <a:r>
              <a:rPr sz="1200" b="0" i="0">
                <a:solidFill>
                  <a:srgbClr val="1A202C"/>
                </a:solidFill>
                <a:latin typeface="Segoe UI"/>
              </a:rPr>
              <a:t>Docs must carry REAL tenant group object-ids / user oids — synthetic GUIDs match nothing under native ACL.</a:t>
            </a:r>
          </a:p>
        </p:txBody>
      </p:sp>
      <p:sp>
        <p:nvSpPr>
          <p:cNvPr id="19" name="TextBox 18"/>
          <p:cNvSpPr txBox="1"/>
          <p:nvPr/>
        </p:nvSpPr>
        <p:spPr>
          <a:xfrm>
            <a:off x="502920" y="6419088"/>
            <a:ext cx="7315200" cy="274320"/>
          </a:xfrm>
          <a:prstGeom prst="rect">
            <a:avLst/>
          </a:prstGeom>
          <a:noFill/>
        </p:spPr>
        <p:txBody>
          <a:bodyPr wrap="square" lIns="0" tIns="0" rIns="0" bIns="0" anchor="t">
            <a:spAutoFit/>
          </a:bodyPr>
          <a:lstStyle/>
          <a:p>
            <a:pPr algn="l">
              <a:spcAft>
                <a:spcPts val="400"/>
              </a:spcAft>
            </a:pPr>
            <a:r>
              <a:rPr sz="900" b="0" i="0">
                <a:solidFill>
                  <a:srgbClr val="6B7280"/>
                </a:solidFill>
                <a:latin typeface="Segoe UI"/>
              </a:rPr>
              <a:t>One deployed agent · two front doors · Foundry hosted agent on Teams</a:t>
            </a:r>
          </a:p>
        </p:txBody>
      </p:sp>
      <p:sp>
        <p:nvSpPr>
          <p:cNvPr id="20" name="TextBox 19"/>
          <p:cNvSpPr txBox="1"/>
          <p:nvPr/>
        </p:nvSpPr>
        <p:spPr>
          <a:xfrm>
            <a:off x="10881360" y="6419088"/>
            <a:ext cx="822960" cy="274320"/>
          </a:xfrm>
          <a:prstGeom prst="rect">
            <a:avLst/>
          </a:prstGeom>
          <a:noFill/>
        </p:spPr>
        <p:txBody>
          <a:bodyPr wrap="square" lIns="0" tIns="0" rIns="0" bIns="0" anchor="t">
            <a:spAutoFit/>
          </a:bodyPr>
          <a:lstStyle/>
          <a:p>
            <a:pPr algn="r">
              <a:spcAft>
                <a:spcPts val="400"/>
              </a:spcAft>
            </a:pPr>
            <a:r>
              <a:rPr sz="900" b="0" i="0">
                <a:solidFill>
                  <a:srgbClr val="6B7280"/>
                </a:solidFill>
                <a:latin typeface="Segoe UI"/>
              </a:rPr>
              <a:t>15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2F5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170432"/>
            <a:ext cx="12191695" cy="54864"/>
          </a:xfrm>
          <a:prstGeom prst="rect">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274320"/>
            <a:ext cx="128016" cy="603504"/>
          </a:xfrm>
          <a:prstGeom prst="rect">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19456"/>
            <a:ext cx="10789920" cy="310896"/>
          </a:xfrm>
          <a:prstGeom prst="rect">
            <a:avLst/>
          </a:prstGeom>
          <a:noFill/>
        </p:spPr>
        <p:txBody>
          <a:bodyPr wrap="square" lIns="0" tIns="0" rIns="0" bIns="0" anchor="t">
            <a:spAutoFit/>
          </a:bodyPr>
          <a:lstStyle/>
          <a:p>
            <a:pPr algn="l">
              <a:spcAft>
                <a:spcPts val="400"/>
              </a:spcAft>
            </a:pPr>
            <a:r>
              <a:rPr sz="1250" b="0" i="0">
                <a:solidFill>
                  <a:srgbClr val="1F9E74"/>
                </a:solidFill>
                <a:latin typeface="Segoe UI"/>
              </a:rPr>
              <a:t>SHOWCASE RUNBOOK</a:t>
            </a:r>
          </a:p>
        </p:txBody>
      </p:sp>
      <p:sp>
        <p:nvSpPr>
          <p:cNvPr id="6" name="TextBox 5"/>
          <p:cNvSpPr txBox="1"/>
          <p:nvPr/>
        </p:nvSpPr>
        <p:spPr>
          <a:xfrm>
            <a:off x="777240" y="502920"/>
            <a:ext cx="10789920" cy="566928"/>
          </a:xfrm>
          <a:prstGeom prst="rect">
            <a:avLst/>
          </a:prstGeom>
          <a:noFill/>
        </p:spPr>
        <p:txBody>
          <a:bodyPr wrap="square" lIns="0" tIns="0" rIns="0" bIns="0" anchor="t">
            <a:spAutoFit/>
          </a:bodyPr>
          <a:lstStyle/>
          <a:p>
            <a:pPr algn="l">
              <a:spcAft>
                <a:spcPts val="400"/>
              </a:spcAft>
            </a:pPr>
            <a:r>
              <a:rPr sz="2600" b="1" i="0">
                <a:solidFill>
                  <a:srgbClr val="FFFFFF"/>
                </a:solidFill>
                <a:latin typeface="Segoe UI"/>
              </a:rPr>
              <a:t>Live demo script — what to click, what to say</a:t>
            </a:r>
          </a:p>
        </p:txBody>
      </p:sp>
      <p:sp>
        <p:nvSpPr>
          <p:cNvPr id="7" name="Rounded Rectangle 6"/>
          <p:cNvSpPr/>
          <p:nvPr/>
        </p:nvSpPr>
        <p:spPr>
          <a:xfrm>
            <a:off x="640080" y="1554480"/>
            <a:ext cx="457200" cy="621792"/>
          </a:xfrm>
          <a:prstGeom prst="roundRect">
            <a:avLst>
              <a:gd name="adj" fmla="val 35000"/>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554480"/>
            <a:ext cx="457200" cy="621792"/>
          </a:xfrm>
          <a:prstGeom prst="rect">
            <a:avLst/>
          </a:prstGeom>
          <a:noFill/>
        </p:spPr>
        <p:txBody>
          <a:bodyPr wrap="square" lIns="0" tIns="0" rIns="0" bIns="0" anchor="ctr">
            <a:spAutoFit/>
          </a:bodyPr>
          <a:lstStyle/>
          <a:p>
            <a:pPr algn="ctr">
              <a:spcAft>
                <a:spcPts val="400"/>
              </a:spcAft>
            </a:pPr>
            <a:r>
              <a:rPr sz="1500" b="1" i="0">
                <a:solidFill>
                  <a:srgbClr val="FFFFFF"/>
                </a:solidFill>
                <a:latin typeface="Segoe UI"/>
              </a:rPr>
              <a:t>1</a:t>
            </a:r>
          </a:p>
        </p:txBody>
      </p:sp>
      <p:sp>
        <p:nvSpPr>
          <p:cNvPr id="9" name="Rounded Rectangle 8"/>
          <p:cNvSpPr/>
          <p:nvPr/>
        </p:nvSpPr>
        <p:spPr>
          <a:xfrm>
            <a:off x="1188719" y="1554480"/>
            <a:ext cx="6309360" cy="621792"/>
          </a:xfrm>
          <a:prstGeom prst="roundRect">
            <a:avLst>
              <a:gd name="adj" fmla="val 12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88719" y="1554480"/>
            <a:ext cx="73152" cy="621792"/>
          </a:xfrm>
          <a:prstGeom prst="rect">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89888" y="1581912"/>
            <a:ext cx="5989320" cy="566928"/>
          </a:xfrm>
          <a:prstGeom prst="rect">
            <a:avLst/>
          </a:prstGeom>
          <a:noFill/>
        </p:spPr>
        <p:txBody>
          <a:bodyPr wrap="square" lIns="0" tIns="0" rIns="0" bIns="0" anchor="ctr">
            <a:spAutoFit/>
          </a:bodyPr>
          <a:lstStyle/>
          <a:p>
            <a:pPr algn="l">
              <a:spcAft>
                <a:spcPts val="400"/>
              </a:spcAft>
            </a:pPr>
            <a:r>
              <a:rPr sz="1250" b="1" i="0">
                <a:solidFill>
                  <a:srgbClr val="1F9E74"/>
                </a:solidFill>
                <a:latin typeface="Segoe UI"/>
              </a:rPr>
              <a:t>0  Offline start  </a:t>
            </a:r>
          </a:p>
          <a:p>
            <a:pPr algn="l">
              <a:spcAft>
                <a:spcPts val="400"/>
              </a:spcAft>
            </a:pPr>
            <a:r>
              <a:rPr sz="1100" b="0" i="0">
                <a:solidFill>
                  <a:srgbClr val="1A202C"/>
                </a:solidFill>
                <a:latin typeface="Segoe UI"/>
              </a:rPr>
              <a:t>run_all.bat → backend :8010, frontend :5174 (no Azure needed)</a:t>
            </a:r>
          </a:p>
        </p:txBody>
      </p:sp>
      <p:sp>
        <p:nvSpPr>
          <p:cNvPr id="12" name="Rounded Rectangle 11"/>
          <p:cNvSpPr/>
          <p:nvPr/>
        </p:nvSpPr>
        <p:spPr>
          <a:xfrm>
            <a:off x="640080" y="2295144"/>
            <a:ext cx="457200" cy="621792"/>
          </a:xfrm>
          <a:prstGeom prst="roundRect">
            <a:avLst>
              <a:gd name="adj" fmla="val 35000"/>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2295144"/>
            <a:ext cx="457200" cy="621792"/>
          </a:xfrm>
          <a:prstGeom prst="rect">
            <a:avLst/>
          </a:prstGeom>
          <a:noFill/>
        </p:spPr>
        <p:txBody>
          <a:bodyPr wrap="square" lIns="0" tIns="0" rIns="0" bIns="0" anchor="ctr">
            <a:spAutoFit/>
          </a:bodyPr>
          <a:lstStyle/>
          <a:p>
            <a:pPr algn="ctr">
              <a:spcAft>
                <a:spcPts val="400"/>
              </a:spcAft>
            </a:pPr>
            <a:r>
              <a:rPr sz="1500" b="1" i="0">
                <a:solidFill>
                  <a:srgbClr val="FFFFFF"/>
                </a:solidFill>
                <a:latin typeface="Segoe UI"/>
              </a:rPr>
              <a:t>2</a:t>
            </a:r>
          </a:p>
        </p:txBody>
      </p:sp>
      <p:sp>
        <p:nvSpPr>
          <p:cNvPr id="14" name="Rounded Rectangle 13"/>
          <p:cNvSpPr/>
          <p:nvPr/>
        </p:nvSpPr>
        <p:spPr>
          <a:xfrm>
            <a:off x="1188719" y="2295144"/>
            <a:ext cx="6309360" cy="621792"/>
          </a:xfrm>
          <a:prstGeom prst="roundRect">
            <a:avLst>
              <a:gd name="adj" fmla="val 12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88719" y="2295144"/>
            <a:ext cx="73152" cy="621792"/>
          </a:xfrm>
          <a:prstGeom prst="rect">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89888" y="2322575"/>
            <a:ext cx="5989320" cy="566928"/>
          </a:xfrm>
          <a:prstGeom prst="rect">
            <a:avLst/>
          </a:prstGeom>
          <a:noFill/>
        </p:spPr>
        <p:txBody>
          <a:bodyPr wrap="square" lIns="0" tIns="0" rIns="0" bIns="0" anchor="ctr">
            <a:spAutoFit/>
          </a:bodyPr>
          <a:lstStyle/>
          <a:p>
            <a:pPr algn="l">
              <a:spcAft>
                <a:spcPts val="400"/>
              </a:spcAft>
            </a:pPr>
            <a:r>
              <a:rPr sz="1250" b="1" i="0">
                <a:solidFill>
                  <a:srgbClr val="1F9E74"/>
                </a:solidFill>
                <a:latin typeface="Segoe UI"/>
              </a:rPr>
              <a:t>1  Pick a persona  </a:t>
            </a:r>
          </a:p>
          <a:p>
            <a:pPr algn="l">
              <a:spcAft>
                <a:spcPts val="400"/>
              </a:spcAft>
            </a:pPr>
            <a:r>
              <a:rPr sz="1100" b="0" i="0">
                <a:solidFill>
                  <a:srgbClr val="1A202C"/>
                </a:solidFill>
                <a:latin typeface="Segoe UI"/>
              </a:rPr>
              <a:t>Equity Research / Fixed-Income PM / Compliance Officer</a:t>
            </a:r>
          </a:p>
        </p:txBody>
      </p:sp>
      <p:sp>
        <p:nvSpPr>
          <p:cNvPr id="17" name="Rounded Rectangle 16"/>
          <p:cNvSpPr/>
          <p:nvPr/>
        </p:nvSpPr>
        <p:spPr>
          <a:xfrm>
            <a:off x="640080" y="3035808"/>
            <a:ext cx="457200" cy="621792"/>
          </a:xfrm>
          <a:prstGeom prst="roundRect">
            <a:avLst>
              <a:gd name="adj" fmla="val 35000"/>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3035808"/>
            <a:ext cx="457200" cy="621792"/>
          </a:xfrm>
          <a:prstGeom prst="rect">
            <a:avLst/>
          </a:prstGeom>
          <a:noFill/>
        </p:spPr>
        <p:txBody>
          <a:bodyPr wrap="square" lIns="0" tIns="0" rIns="0" bIns="0" anchor="ctr">
            <a:spAutoFit/>
          </a:bodyPr>
          <a:lstStyle/>
          <a:p>
            <a:pPr algn="ctr">
              <a:spcAft>
                <a:spcPts val="400"/>
              </a:spcAft>
            </a:pPr>
            <a:r>
              <a:rPr sz="1500" b="1" i="0">
                <a:solidFill>
                  <a:srgbClr val="FFFFFF"/>
                </a:solidFill>
                <a:latin typeface="Segoe UI"/>
              </a:rPr>
              <a:t>3</a:t>
            </a:r>
          </a:p>
        </p:txBody>
      </p:sp>
      <p:sp>
        <p:nvSpPr>
          <p:cNvPr id="19" name="Rounded Rectangle 18"/>
          <p:cNvSpPr/>
          <p:nvPr/>
        </p:nvSpPr>
        <p:spPr>
          <a:xfrm>
            <a:off x="1188719" y="3035808"/>
            <a:ext cx="6309360" cy="621792"/>
          </a:xfrm>
          <a:prstGeom prst="roundRect">
            <a:avLst>
              <a:gd name="adj" fmla="val 12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188719" y="3035808"/>
            <a:ext cx="73152" cy="621792"/>
          </a:xfrm>
          <a:prstGeom prst="rect">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389888" y="3063239"/>
            <a:ext cx="5989320" cy="566928"/>
          </a:xfrm>
          <a:prstGeom prst="rect">
            <a:avLst/>
          </a:prstGeom>
          <a:noFill/>
        </p:spPr>
        <p:txBody>
          <a:bodyPr wrap="square" lIns="0" tIns="0" rIns="0" bIns="0" anchor="ctr">
            <a:spAutoFit/>
          </a:bodyPr>
          <a:lstStyle/>
          <a:p>
            <a:pPr algn="l">
              <a:spcAft>
                <a:spcPts val="400"/>
              </a:spcAft>
            </a:pPr>
            <a:r>
              <a:rPr sz="1250" b="1" i="0">
                <a:solidFill>
                  <a:srgbClr val="1F9E74"/>
                </a:solidFill>
                <a:latin typeface="Segoe UI"/>
              </a:rPr>
              <a:t>2  Run both options  </a:t>
            </a:r>
          </a:p>
          <a:p>
            <a:pPr algn="l">
              <a:spcAft>
                <a:spcPts val="400"/>
              </a:spcAft>
            </a:pPr>
            <a:r>
              <a:rPr sz="1100" b="0" i="0">
                <a:solidFill>
                  <a:srgbClr val="1A202C"/>
                </a:solidFill>
                <a:latin typeface="Segoe UI"/>
              </a:rPr>
              <a:t>Ask one question → compare view + document-access map</a:t>
            </a:r>
          </a:p>
        </p:txBody>
      </p:sp>
      <p:sp>
        <p:nvSpPr>
          <p:cNvPr id="22" name="Rounded Rectangle 21"/>
          <p:cNvSpPr/>
          <p:nvPr/>
        </p:nvSpPr>
        <p:spPr>
          <a:xfrm>
            <a:off x="640080" y="3776472"/>
            <a:ext cx="457200" cy="621792"/>
          </a:xfrm>
          <a:prstGeom prst="roundRect">
            <a:avLst>
              <a:gd name="adj" fmla="val 35000"/>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 y="3776472"/>
            <a:ext cx="457200" cy="621792"/>
          </a:xfrm>
          <a:prstGeom prst="rect">
            <a:avLst/>
          </a:prstGeom>
          <a:noFill/>
        </p:spPr>
        <p:txBody>
          <a:bodyPr wrap="square" lIns="0" tIns="0" rIns="0" bIns="0" anchor="ctr">
            <a:spAutoFit/>
          </a:bodyPr>
          <a:lstStyle/>
          <a:p>
            <a:pPr algn="ctr">
              <a:spcAft>
                <a:spcPts val="400"/>
              </a:spcAft>
            </a:pPr>
            <a:r>
              <a:rPr sz="1500" b="1" i="0">
                <a:solidFill>
                  <a:srgbClr val="FFFFFF"/>
                </a:solidFill>
                <a:latin typeface="Segoe UI"/>
              </a:rPr>
              <a:t>4</a:t>
            </a:r>
          </a:p>
        </p:txBody>
      </p:sp>
      <p:sp>
        <p:nvSpPr>
          <p:cNvPr id="24" name="Rounded Rectangle 23"/>
          <p:cNvSpPr/>
          <p:nvPr/>
        </p:nvSpPr>
        <p:spPr>
          <a:xfrm>
            <a:off x="1188719" y="3776472"/>
            <a:ext cx="6309360" cy="621792"/>
          </a:xfrm>
          <a:prstGeom prst="roundRect">
            <a:avLst>
              <a:gd name="adj" fmla="val 12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188719" y="3776472"/>
            <a:ext cx="73152" cy="621792"/>
          </a:xfrm>
          <a:prstGeom prst="rect">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389888" y="3803904"/>
            <a:ext cx="5989320" cy="566928"/>
          </a:xfrm>
          <a:prstGeom prst="rect">
            <a:avLst/>
          </a:prstGeom>
          <a:noFill/>
        </p:spPr>
        <p:txBody>
          <a:bodyPr wrap="square" lIns="0" tIns="0" rIns="0" bIns="0" anchor="ctr">
            <a:spAutoFit/>
          </a:bodyPr>
          <a:lstStyle/>
          <a:p>
            <a:pPr algn="l">
              <a:spcAft>
                <a:spcPts val="400"/>
              </a:spcAft>
            </a:pPr>
            <a:r>
              <a:rPr sz="1250" b="1" i="0">
                <a:solidFill>
                  <a:srgbClr val="1F9E74"/>
                </a:solidFill>
                <a:latin typeface="Segoe UI"/>
              </a:rPr>
              <a:t>3  Show the trim  </a:t>
            </a:r>
          </a:p>
          <a:p>
            <a:pPr algn="l">
              <a:spcAft>
                <a:spcPts val="400"/>
              </a:spcAft>
            </a:pPr>
            <a:r>
              <a:rPr sz="1100" b="0" i="0">
                <a:solidFill>
                  <a:srgbClr val="1A202C"/>
                </a:solidFill>
                <a:latin typeface="Segoe UI"/>
              </a:rPr>
              <a:t>Per doc: what A exposed vs what B correctly trimmed for that user</a:t>
            </a:r>
          </a:p>
        </p:txBody>
      </p:sp>
      <p:sp>
        <p:nvSpPr>
          <p:cNvPr id="27" name="Rounded Rectangle 26"/>
          <p:cNvSpPr/>
          <p:nvPr/>
        </p:nvSpPr>
        <p:spPr>
          <a:xfrm>
            <a:off x="640080" y="4517136"/>
            <a:ext cx="457200" cy="621792"/>
          </a:xfrm>
          <a:prstGeom prst="roundRect">
            <a:avLst>
              <a:gd name="adj" fmla="val 35000"/>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 y="4517136"/>
            <a:ext cx="457200" cy="621792"/>
          </a:xfrm>
          <a:prstGeom prst="rect">
            <a:avLst/>
          </a:prstGeom>
          <a:noFill/>
        </p:spPr>
        <p:txBody>
          <a:bodyPr wrap="square" lIns="0" tIns="0" rIns="0" bIns="0" anchor="ctr">
            <a:spAutoFit/>
          </a:bodyPr>
          <a:lstStyle/>
          <a:p>
            <a:pPr algn="ctr">
              <a:spcAft>
                <a:spcPts val="400"/>
              </a:spcAft>
            </a:pPr>
            <a:r>
              <a:rPr sz="1500" b="1" i="0">
                <a:solidFill>
                  <a:srgbClr val="FFFFFF"/>
                </a:solidFill>
                <a:latin typeface="Segoe UI"/>
              </a:rPr>
              <a:t>5</a:t>
            </a:r>
          </a:p>
        </p:txBody>
      </p:sp>
      <p:sp>
        <p:nvSpPr>
          <p:cNvPr id="29" name="Rounded Rectangle 28"/>
          <p:cNvSpPr/>
          <p:nvPr/>
        </p:nvSpPr>
        <p:spPr>
          <a:xfrm>
            <a:off x="1188719" y="4517136"/>
            <a:ext cx="6309360" cy="621792"/>
          </a:xfrm>
          <a:prstGeom prst="roundRect">
            <a:avLst>
              <a:gd name="adj" fmla="val 12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188719" y="4517136"/>
            <a:ext cx="73152" cy="621792"/>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389888" y="4544568"/>
            <a:ext cx="5989320" cy="566928"/>
          </a:xfrm>
          <a:prstGeom prst="rect">
            <a:avLst/>
          </a:prstGeom>
          <a:noFill/>
        </p:spPr>
        <p:txBody>
          <a:bodyPr wrap="square" lIns="0" tIns="0" rIns="0" bIns="0" anchor="ctr">
            <a:spAutoFit/>
          </a:bodyPr>
          <a:lstStyle/>
          <a:p>
            <a:pPr algn="l">
              <a:spcAft>
                <a:spcPts val="400"/>
              </a:spcAft>
            </a:pPr>
            <a:r>
              <a:rPr sz="1250" b="1" i="0">
                <a:solidFill>
                  <a:srgbClr val="E8A33D"/>
                </a:solidFill>
                <a:latin typeface="Segoe UI"/>
              </a:rPr>
              <a:t>4  Teams Option A  </a:t>
            </a:r>
          </a:p>
          <a:p>
            <a:pPr algn="l">
              <a:spcAft>
                <a:spcPts val="400"/>
              </a:spcAft>
            </a:pPr>
            <a:r>
              <a:rPr sz="1100" b="0" i="0">
                <a:solidFill>
                  <a:srgbClr val="1A202C"/>
                </a:solidFill>
                <a:latin typeface="Segoe UI"/>
              </a:rPr>
              <a:t>Published agent answers “no entitled research” — explain why</a:t>
            </a:r>
          </a:p>
        </p:txBody>
      </p:sp>
      <p:sp>
        <p:nvSpPr>
          <p:cNvPr id="32" name="Rounded Rectangle 31"/>
          <p:cNvSpPr/>
          <p:nvPr/>
        </p:nvSpPr>
        <p:spPr>
          <a:xfrm>
            <a:off x="640080" y="5257800"/>
            <a:ext cx="457200" cy="621792"/>
          </a:xfrm>
          <a:prstGeom prst="roundRect">
            <a:avLst>
              <a:gd name="adj" fmla="val 35000"/>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0080" y="5257800"/>
            <a:ext cx="457200" cy="621792"/>
          </a:xfrm>
          <a:prstGeom prst="rect">
            <a:avLst/>
          </a:prstGeom>
          <a:noFill/>
        </p:spPr>
        <p:txBody>
          <a:bodyPr wrap="square" lIns="0" tIns="0" rIns="0" bIns="0" anchor="ctr">
            <a:spAutoFit/>
          </a:bodyPr>
          <a:lstStyle/>
          <a:p>
            <a:pPr algn="ctr">
              <a:spcAft>
                <a:spcPts val="400"/>
              </a:spcAft>
            </a:pPr>
            <a:r>
              <a:rPr sz="1500" b="1" i="0">
                <a:solidFill>
                  <a:srgbClr val="FFFFFF"/>
                </a:solidFill>
                <a:latin typeface="Segoe UI"/>
              </a:rPr>
              <a:t>6</a:t>
            </a:r>
          </a:p>
        </p:txBody>
      </p:sp>
      <p:sp>
        <p:nvSpPr>
          <p:cNvPr id="34" name="Rounded Rectangle 33"/>
          <p:cNvSpPr/>
          <p:nvPr/>
        </p:nvSpPr>
        <p:spPr>
          <a:xfrm>
            <a:off x="1188719" y="5257800"/>
            <a:ext cx="6309360" cy="621792"/>
          </a:xfrm>
          <a:prstGeom prst="roundRect">
            <a:avLst>
              <a:gd name="adj" fmla="val 12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1188719" y="5257800"/>
            <a:ext cx="73152" cy="621792"/>
          </a:xfrm>
          <a:prstGeom prst="rect">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389888" y="5285232"/>
            <a:ext cx="5989320" cy="566928"/>
          </a:xfrm>
          <a:prstGeom prst="rect">
            <a:avLst/>
          </a:prstGeom>
          <a:noFill/>
        </p:spPr>
        <p:txBody>
          <a:bodyPr wrap="square" lIns="0" tIns="0" rIns="0" bIns="0" anchor="ctr">
            <a:spAutoFit/>
          </a:bodyPr>
          <a:lstStyle/>
          <a:p>
            <a:pPr algn="l">
              <a:spcAft>
                <a:spcPts val="400"/>
              </a:spcAft>
            </a:pPr>
            <a:r>
              <a:rPr sz="1250" b="1" i="0">
                <a:solidFill>
                  <a:srgbClr val="1F9E74"/>
                </a:solidFill>
                <a:latin typeface="Segoe UI"/>
              </a:rPr>
              <a:t>5  Teams Option B  </a:t>
            </a:r>
          </a:p>
          <a:p>
            <a:pPr algn="l">
              <a:spcAft>
                <a:spcPts val="400"/>
              </a:spcAft>
            </a:pPr>
            <a:r>
              <a:rPr sz="1100" b="0" i="0">
                <a:solidFill>
                  <a:srgbClr val="1A202C"/>
                </a:solidFill>
                <a:latin typeface="Segoe UI"/>
              </a:rPr>
              <a:t>Sign in → SSO + OBO → entitled docs + Adaptive Card</a:t>
            </a:r>
          </a:p>
        </p:txBody>
      </p:sp>
      <p:sp>
        <p:nvSpPr>
          <p:cNvPr id="37" name="Rounded Rectangle 36"/>
          <p:cNvSpPr/>
          <p:nvPr/>
        </p:nvSpPr>
        <p:spPr>
          <a:xfrm>
            <a:off x="7818120" y="1554480"/>
            <a:ext cx="3703320" cy="4160520"/>
          </a:xfrm>
          <a:prstGeom prst="roundRect">
            <a:avLst>
              <a:gd name="adj" fmla="val 6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7818120" y="1554480"/>
            <a:ext cx="3703320" cy="4572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001000" y="1554480"/>
            <a:ext cx="3337560" cy="457200"/>
          </a:xfrm>
          <a:prstGeom prst="rect">
            <a:avLst/>
          </a:prstGeom>
          <a:noFill/>
        </p:spPr>
        <p:txBody>
          <a:bodyPr wrap="square" lIns="0" tIns="0" rIns="0" bIns="0" anchor="ctr">
            <a:spAutoFit/>
          </a:bodyPr>
          <a:lstStyle/>
          <a:p>
            <a:pPr algn="l">
              <a:spcAft>
                <a:spcPts val="400"/>
              </a:spcAft>
            </a:pPr>
            <a:r>
              <a:rPr sz="1400" b="1" i="0">
                <a:solidFill>
                  <a:srgbClr val="FFFFFF"/>
                </a:solidFill>
                <a:latin typeface="Segoe UI"/>
              </a:rPr>
              <a:t>Talk track &amp; fallbacks</a:t>
            </a:r>
          </a:p>
        </p:txBody>
      </p:sp>
      <p:sp>
        <p:nvSpPr>
          <p:cNvPr id="40" name="TextBox 39"/>
          <p:cNvSpPr txBox="1"/>
          <p:nvPr/>
        </p:nvSpPr>
        <p:spPr>
          <a:xfrm>
            <a:off x="8037576" y="2121408"/>
            <a:ext cx="3264408" cy="3520439"/>
          </a:xfrm>
          <a:prstGeom prst="rect">
            <a:avLst/>
          </a:prstGeom>
          <a:noFill/>
        </p:spPr>
        <p:txBody>
          <a:bodyPr wrap="square" lIns="0" tIns="0" rIns="0" bIns="0" anchor="t">
            <a:spAutoFit/>
          </a:bodyPr>
          <a:lstStyle/>
          <a:p>
            <a:pPr algn="l">
              <a:spcAft>
                <a:spcPts val="400"/>
              </a:spcAft>
            </a:pPr>
            <a:r>
              <a:rPr sz="1250" b="1" i="0">
                <a:solidFill>
                  <a:srgbClr val="1F9E74"/>
                </a:solidFill>
                <a:latin typeface="Segoe UI"/>
              </a:rPr>
              <a:t>The teaching point</a:t>
            </a:r>
          </a:p>
          <a:p>
            <a:pPr algn="l">
              <a:spcAft>
                <a:spcPts val="400"/>
              </a:spcAft>
            </a:pPr>
            <a:r>
              <a:rPr sz="1100" b="0" i="0">
                <a:solidFill>
                  <a:srgbClr val="1A202C"/>
                </a:solidFill>
                <a:latin typeface="Segoe UI"/>
              </a:rPr>
              <a:t>A hosted agent AND an in-agent OBO</a:t>
            </a:r>
          </a:p>
          <a:p>
            <a:pPr algn="l">
              <a:spcAft>
                <a:spcPts val="400"/>
              </a:spcAft>
            </a:pPr>
            <a:r>
              <a:rPr sz="1100" b="0" i="0">
                <a:solidFill>
                  <a:srgbClr val="1A202C"/>
                </a:solidFill>
                <a:latin typeface="Segoe UI"/>
              </a:rPr>
              <a:t>tool are mutually exclusive today —</a:t>
            </a:r>
          </a:p>
          <a:p>
            <a:pPr algn="l">
              <a:spcAft>
                <a:spcPts val="400"/>
              </a:spcAft>
            </a:pPr>
            <a:r>
              <a:rPr sz="1100" b="0" i="0">
                <a:solidFill>
                  <a:srgbClr val="1A202C"/>
                </a:solidFill>
                <a:latin typeface="Segoe UI"/>
              </a:rPr>
              <a:t>the gateway strips the user token.</a:t>
            </a:r>
          </a:p>
          <a:p>
            <a:pPr algn="l">
              <a:spcAft>
                <a:spcPts val="400"/>
              </a:spcAft>
            </a:pPr>
            <a:r>
              <a:rPr sz="500" b="0" i="0">
                <a:solidFill>
                  <a:srgbClr val="1A202C"/>
                </a:solidFill>
                <a:latin typeface="Segoe UI"/>
              </a:rPr>
              <a:t> </a:t>
            </a:r>
          </a:p>
          <a:p>
            <a:pPr algn="l">
              <a:spcAft>
                <a:spcPts val="400"/>
              </a:spcAft>
            </a:pPr>
            <a:r>
              <a:rPr sz="1200" b="1" i="0">
                <a:solidFill>
                  <a:srgbClr val="1F4E79"/>
                </a:solidFill>
                <a:latin typeface="Segoe UI"/>
              </a:rPr>
              <a:t>Option B closes the gap</a:t>
            </a:r>
          </a:p>
          <a:p>
            <a:pPr algn="l">
              <a:spcAft>
                <a:spcPts val="400"/>
              </a:spcAft>
            </a:pPr>
            <a:r>
              <a:rPr sz="1100" b="0" i="0">
                <a:solidFill>
                  <a:srgbClr val="1A202C"/>
                </a:solidFill>
                <a:latin typeface="Segoe UI"/>
              </a:rPr>
              <a:t>by moving trimming to the proxy</a:t>
            </a:r>
          </a:p>
          <a:p>
            <a:pPr algn="l">
              <a:spcAft>
                <a:spcPts val="400"/>
              </a:spcAft>
            </a:pPr>
            <a:r>
              <a:rPr sz="1100" b="0" i="0">
                <a:solidFill>
                  <a:srgbClr val="1A202C"/>
                </a:solidFill>
                <a:latin typeface="Segoe UI"/>
              </a:rPr>
              <a:t>trust boundary.</a:t>
            </a:r>
          </a:p>
          <a:p>
            <a:pPr algn="l">
              <a:spcAft>
                <a:spcPts val="400"/>
              </a:spcAft>
            </a:pPr>
            <a:r>
              <a:rPr sz="500" b="0" i="0">
                <a:solidFill>
                  <a:srgbClr val="1A202C"/>
                </a:solidFill>
                <a:latin typeface="Segoe UI"/>
              </a:rPr>
              <a:t> </a:t>
            </a:r>
          </a:p>
          <a:p>
            <a:pPr algn="l">
              <a:spcAft>
                <a:spcPts val="400"/>
              </a:spcAft>
            </a:pPr>
            <a:r>
              <a:rPr sz="1200" b="1" i="0">
                <a:solidFill>
                  <a:srgbClr val="E8A33D"/>
                </a:solidFill>
                <a:latin typeface="Segoe UI"/>
              </a:rPr>
              <a:t>Fallbacks</a:t>
            </a:r>
          </a:p>
          <a:p>
            <a:pPr algn="l">
              <a:spcAft>
                <a:spcPts val="400"/>
              </a:spcAft>
            </a:pPr>
            <a:r>
              <a:rPr sz="1050" b="0" i="0">
                <a:solidFill>
                  <a:srgbClr val="1A202C"/>
                </a:solidFill>
                <a:latin typeface="Segoe UI"/>
              </a:rPr>
              <a:t>• Cold agent → offline synth answer</a:t>
            </a:r>
          </a:p>
          <a:p>
            <a:pPr algn="l">
              <a:spcAft>
                <a:spcPts val="400"/>
              </a:spcAft>
            </a:pPr>
            <a:r>
              <a:rPr sz="1050" b="0" i="0">
                <a:solidFill>
                  <a:srgbClr val="1A202C"/>
                </a:solidFill>
                <a:latin typeface="Segoe UI"/>
              </a:rPr>
              <a:t>• No SSO → public-only + sign-in hint</a:t>
            </a:r>
          </a:p>
          <a:p>
            <a:pPr algn="l">
              <a:spcAft>
                <a:spcPts val="400"/>
              </a:spcAft>
            </a:pPr>
            <a:r>
              <a:rPr sz="1050" b="0" i="0">
                <a:solidFill>
                  <a:srgbClr val="1A202C"/>
                </a:solidFill>
                <a:latin typeface="Segoe UI"/>
              </a:rPr>
              <a:t>• Compliance user sees all 8 docs</a:t>
            </a:r>
          </a:p>
        </p:txBody>
      </p:sp>
      <p:sp>
        <p:nvSpPr>
          <p:cNvPr id="41" name="TextBox 40"/>
          <p:cNvSpPr txBox="1"/>
          <p:nvPr/>
        </p:nvSpPr>
        <p:spPr>
          <a:xfrm>
            <a:off x="502920" y="6419088"/>
            <a:ext cx="7315200" cy="274320"/>
          </a:xfrm>
          <a:prstGeom prst="rect">
            <a:avLst/>
          </a:prstGeom>
          <a:noFill/>
        </p:spPr>
        <p:txBody>
          <a:bodyPr wrap="square" lIns="0" tIns="0" rIns="0" bIns="0" anchor="t">
            <a:spAutoFit/>
          </a:bodyPr>
          <a:lstStyle/>
          <a:p>
            <a:pPr algn="l">
              <a:spcAft>
                <a:spcPts val="400"/>
              </a:spcAft>
            </a:pPr>
            <a:r>
              <a:rPr sz="900" b="0" i="0">
                <a:solidFill>
                  <a:srgbClr val="6B7280"/>
                </a:solidFill>
                <a:latin typeface="Segoe UI"/>
              </a:rPr>
              <a:t>One deployed agent · two front doors · Foundry hosted agent on Teams</a:t>
            </a:r>
          </a:p>
        </p:txBody>
      </p:sp>
      <p:sp>
        <p:nvSpPr>
          <p:cNvPr id="42" name="TextBox 41"/>
          <p:cNvSpPr txBox="1"/>
          <p:nvPr/>
        </p:nvSpPr>
        <p:spPr>
          <a:xfrm>
            <a:off x="10881360" y="6419088"/>
            <a:ext cx="822960" cy="274320"/>
          </a:xfrm>
          <a:prstGeom prst="rect">
            <a:avLst/>
          </a:prstGeom>
          <a:noFill/>
        </p:spPr>
        <p:txBody>
          <a:bodyPr wrap="square" lIns="0" tIns="0" rIns="0" bIns="0" anchor="t">
            <a:spAutoFit/>
          </a:bodyPr>
          <a:lstStyle/>
          <a:p>
            <a:pPr algn="r">
              <a:spcAft>
                <a:spcPts val="400"/>
              </a:spcAft>
            </a:pPr>
            <a:r>
              <a:rPr sz="900" b="0" i="0">
                <a:solidFill>
                  <a:srgbClr val="6B7280"/>
                </a:solidFill>
                <a:latin typeface="Segoe UI"/>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274320"/>
            <a:ext cx="128016" cy="603504"/>
          </a:xfrm>
          <a:prstGeom prst="rect">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256032"/>
            <a:ext cx="10789920" cy="310896"/>
          </a:xfrm>
          <a:prstGeom prst="rect">
            <a:avLst/>
          </a:prstGeom>
          <a:noFill/>
        </p:spPr>
        <p:txBody>
          <a:bodyPr wrap="square" lIns="0" tIns="0" rIns="0" bIns="0" anchor="t">
            <a:spAutoFit/>
          </a:bodyPr>
          <a:lstStyle/>
          <a:p>
            <a:pPr algn="l">
              <a:spcAft>
                <a:spcPts val="400"/>
              </a:spcAft>
            </a:pPr>
            <a:r>
              <a:rPr sz="1300" b="0" i="0">
                <a:solidFill>
                  <a:srgbClr val="1F9E74"/>
                </a:solidFill>
                <a:latin typeface="Segoe UI"/>
              </a:rPr>
              <a:t>KEY TAKEAWAYS</a:t>
            </a:r>
          </a:p>
        </p:txBody>
      </p:sp>
      <p:sp>
        <p:nvSpPr>
          <p:cNvPr id="5" name="TextBox 4"/>
          <p:cNvSpPr txBox="1"/>
          <p:nvPr/>
        </p:nvSpPr>
        <p:spPr>
          <a:xfrm>
            <a:off x="777240" y="548640"/>
            <a:ext cx="10789920" cy="548640"/>
          </a:xfrm>
          <a:prstGeom prst="rect">
            <a:avLst/>
          </a:prstGeom>
          <a:noFill/>
        </p:spPr>
        <p:txBody>
          <a:bodyPr wrap="square" lIns="0" tIns="0" rIns="0" bIns="0" anchor="t">
            <a:spAutoFit/>
          </a:bodyPr>
          <a:lstStyle/>
          <a:p>
            <a:pPr algn="l">
              <a:spcAft>
                <a:spcPts val="400"/>
              </a:spcAft>
            </a:pPr>
            <a:r>
              <a:rPr sz="2600" b="1" i="0">
                <a:solidFill>
                  <a:srgbClr val="FFFFFF"/>
                </a:solidFill>
                <a:latin typeface="Segoe UI"/>
              </a:rPr>
              <a:t>One agent, two front doors, one decision</a:t>
            </a:r>
          </a:p>
        </p:txBody>
      </p:sp>
      <p:sp>
        <p:nvSpPr>
          <p:cNvPr id="6" name="Rounded Rectangle 5"/>
          <p:cNvSpPr/>
          <p:nvPr/>
        </p:nvSpPr>
        <p:spPr>
          <a:xfrm>
            <a:off x="640080" y="1508760"/>
            <a:ext cx="5349240" cy="2057400"/>
          </a:xfrm>
          <a:prstGeom prst="roundRect">
            <a:avLst>
              <a:gd name="adj" fmla="val 6000"/>
            </a:avLst>
          </a:prstGeom>
          <a:solidFill>
            <a:srgbClr val="122C52"/>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508760"/>
            <a:ext cx="109728" cy="20574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19" y="1709928"/>
            <a:ext cx="4800600" cy="457200"/>
          </a:xfrm>
          <a:prstGeom prst="rect">
            <a:avLst/>
          </a:prstGeom>
          <a:noFill/>
        </p:spPr>
        <p:txBody>
          <a:bodyPr wrap="square" lIns="0" tIns="0" rIns="0" bIns="0" anchor="t">
            <a:spAutoFit/>
          </a:bodyPr>
          <a:lstStyle/>
          <a:p>
            <a:pPr algn="l">
              <a:spcAft>
                <a:spcPts val="400"/>
              </a:spcAft>
            </a:pPr>
            <a:r>
              <a:rPr sz="1700" b="1" i="0">
                <a:solidFill>
                  <a:srgbClr val="2E75B6"/>
                </a:solidFill>
                <a:latin typeface="Segoe UI"/>
              </a:rPr>
              <a:t>Default to Option A</a:t>
            </a:r>
          </a:p>
        </p:txBody>
      </p:sp>
      <p:sp>
        <p:nvSpPr>
          <p:cNvPr id="9" name="TextBox 8"/>
          <p:cNvSpPr txBox="1"/>
          <p:nvPr/>
        </p:nvSpPr>
        <p:spPr>
          <a:xfrm>
            <a:off x="960119" y="2258568"/>
            <a:ext cx="4754879" cy="1143000"/>
          </a:xfrm>
          <a:prstGeom prst="rect">
            <a:avLst/>
          </a:prstGeom>
          <a:noFill/>
        </p:spPr>
        <p:txBody>
          <a:bodyPr wrap="square" lIns="0" tIns="0" rIns="0" bIns="0" anchor="t">
            <a:spAutoFit/>
          </a:bodyPr>
          <a:lstStyle/>
          <a:p>
            <a:pPr algn="l">
              <a:spcAft>
                <a:spcPts val="400"/>
              </a:spcAft>
            </a:pPr>
            <a:r>
              <a:rPr sz="1300" b="0" i="0">
                <a:solidFill>
                  <a:srgbClr val="D5DFEA"/>
                </a:solidFill>
                <a:latin typeface="Segoe UI"/>
              </a:rPr>
              <a:t>GA, lowest effort, Foundry-native tracing and versioning. Right for internal Q&amp;A / research where users share entitlements.</a:t>
            </a:r>
          </a:p>
        </p:txBody>
      </p:sp>
      <p:sp>
        <p:nvSpPr>
          <p:cNvPr id="10" name="Rounded Rectangle 9"/>
          <p:cNvSpPr/>
          <p:nvPr/>
        </p:nvSpPr>
        <p:spPr>
          <a:xfrm>
            <a:off x="6309359" y="1508760"/>
            <a:ext cx="5349240" cy="2057400"/>
          </a:xfrm>
          <a:prstGeom prst="roundRect">
            <a:avLst>
              <a:gd name="adj" fmla="val 6000"/>
            </a:avLst>
          </a:prstGeom>
          <a:solidFill>
            <a:srgbClr val="122C52"/>
          </a:solidFill>
          <a:ln w="19050">
            <a:solidFill>
              <a:srgbClr val="1F9E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09359" y="1508760"/>
            <a:ext cx="109728" cy="2057400"/>
          </a:xfrm>
          <a:prstGeom prst="rect">
            <a:avLst/>
          </a:prstGeom>
          <a:solidFill>
            <a:srgbClr val="1F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29399" y="1709928"/>
            <a:ext cx="4800600" cy="457200"/>
          </a:xfrm>
          <a:prstGeom prst="rect">
            <a:avLst/>
          </a:prstGeom>
          <a:noFill/>
        </p:spPr>
        <p:txBody>
          <a:bodyPr wrap="square" lIns="0" tIns="0" rIns="0" bIns="0" anchor="t">
            <a:spAutoFit/>
          </a:bodyPr>
          <a:lstStyle/>
          <a:p>
            <a:pPr algn="l">
              <a:spcAft>
                <a:spcPts val="400"/>
              </a:spcAft>
            </a:pPr>
            <a:r>
              <a:rPr sz="1700" b="1" i="0">
                <a:solidFill>
                  <a:srgbClr val="1F9E74"/>
                </a:solidFill>
                <a:latin typeface="Segoe UI"/>
              </a:rPr>
              <a:t>Reserve Option B</a:t>
            </a:r>
          </a:p>
        </p:txBody>
      </p:sp>
      <p:sp>
        <p:nvSpPr>
          <p:cNvPr id="13" name="TextBox 12"/>
          <p:cNvSpPr txBox="1"/>
          <p:nvPr/>
        </p:nvSpPr>
        <p:spPr>
          <a:xfrm>
            <a:off x="6629399" y="2258568"/>
            <a:ext cx="4754879" cy="1143000"/>
          </a:xfrm>
          <a:prstGeom prst="rect">
            <a:avLst/>
          </a:prstGeom>
          <a:noFill/>
        </p:spPr>
        <p:txBody>
          <a:bodyPr wrap="square" lIns="0" tIns="0" rIns="0" bIns="0" anchor="t">
            <a:spAutoFit/>
          </a:bodyPr>
          <a:lstStyle/>
          <a:p>
            <a:pPr algn="l">
              <a:spcAft>
                <a:spcPts val="400"/>
              </a:spcAft>
            </a:pPr>
            <a:r>
              <a:rPr sz="1300" b="0" i="0">
                <a:solidFill>
                  <a:srgbClr val="D5DFEA"/>
                </a:solidFill>
                <a:latin typeface="Segoe UI"/>
              </a:rPr>
              <a:t>For per-user document security, custom SSO/OBO, and rich Teams UX (cards, buttons, HITL). The proxy is the trust boundary.</a:t>
            </a:r>
          </a:p>
        </p:txBody>
      </p:sp>
      <p:sp>
        <p:nvSpPr>
          <p:cNvPr id="14" name="Rounded Rectangle 13"/>
          <p:cNvSpPr/>
          <p:nvPr/>
        </p:nvSpPr>
        <p:spPr>
          <a:xfrm>
            <a:off x="640080" y="3840479"/>
            <a:ext cx="5349240" cy="2057400"/>
          </a:xfrm>
          <a:prstGeom prst="roundRect">
            <a:avLst>
              <a:gd name="adj" fmla="val 6000"/>
            </a:avLst>
          </a:prstGeom>
          <a:solidFill>
            <a:srgbClr val="122C52"/>
          </a:solidFill>
          <a:ln w="1905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0080" y="3840479"/>
            <a:ext cx="109728" cy="205740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60119" y="4041647"/>
            <a:ext cx="4800600" cy="457200"/>
          </a:xfrm>
          <a:prstGeom prst="rect">
            <a:avLst/>
          </a:prstGeom>
          <a:noFill/>
        </p:spPr>
        <p:txBody>
          <a:bodyPr wrap="square" lIns="0" tIns="0" rIns="0" bIns="0" anchor="t">
            <a:spAutoFit/>
          </a:bodyPr>
          <a:lstStyle/>
          <a:p>
            <a:pPr algn="l">
              <a:spcAft>
                <a:spcPts val="400"/>
              </a:spcAft>
            </a:pPr>
            <a:r>
              <a:rPr sz="1700" b="1" i="0">
                <a:solidFill>
                  <a:srgbClr val="E8A33D"/>
                </a:solidFill>
                <a:latin typeface="Segoe UI"/>
              </a:rPr>
              <a:t>Per-user OBO needs a proxy</a:t>
            </a:r>
          </a:p>
        </p:txBody>
      </p:sp>
      <p:sp>
        <p:nvSpPr>
          <p:cNvPr id="17" name="TextBox 16"/>
          <p:cNvSpPr txBox="1"/>
          <p:nvPr/>
        </p:nvSpPr>
        <p:spPr>
          <a:xfrm>
            <a:off x="960119" y="4590288"/>
            <a:ext cx="4754879" cy="1143000"/>
          </a:xfrm>
          <a:prstGeom prst="rect">
            <a:avLst/>
          </a:prstGeom>
          <a:noFill/>
        </p:spPr>
        <p:txBody>
          <a:bodyPr wrap="square" lIns="0" tIns="0" rIns="0" bIns="0" anchor="t">
            <a:spAutoFit/>
          </a:bodyPr>
          <a:lstStyle/>
          <a:p>
            <a:pPr algn="l">
              <a:spcAft>
                <a:spcPts val="400"/>
              </a:spcAft>
            </a:pPr>
            <a:r>
              <a:rPr sz="1300" b="0" i="0">
                <a:solidFill>
                  <a:srgbClr val="D5DFEA"/>
                </a:solidFill>
                <a:latin typeface="Segoe UI"/>
              </a:rPr>
              <a:t>A hosted agent's gateway strips the user token, so in-agent OBO is impossible. Trimming must move to proxy or backend.</a:t>
            </a:r>
          </a:p>
        </p:txBody>
      </p:sp>
      <p:sp>
        <p:nvSpPr>
          <p:cNvPr id="18" name="Rounded Rectangle 17"/>
          <p:cNvSpPr/>
          <p:nvPr/>
        </p:nvSpPr>
        <p:spPr>
          <a:xfrm>
            <a:off x="6309359" y="3840479"/>
            <a:ext cx="5349240" cy="2057400"/>
          </a:xfrm>
          <a:prstGeom prst="roundRect">
            <a:avLst>
              <a:gd name="adj" fmla="val 6000"/>
            </a:avLst>
          </a:prstGeom>
          <a:solidFill>
            <a:srgbClr val="122C52"/>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309359" y="3840479"/>
            <a:ext cx="109728" cy="2057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629399" y="4041647"/>
            <a:ext cx="4800600" cy="457200"/>
          </a:xfrm>
          <a:prstGeom prst="rect">
            <a:avLst/>
          </a:prstGeom>
          <a:noFill/>
        </p:spPr>
        <p:txBody>
          <a:bodyPr wrap="square" lIns="0" tIns="0" rIns="0" bIns="0" anchor="t">
            <a:spAutoFit/>
          </a:bodyPr>
          <a:lstStyle/>
          <a:p>
            <a:pPr algn="l">
              <a:spcAft>
                <a:spcPts val="400"/>
              </a:spcAft>
            </a:pPr>
            <a:r>
              <a:rPr sz="1700" b="1" i="0">
                <a:solidFill>
                  <a:srgbClr val="1F4E79"/>
                </a:solidFill>
                <a:latin typeface="Segoe UI"/>
              </a:rPr>
              <a:t>Both surfaces converge</a:t>
            </a:r>
          </a:p>
        </p:txBody>
      </p:sp>
      <p:sp>
        <p:nvSpPr>
          <p:cNvPr id="21" name="TextBox 20"/>
          <p:cNvSpPr txBox="1"/>
          <p:nvPr/>
        </p:nvSpPr>
        <p:spPr>
          <a:xfrm>
            <a:off x="6629399" y="4590288"/>
            <a:ext cx="4754879" cy="1143000"/>
          </a:xfrm>
          <a:prstGeom prst="rect">
            <a:avLst/>
          </a:prstGeom>
          <a:noFill/>
        </p:spPr>
        <p:txBody>
          <a:bodyPr wrap="square" lIns="0" tIns="0" rIns="0" bIns="0" anchor="t">
            <a:spAutoFit/>
          </a:bodyPr>
          <a:lstStyle/>
          <a:p>
            <a:pPr algn="l">
              <a:spcAft>
                <a:spcPts val="400"/>
              </a:spcAft>
            </a:pPr>
            <a:r>
              <a:rPr sz="1300" b="0" i="0">
                <a:solidFill>
                  <a:srgbClr val="D5DFEA"/>
                </a:solidFill>
                <a:latin typeface="Segoe UI"/>
              </a:rPr>
              <a:t>Teams and Web both resolve to the same per_user_search call. Native ACL trims by the real user; GA trimming by persona.</a:t>
            </a:r>
          </a:p>
        </p:txBody>
      </p:sp>
      <p:sp>
        <p:nvSpPr>
          <p:cNvPr id="22" name="TextBox 21"/>
          <p:cNvSpPr txBox="1"/>
          <p:nvPr/>
        </p:nvSpPr>
        <p:spPr>
          <a:xfrm>
            <a:off x="640080" y="6172200"/>
            <a:ext cx="10881360" cy="457200"/>
          </a:xfrm>
          <a:prstGeom prst="rect">
            <a:avLst/>
          </a:prstGeom>
          <a:noFill/>
        </p:spPr>
        <p:txBody>
          <a:bodyPr wrap="square" lIns="0" tIns="0" rIns="0" bIns="0" anchor="t">
            <a:spAutoFit/>
          </a:bodyPr>
          <a:lstStyle/>
          <a:p>
            <a:pPr algn="l">
              <a:spcAft>
                <a:spcPts val="400"/>
              </a:spcAft>
            </a:pPr>
            <a:r>
              <a:rPr sz="1400" b="1" i="0">
                <a:solidFill>
                  <a:srgbClr val="1F9E74"/>
                </a:solidFill>
                <a:latin typeface="Segoe UI"/>
              </a:rPr>
              <a:t>Recommendation:  </a:t>
            </a:r>
            <a:r>
              <a:rPr sz="1400" b="0" i="0">
                <a:solidFill>
                  <a:srgbClr val="BFD3E8"/>
                </a:solidFill>
                <a:latin typeface="Segoe UI"/>
              </a:rPr>
              <a:t>default Option A for the fleet; hybrid-in Option B for the subset that needs per-user security or rich UX.</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2F5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704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170432"/>
            <a:ext cx="12191695"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274320"/>
            <a:ext cx="128016" cy="60350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19456"/>
            <a:ext cx="10789920" cy="310896"/>
          </a:xfrm>
          <a:prstGeom prst="rect">
            <a:avLst/>
          </a:prstGeom>
          <a:noFill/>
        </p:spPr>
        <p:txBody>
          <a:bodyPr wrap="square" lIns="0" tIns="0" rIns="0" bIns="0" anchor="t">
            <a:spAutoFit/>
          </a:bodyPr>
          <a:lstStyle/>
          <a:p>
            <a:pPr algn="l">
              <a:spcAft>
                <a:spcPts val="400"/>
              </a:spcAft>
            </a:pPr>
            <a:r>
              <a:rPr sz="1250" b="0" i="0">
                <a:solidFill>
                  <a:srgbClr val="1F4E79"/>
                </a:solidFill>
                <a:latin typeface="Segoe UI"/>
              </a:rPr>
              <a:t>APPENDIX</a:t>
            </a:r>
          </a:p>
        </p:txBody>
      </p:sp>
      <p:sp>
        <p:nvSpPr>
          <p:cNvPr id="6" name="TextBox 5"/>
          <p:cNvSpPr txBox="1"/>
          <p:nvPr/>
        </p:nvSpPr>
        <p:spPr>
          <a:xfrm>
            <a:off x="777240" y="502920"/>
            <a:ext cx="10789920" cy="566928"/>
          </a:xfrm>
          <a:prstGeom prst="rect">
            <a:avLst/>
          </a:prstGeom>
          <a:noFill/>
        </p:spPr>
        <p:txBody>
          <a:bodyPr wrap="square" lIns="0" tIns="0" rIns="0" bIns="0" anchor="t">
            <a:spAutoFit/>
          </a:bodyPr>
          <a:lstStyle/>
          <a:p>
            <a:pPr algn="l">
              <a:spcAft>
                <a:spcPts val="400"/>
              </a:spcAft>
            </a:pPr>
            <a:r>
              <a:rPr sz="2600" b="1" i="0">
                <a:solidFill>
                  <a:srgbClr val="FFFFFF"/>
                </a:solidFill>
                <a:latin typeface="Segoe UI"/>
              </a:rPr>
              <a:t>Repo map &amp; gotchas cheat-sheet</a:t>
            </a:r>
          </a:p>
        </p:txBody>
      </p:sp>
      <p:graphicFrame>
        <p:nvGraphicFramePr>
          <p:cNvPr id="7" name="Table 6"/>
          <p:cNvGraphicFramePr>
            <a:graphicFrameLocks noGrp="1"/>
          </p:cNvGraphicFramePr>
          <p:nvPr/>
        </p:nvGraphicFramePr>
        <p:xfrm>
          <a:off x="640080" y="1554480"/>
          <a:ext cx="6126479" cy="3383280"/>
        </p:xfrm>
        <a:graphic>
          <a:graphicData uri="http://schemas.openxmlformats.org/drawingml/2006/table">
            <a:tbl>
              <a:tblPr>
                <a:tableStyleId>{5C22544A-7EE6-4342-B048-85BDC9FD1C3A}</a:tableStyleId>
              </a:tblPr>
              <a:tblGrid>
                <a:gridCol w="2241395">
                  <a:extLst>
                    <a:ext uri="{9D8B030D-6E8A-4147-A177-3AD203B41FA5}">
                      <a16:colId xmlns:a16="http://schemas.microsoft.com/office/drawing/2014/main" val="20000"/>
                    </a:ext>
                  </a:extLst>
                </a:gridCol>
                <a:gridCol w="3885084">
                  <a:extLst>
                    <a:ext uri="{9D8B030D-6E8A-4147-A177-3AD203B41FA5}">
                      <a16:colId xmlns:a16="http://schemas.microsoft.com/office/drawing/2014/main" val="20001"/>
                    </a:ext>
                  </a:extLst>
                </a:gridCol>
              </a:tblGrid>
              <a:tr h="375920">
                <a:tc>
                  <a:txBody>
                    <a:bodyPr/>
                    <a:lstStyle/>
                    <a:p>
                      <a:pPr algn="l"/>
                      <a:r>
                        <a:rPr sz="1150" b="1">
                          <a:solidFill>
                            <a:srgbClr val="FFFFFF"/>
                          </a:solidFill>
                          <a:latin typeface="Segoe UI"/>
                        </a:rPr>
                        <a:t>Component</a:t>
                      </a:r>
                    </a:p>
                  </a:txBody>
                  <a:tcPr marL="73152" marR="54864" marT="27432" marB="27432" anchor="ctr">
                    <a:solidFill>
                      <a:srgbClr val="1F4E79"/>
                    </a:solidFill>
                  </a:tcPr>
                </a:tc>
                <a:tc>
                  <a:txBody>
                    <a:bodyPr/>
                    <a:lstStyle/>
                    <a:p>
                      <a:pPr algn="ctr"/>
                      <a:r>
                        <a:rPr sz="1150" b="1">
                          <a:solidFill>
                            <a:srgbClr val="FFFFFF"/>
                          </a:solidFill>
                          <a:latin typeface="Segoe UI"/>
                        </a:rPr>
                        <a:t>Path / resource</a:t>
                      </a:r>
                    </a:p>
                  </a:txBody>
                  <a:tcPr marL="73152" marR="54864" marT="27432" marB="27432" anchor="ctr">
                    <a:solidFill>
                      <a:srgbClr val="1F4E79"/>
                    </a:solidFill>
                  </a:tcPr>
                </a:tc>
                <a:extLst>
                  <a:ext uri="{0D108BD9-81ED-4DB2-BD59-A6C34878D82A}">
                    <a16:rowId xmlns:a16="http://schemas.microsoft.com/office/drawing/2014/main" val="10000"/>
                  </a:ext>
                </a:extLst>
              </a:tr>
              <a:tr h="375920">
                <a:tc>
                  <a:txBody>
                    <a:bodyPr/>
                    <a:lstStyle/>
                    <a:p>
                      <a:pPr algn="l"/>
                      <a:r>
                        <a:rPr sz="1100" b="1">
                          <a:solidFill>
                            <a:srgbClr val="1A202C"/>
                          </a:solidFill>
                          <a:latin typeface="Segoe UI"/>
                        </a:rPr>
                        <a:t>Teams proxy (CEA)</a:t>
                      </a:r>
                    </a:p>
                  </a:txBody>
                  <a:tcPr marL="73152" marR="54864" marT="18288" marB="18288" anchor="ctr">
                    <a:solidFill>
                      <a:srgbClr val="FFFFFF"/>
                    </a:solidFill>
                  </a:tcPr>
                </a:tc>
                <a:tc>
                  <a:txBody>
                    <a:bodyPr/>
                    <a:lstStyle/>
                    <a:p>
                      <a:pPr algn="ctr"/>
                      <a:r>
                        <a:rPr sz="1100" b="0">
                          <a:solidFill>
                            <a:srgbClr val="1A202C"/>
                          </a:solidFill>
                          <a:latin typeface="Segoe UI"/>
                        </a:rPr>
                        <a:t>proxy/src/agent.ts</a:t>
                      </a:r>
                    </a:p>
                  </a:txBody>
                  <a:tcPr marL="73152" marR="54864" marT="18288" marB="18288" anchor="ctr">
                    <a:solidFill>
                      <a:srgbClr val="FFFFFF"/>
                    </a:solidFill>
                  </a:tcPr>
                </a:tc>
                <a:extLst>
                  <a:ext uri="{0D108BD9-81ED-4DB2-BD59-A6C34878D82A}">
                    <a16:rowId xmlns:a16="http://schemas.microsoft.com/office/drawing/2014/main" val="10001"/>
                  </a:ext>
                </a:extLst>
              </a:tr>
              <a:tr h="375920">
                <a:tc>
                  <a:txBody>
                    <a:bodyPr/>
                    <a:lstStyle/>
                    <a:p>
                      <a:pPr algn="l"/>
                      <a:r>
                        <a:rPr sz="1100" b="1">
                          <a:solidFill>
                            <a:srgbClr val="1A202C"/>
                          </a:solidFill>
                          <a:latin typeface="Segoe UI"/>
                        </a:rPr>
                        <a:t>Backend invocation</a:t>
                      </a:r>
                    </a:p>
                  </a:txBody>
                  <a:tcPr marL="73152" marR="54864" marT="18288" marB="18288" anchor="ctr">
                    <a:solidFill>
                      <a:srgbClr val="EDF1F7"/>
                    </a:solidFill>
                  </a:tcPr>
                </a:tc>
                <a:tc>
                  <a:txBody>
                    <a:bodyPr/>
                    <a:lstStyle/>
                    <a:p>
                      <a:pPr algn="ctr"/>
                      <a:r>
                        <a:rPr sz="1100" b="0">
                          <a:solidFill>
                            <a:srgbClr val="1A202C"/>
                          </a:solidFill>
                          <a:latin typeface="Segoe UI"/>
                        </a:rPr>
                        <a:t>backend/app/services/invoke_service.py</a:t>
                      </a:r>
                    </a:p>
                  </a:txBody>
                  <a:tcPr marL="73152" marR="54864" marT="18288" marB="18288" anchor="ctr">
                    <a:solidFill>
                      <a:srgbClr val="EDF1F7"/>
                    </a:solidFill>
                  </a:tcPr>
                </a:tc>
                <a:extLst>
                  <a:ext uri="{0D108BD9-81ED-4DB2-BD59-A6C34878D82A}">
                    <a16:rowId xmlns:a16="http://schemas.microsoft.com/office/drawing/2014/main" val="10002"/>
                  </a:ext>
                </a:extLst>
              </a:tr>
              <a:tr h="375920">
                <a:tc>
                  <a:txBody>
                    <a:bodyPr/>
                    <a:lstStyle/>
                    <a:p>
                      <a:pPr algn="l"/>
                      <a:r>
                        <a:rPr sz="1100" b="1">
                          <a:solidFill>
                            <a:srgbClr val="1A202C"/>
                          </a:solidFill>
                          <a:latin typeface="Segoe UI"/>
                        </a:rPr>
                        <a:t>Per-request identity</a:t>
                      </a:r>
                    </a:p>
                  </a:txBody>
                  <a:tcPr marL="73152" marR="54864" marT="18288" marB="18288" anchor="ctr">
                    <a:solidFill>
                      <a:srgbClr val="FFFFFF"/>
                    </a:solidFill>
                  </a:tcPr>
                </a:tc>
                <a:tc>
                  <a:txBody>
                    <a:bodyPr/>
                    <a:lstStyle/>
                    <a:p>
                      <a:pPr algn="ctr"/>
                      <a:r>
                        <a:rPr sz="1100" b="0">
                          <a:solidFill>
                            <a:srgbClr val="1A202C"/>
                          </a:solidFill>
                          <a:latin typeface="Segoe UI"/>
                        </a:rPr>
                        <a:t>backend/app/services/auth_context.py</a:t>
                      </a:r>
                    </a:p>
                  </a:txBody>
                  <a:tcPr marL="73152" marR="54864" marT="18288" marB="18288" anchor="ctr">
                    <a:solidFill>
                      <a:srgbClr val="FFFFFF"/>
                    </a:solidFill>
                  </a:tcPr>
                </a:tc>
                <a:extLst>
                  <a:ext uri="{0D108BD9-81ED-4DB2-BD59-A6C34878D82A}">
                    <a16:rowId xmlns:a16="http://schemas.microsoft.com/office/drawing/2014/main" val="10003"/>
                  </a:ext>
                </a:extLst>
              </a:tr>
              <a:tr h="375920">
                <a:tc>
                  <a:txBody>
                    <a:bodyPr/>
                    <a:lstStyle/>
                    <a:p>
                      <a:pPr algn="l"/>
                      <a:r>
                        <a:rPr sz="1100" b="1">
                          <a:solidFill>
                            <a:srgbClr val="1A202C"/>
                          </a:solidFill>
                          <a:latin typeface="Segoe UI"/>
                        </a:rPr>
                        <a:t>OBO exchange (web)</a:t>
                      </a:r>
                    </a:p>
                  </a:txBody>
                  <a:tcPr marL="73152" marR="54864" marT="18288" marB="18288" anchor="ctr">
                    <a:solidFill>
                      <a:srgbClr val="EDF1F7"/>
                    </a:solidFill>
                  </a:tcPr>
                </a:tc>
                <a:tc>
                  <a:txBody>
                    <a:bodyPr/>
                    <a:lstStyle/>
                    <a:p>
                      <a:pPr algn="ctr"/>
                      <a:r>
                        <a:rPr sz="1100" b="0">
                          <a:solidFill>
                            <a:srgbClr val="1A202C"/>
                          </a:solidFill>
                          <a:latin typeface="Segoe UI"/>
                        </a:rPr>
                        <a:t>backend/app/services/obo_service.py</a:t>
                      </a:r>
                    </a:p>
                  </a:txBody>
                  <a:tcPr marL="73152" marR="54864" marT="18288" marB="18288" anchor="ctr">
                    <a:solidFill>
                      <a:srgbClr val="EDF1F7"/>
                    </a:solidFill>
                  </a:tcPr>
                </a:tc>
                <a:extLst>
                  <a:ext uri="{0D108BD9-81ED-4DB2-BD59-A6C34878D82A}">
                    <a16:rowId xmlns:a16="http://schemas.microsoft.com/office/drawing/2014/main" val="10004"/>
                  </a:ext>
                </a:extLst>
              </a:tr>
              <a:tr h="375920">
                <a:tc>
                  <a:txBody>
                    <a:bodyPr/>
                    <a:lstStyle/>
                    <a:p>
                      <a:pPr algn="l"/>
                      <a:r>
                        <a:rPr sz="1100" b="1">
                          <a:solidFill>
                            <a:srgbClr val="1A202C"/>
                          </a:solidFill>
                          <a:latin typeface="Segoe UI"/>
                        </a:rPr>
                        <a:t>Search (app-only + per-user)</a:t>
                      </a:r>
                    </a:p>
                  </a:txBody>
                  <a:tcPr marL="73152" marR="54864" marT="18288" marB="18288" anchor="ctr">
                    <a:solidFill>
                      <a:srgbClr val="FFFFFF"/>
                    </a:solidFill>
                  </a:tcPr>
                </a:tc>
                <a:tc>
                  <a:txBody>
                    <a:bodyPr/>
                    <a:lstStyle/>
                    <a:p>
                      <a:pPr algn="ctr"/>
                      <a:r>
                        <a:rPr sz="1100" b="0">
                          <a:solidFill>
                            <a:srgbClr val="1A202C"/>
                          </a:solidFill>
                          <a:latin typeface="Segoe UI"/>
                        </a:rPr>
                        <a:t>backend/app/services/search_service.py</a:t>
                      </a:r>
                    </a:p>
                  </a:txBody>
                  <a:tcPr marL="73152" marR="54864" marT="18288" marB="18288" anchor="ctr">
                    <a:solidFill>
                      <a:srgbClr val="FFFFFF"/>
                    </a:solidFill>
                  </a:tcPr>
                </a:tc>
                <a:extLst>
                  <a:ext uri="{0D108BD9-81ED-4DB2-BD59-A6C34878D82A}">
                    <a16:rowId xmlns:a16="http://schemas.microsoft.com/office/drawing/2014/main" val="10005"/>
                  </a:ext>
                </a:extLst>
              </a:tr>
              <a:tr h="375920">
                <a:tc>
                  <a:txBody>
                    <a:bodyPr/>
                    <a:lstStyle/>
                    <a:p>
                      <a:pPr algn="l"/>
                      <a:r>
                        <a:rPr sz="1100" b="1">
                          <a:solidFill>
                            <a:srgbClr val="1A202C"/>
                          </a:solidFill>
                          <a:latin typeface="Segoe UI"/>
                        </a:rPr>
                        <a:t>Hosted agent container</a:t>
                      </a:r>
                    </a:p>
                  </a:txBody>
                  <a:tcPr marL="73152" marR="54864" marT="18288" marB="18288" anchor="ctr">
                    <a:solidFill>
                      <a:srgbClr val="EDF1F7"/>
                    </a:solidFill>
                  </a:tcPr>
                </a:tc>
                <a:tc>
                  <a:txBody>
                    <a:bodyPr/>
                    <a:lstStyle/>
                    <a:p>
                      <a:pPr algn="ctr"/>
                      <a:r>
                        <a:rPr sz="1100" b="0">
                          <a:solidFill>
                            <a:srgbClr val="1A202C"/>
                          </a:solidFill>
                          <a:latin typeface="Segoe UI"/>
                        </a:rPr>
                        <a:t>agent/app.py + agent/tools/search_tool.py</a:t>
                      </a:r>
                    </a:p>
                  </a:txBody>
                  <a:tcPr marL="73152" marR="54864" marT="18288" marB="18288" anchor="ctr">
                    <a:solidFill>
                      <a:srgbClr val="EDF1F7"/>
                    </a:solidFill>
                  </a:tcPr>
                </a:tc>
                <a:extLst>
                  <a:ext uri="{0D108BD9-81ED-4DB2-BD59-A6C34878D82A}">
                    <a16:rowId xmlns:a16="http://schemas.microsoft.com/office/drawing/2014/main" val="10006"/>
                  </a:ext>
                </a:extLst>
              </a:tr>
              <a:tr h="375920">
                <a:tc>
                  <a:txBody>
                    <a:bodyPr/>
                    <a:lstStyle/>
                    <a:p>
                      <a:pPr algn="l"/>
                      <a:r>
                        <a:rPr sz="1100" b="1">
                          <a:solidFill>
                            <a:srgbClr val="1A202C"/>
                          </a:solidFill>
                          <a:latin typeface="Segoe UI"/>
                        </a:rPr>
                        <a:t>Web SPA + MSAL</a:t>
                      </a:r>
                    </a:p>
                  </a:txBody>
                  <a:tcPr marL="73152" marR="54864" marT="18288" marB="18288" anchor="ctr">
                    <a:solidFill>
                      <a:srgbClr val="FFFFFF"/>
                    </a:solidFill>
                  </a:tcPr>
                </a:tc>
                <a:tc>
                  <a:txBody>
                    <a:bodyPr/>
                    <a:lstStyle/>
                    <a:p>
                      <a:pPr algn="ctr"/>
                      <a:r>
                        <a:rPr sz="1100" b="0">
                          <a:solidFill>
                            <a:srgbClr val="1A202C"/>
                          </a:solidFill>
                          <a:latin typeface="Segoe UI"/>
                        </a:rPr>
                        <a:t>frontend/src/auth/msalConfig.ts</a:t>
                      </a:r>
                    </a:p>
                  </a:txBody>
                  <a:tcPr marL="73152" marR="54864" marT="18288" marB="18288" anchor="ctr">
                    <a:solidFill>
                      <a:srgbClr val="FFFFFF"/>
                    </a:solidFill>
                  </a:tcPr>
                </a:tc>
                <a:extLst>
                  <a:ext uri="{0D108BD9-81ED-4DB2-BD59-A6C34878D82A}">
                    <a16:rowId xmlns:a16="http://schemas.microsoft.com/office/drawing/2014/main" val="10007"/>
                  </a:ext>
                </a:extLst>
              </a:tr>
              <a:tr h="375920">
                <a:tc>
                  <a:txBody>
                    <a:bodyPr/>
                    <a:lstStyle/>
                    <a:p>
                      <a:pPr algn="l"/>
                      <a:r>
                        <a:rPr sz="1100" b="1">
                          <a:solidFill>
                            <a:srgbClr val="1A202C"/>
                          </a:solidFill>
                          <a:latin typeface="Segoe UI"/>
                        </a:rPr>
                        <a:t>Azure Bot + OAuth</a:t>
                      </a:r>
                    </a:p>
                  </a:txBody>
                  <a:tcPr marL="73152" marR="54864" marT="18288" marB="18288" anchor="ctr">
                    <a:solidFill>
                      <a:srgbClr val="EDF1F7"/>
                    </a:solidFill>
                  </a:tcPr>
                </a:tc>
                <a:tc>
                  <a:txBody>
                    <a:bodyPr/>
                    <a:lstStyle/>
                    <a:p>
                      <a:pPr algn="ctr"/>
                      <a:r>
                        <a:rPr sz="1100" b="0">
                          <a:solidFill>
                            <a:srgbClr val="1A202C"/>
                          </a:solidFill>
                          <a:latin typeface="Segoe UI"/>
                        </a:rPr>
                        <a:t>capmarkets-obo-bot / search-sso</a:t>
                      </a:r>
                    </a:p>
                  </a:txBody>
                  <a:tcPr marL="73152" marR="54864" marT="18288" marB="18288" anchor="ctr">
                    <a:solidFill>
                      <a:srgbClr val="EDF1F7"/>
                    </a:solidFill>
                  </a:tcPr>
                </a:tc>
                <a:extLst>
                  <a:ext uri="{0D108BD9-81ED-4DB2-BD59-A6C34878D82A}">
                    <a16:rowId xmlns:a16="http://schemas.microsoft.com/office/drawing/2014/main" val="10008"/>
                  </a:ext>
                </a:extLst>
              </a:tr>
            </a:tbl>
          </a:graphicData>
        </a:graphic>
      </p:graphicFrame>
      <p:sp>
        <p:nvSpPr>
          <p:cNvPr id="8" name="Rounded Rectangle 7"/>
          <p:cNvSpPr/>
          <p:nvPr/>
        </p:nvSpPr>
        <p:spPr>
          <a:xfrm>
            <a:off x="6995160" y="1554480"/>
            <a:ext cx="4526280" cy="3383280"/>
          </a:xfrm>
          <a:prstGeom prst="roundRect">
            <a:avLst>
              <a:gd name="adj" fmla="val 6000"/>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995160" y="1554480"/>
            <a:ext cx="4526280" cy="45720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78040" y="1554480"/>
            <a:ext cx="4160520" cy="457200"/>
          </a:xfrm>
          <a:prstGeom prst="rect">
            <a:avLst/>
          </a:prstGeom>
          <a:noFill/>
        </p:spPr>
        <p:txBody>
          <a:bodyPr wrap="square" lIns="0" tIns="0" rIns="0" bIns="0" anchor="ctr">
            <a:spAutoFit/>
          </a:bodyPr>
          <a:lstStyle/>
          <a:p>
            <a:pPr algn="l">
              <a:spcAft>
                <a:spcPts val="400"/>
              </a:spcAft>
            </a:pPr>
            <a:r>
              <a:rPr sz="1400" b="1" i="0">
                <a:solidFill>
                  <a:srgbClr val="FFFFFF"/>
                </a:solidFill>
                <a:latin typeface="Segoe UI"/>
              </a:rPr>
              <a:t>Gotchas to remember</a:t>
            </a:r>
          </a:p>
        </p:txBody>
      </p:sp>
      <p:sp>
        <p:nvSpPr>
          <p:cNvPr id="11" name="TextBox 10"/>
          <p:cNvSpPr txBox="1"/>
          <p:nvPr/>
        </p:nvSpPr>
        <p:spPr>
          <a:xfrm>
            <a:off x="7214616" y="2121408"/>
            <a:ext cx="4087368" cy="2743200"/>
          </a:xfrm>
          <a:prstGeom prst="rect">
            <a:avLst/>
          </a:prstGeom>
          <a:noFill/>
        </p:spPr>
        <p:txBody>
          <a:bodyPr wrap="square" lIns="0" tIns="0" rIns="0" bIns="0" anchor="t">
            <a:spAutoFit/>
          </a:bodyPr>
          <a:lstStyle/>
          <a:p>
            <a:pPr algn="l">
              <a:spcAft>
                <a:spcPts val="400"/>
              </a:spcAft>
            </a:pPr>
            <a:r>
              <a:rPr sz="1150" b="0" i="0">
                <a:solidFill>
                  <a:srgbClr val="1A202C"/>
                </a:solidFill>
                <a:latin typeface="Segoe UI"/>
              </a:rPr>
              <a:t>• Backend on port 8010 (not 8000).</a:t>
            </a:r>
          </a:p>
          <a:p>
            <a:pPr algn="l">
              <a:spcAft>
                <a:spcPts val="400"/>
              </a:spcAft>
            </a:pPr>
            <a:r>
              <a:rPr sz="1150" b="0" i="0">
                <a:solidFill>
                  <a:srgbClr val="1A202C"/>
                </a:solidFill>
                <a:latin typeface="Segoe UI"/>
              </a:rPr>
              <a:t>• Standalone bot SSO needs</a:t>
            </a:r>
          </a:p>
          <a:p>
            <a:pPr algn="l">
              <a:spcAft>
                <a:spcPts val="400"/>
              </a:spcAft>
            </a:pPr>
            <a:r>
              <a:rPr sz="1100" b="0" i="0">
                <a:solidFill>
                  <a:srgbClr val="1A202C"/>
                </a:solidFill>
                <a:latin typeface="Consolas"/>
              </a:rPr>
              <a:t>   api://botid-{clientId} everywhere.</a:t>
            </a:r>
          </a:p>
          <a:p>
            <a:pPr algn="l">
              <a:spcAft>
                <a:spcPts val="400"/>
              </a:spcAft>
            </a:pPr>
            <a:r>
              <a:rPr sz="1150" b="0" i="0">
                <a:solidFill>
                  <a:srgbClr val="1A202C"/>
                </a:solidFill>
                <a:latin typeface="Segoe UI"/>
              </a:rPr>
              <a:t>• SSO connection scope = app's own</a:t>
            </a:r>
          </a:p>
          <a:p>
            <a:pPr algn="l">
              <a:spcAft>
                <a:spcPts val="400"/>
              </a:spcAft>
            </a:pPr>
            <a:r>
              <a:rPr sz="1100" b="0" i="0">
                <a:solidFill>
                  <a:srgbClr val="1A202C"/>
                </a:solidFill>
                <a:latin typeface="Segoe UI"/>
              </a:rPr>
              <a:t>   identity, OBO scope on exchangeToken.</a:t>
            </a:r>
          </a:p>
          <a:p>
            <a:pPr algn="l">
              <a:spcAft>
                <a:spcPts val="400"/>
              </a:spcAft>
            </a:pPr>
            <a:r>
              <a:rPr sz="1150" b="0" i="0">
                <a:solidFill>
                  <a:srgbClr val="1A202C"/>
                </a:solidFill>
                <a:latin typeface="Segoe UI"/>
              </a:rPr>
              <a:t>• Model must support encrypted content</a:t>
            </a:r>
          </a:p>
          <a:p>
            <a:pPr algn="l">
              <a:spcAft>
                <a:spcPts val="400"/>
              </a:spcAft>
            </a:pPr>
            <a:r>
              <a:rPr sz="1100" b="0" i="0">
                <a:solidFill>
                  <a:srgbClr val="1A202C"/>
                </a:solidFill>
                <a:latin typeface="Segoe UI"/>
              </a:rPr>
              <a:t>   (GPT-5 / reasoning) — gpt-4o 400s.</a:t>
            </a:r>
          </a:p>
          <a:p>
            <a:pPr algn="l">
              <a:spcAft>
                <a:spcPts val="400"/>
              </a:spcAft>
            </a:pPr>
            <a:r>
              <a:rPr sz="1150" b="0" i="0">
                <a:solidFill>
                  <a:srgbClr val="1A202C"/>
                </a:solidFill>
                <a:latin typeface="Segoe UI"/>
              </a:rPr>
              <a:t>• Hosted agent protocol version 2.0.0.</a:t>
            </a:r>
          </a:p>
          <a:p>
            <a:pPr algn="l">
              <a:spcAft>
                <a:spcPts val="400"/>
              </a:spcAft>
            </a:pPr>
            <a:r>
              <a:rPr sz="1150" b="0" i="0">
                <a:solidFill>
                  <a:srgbClr val="1A202C"/>
                </a:solidFill>
                <a:latin typeface="Segoe UI"/>
              </a:rPr>
              <a:t>• Portal Status N/A = scale-to-zero,</a:t>
            </a:r>
          </a:p>
          <a:p>
            <a:pPr algn="l">
              <a:spcAft>
                <a:spcPts val="400"/>
              </a:spcAft>
            </a:pPr>
            <a:r>
              <a:rPr sz="1100" b="0" i="0">
                <a:solidFill>
                  <a:srgbClr val="1A202C"/>
                </a:solidFill>
                <a:latin typeface="Segoe UI"/>
              </a:rPr>
              <a:t>   test by invoke, not portal status.</a:t>
            </a:r>
          </a:p>
        </p:txBody>
      </p:sp>
      <p:sp>
        <p:nvSpPr>
          <p:cNvPr id="12" name="TextBox 11"/>
          <p:cNvSpPr txBox="1"/>
          <p:nvPr/>
        </p:nvSpPr>
        <p:spPr>
          <a:xfrm>
            <a:off x="640080" y="5166360"/>
            <a:ext cx="10881360" cy="914400"/>
          </a:xfrm>
          <a:prstGeom prst="rect">
            <a:avLst/>
          </a:prstGeom>
          <a:noFill/>
        </p:spPr>
        <p:txBody>
          <a:bodyPr wrap="square" lIns="0" tIns="0" rIns="0" bIns="0" anchor="t">
            <a:spAutoFit/>
          </a:bodyPr>
          <a:lstStyle/>
          <a:p>
            <a:pPr algn="l">
              <a:spcAft>
                <a:spcPts val="400"/>
              </a:spcAft>
            </a:pPr>
            <a:r>
              <a:rPr sz="1250" b="1" i="0">
                <a:solidFill>
                  <a:srgbClr val="1F4E79"/>
                </a:solidFill>
                <a:latin typeface="Segoe UI"/>
              </a:rPr>
              <a:t>Reference:  </a:t>
            </a:r>
            <a:r>
              <a:rPr sz="1250" b="0" i="0">
                <a:solidFill>
                  <a:srgbClr val="1A202C"/>
                </a:solidFill>
                <a:latin typeface="Segoe UI"/>
              </a:rPr>
              <a:t>docs/end-to-end-flows.md (full sequence diagrams) · foundry-hosted-agents-teams-research.md (options A–D, citations) · docs/teams-sso-obo-troubleshooting.md</a:t>
            </a:r>
          </a:p>
        </p:txBody>
      </p:sp>
      <p:sp>
        <p:nvSpPr>
          <p:cNvPr id="13" name="TextBox 12"/>
          <p:cNvSpPr txBox="1"/>
          <p:nvPr/>
        </p:nvSpPr>
        <p:spPr>
          <a:xfrm>
            <a:off x="502920" y="6419088"/>
            <a:ext cx="7315200" cy="274320"/>
          </a:xfrm>
          <a:prstGeom prst="rect">
            <a:avLst/>
          </a:prstGeom>
          <a:noFill/>
        </p:spPr>
        <p:txBody>
          <a:bodyPr wrap="square" lIns="0" tIns="0" rIns="0" bIns="0" anchor="t">
            <a:spAutoFit/>
          </a:bodyPr>
          <a:lstStyle/>
          <a:p>
            <a:pPr algn="l">
              <a:spcAft>
                <a:spcPts val="400"/>
              </a:spcAft>
            </a:pPr>
            <a:r>
              <a:rPr sz="900" b="0" i="0">
                <a:solidFill>
                  <a:srgbClr val="6B7280"/>
                </a:solidFill>
                <a:latin typeface="Segoe UI"/>
              </a:rPr>
              <a:t>One deployed agent · two front doors · Foundry hosted agent on Teams</a:t>
            </a:r>
          </a:p>
        </p:txBody>
      </p:sp>
      <p:sp>
        <p:nvSpPr>
          <p:cNvPr id="14" name="TextBox 13"/>
          <p:cNvSpPr txBox="1"/>
          <p:nvPr/>
        </p:nvSpPr>
        <p:spPr>
          <a:xfrm>
            <a:off x="10881360" y="6419088"/>
            <a:ext cx="822960" cy="274320"/>
          </a:xfrm>
          <a:prstGeom prst="rect">
            <a:avLst/>
          </a:prstGeom>
          <a:noFill/>
        </p:spPr>
        <p:txBody>
          <a:bodyPr wrap="square" lIns="0" tIns="0" rIns="0" bIns="0" anchor="t">
            <a:spAutoFit/>
          </a:bodyPr>
          <a:lstStyle/>
          <a:p>
            <a:pPr algn="r">
              <a:spcAft>
                <a:spcPts val="400"/>
              </a:spcAft>
            </a:pPr>
            <a:r>
              <a:rPr sz="900" b="0" i="0">
                <a:solidFill>
                  <a:srgbClr val="6B7280"/>
                </a:solidFill>
                <a:latin typeface="Segoe UI"/>
              </a:rPr>
              <a:t>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328</TotalTime>
  <Words>4384</Words>
  <Application>Microsoft Office PowerPoint</Application>
  <PresentationFormat>Widescreen</PresentationFormat>
  <Paragraphs>583</Paragraphs>
  <Slides>19</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Consolas</vt:lpstr>
      <vt:lpstr>Segoe UI</vt:lpstr>
      <vt:lpstr>Segoe UI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Ashish Talati</cp:lastModifiedBy>
  <cp:revision>3</cp:revision>
  <dcterms:created xsi:type="dcterms:W3CDTF">2013-01-27T09:14:16Z</dcterms:created>
  <dcterms:modified xsi:type="dcterms:W3CDTF">2026-08-04T17:45:40Z</dcterms:modified>
  <cp:category/>
</cp:coreProperties>
</file>